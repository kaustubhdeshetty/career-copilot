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 Copilot is a router-plus-pipeline multi-agent system that handles resume tailoring, mock interviews, and technical concept review through one shared pipeline. This is a working prototype, presented for team feedback -- not a finished product.
Today: architecture, the three modes, three real bugs and how they were found and fixed, then a live demo running all three modes against real inputs.
The core bet, shown on the right: one pipeline -- Router, Planner, Researcher, Writer, Critic -- reused across all three modes. The rest of the talk justifies that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for the talk: the problem this solves, the architecture (one router, one reused pipeline, mode-specific prompts), how the three modes actually differ, then the middle section -- three real bugs, root causes, and how the fixes were verified -- and finally a live demo running all three modes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search is really three separate jobs: tailoring a resume to a posting, prepping for interviews the way a real interviewer reasons (not just recall), and reviewing technical concepts from real reference material. Each gets its own tab, its own context, its own copy-pasting.
The real gap: none of these tools remember what the others already know about you. Your resume tool doesn't know what you're weak on in interviews; your interview prep doesn't know what job you're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real architectural decision: three separate pipelines, or one shared one? Rejected three-separate: the same Researcher-Writer-Critic logic copy-pasted three times, every future bugfix applied and re-tested in triplicate, and no single place to route an ambiguous or dual-intent request.
Chosen instead: a Router classifies intent up front, then the same debugged chain runs for all three modes. Mode-specific behavior lives only in system prompts and corpus choice, not duplicated code. That pays off directly -- the Critic grounding fix I'll show shortly benefited every mode at once, because there's only one Critic.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whole system, and the word that matters is hybrid.
The top tier is hierarchical: one Router, a forced tool-call, picks exactly one of three modes. It is not allowed to return plain text, so there is always a mode.
The middle tier is where the three intents differ -- and notice how little that is. Apply has no corpus at all; its research is the posting plus the resume. Interview searches the ML Q&amp;A corpus, Learn searches my own notebooks. And the revision caps differ: two rounds for Apply and Interview, one for Learn where I chose speed over depth.
Then everything converges. The bottom tier is a single sequential chain -- Planner, Researcher, Writer, Critic -- and every mode runs that same code. The Planner is identical across all three. The Researcher is the only agent that actually branches. The Writer and Critic swap prompts, not logic.
That convergence is the entire architectural bet. Three separate pipelines would have meant the Researcher-Writer-Critic logic copy-pasted three times and every bugfix applied in triplicate. Because there is one chain, the Critic grounding fix I am about to show you -- a one-line change -- fixed all three modes at once. There is only one Critic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request flows end to end: Router does a forced tool-call to pick one of three modes. Planner breaks the task into a short research plan. Researcher either reads the job posting and resume directly (Apply) or does RAG tool-calls against a corpus (Interview/Learn). Writer drafts using a mode-specific system prompt. Critic grounds every claim in the draft against what the Researcher actually returned -- approves it or sends it back for revision, up to a per-mode cap, after which the best draft ships regardless.
Design note: every agent here is a plain function -- state in, state out -- intentionally the same node signature LangGraph uses. If this ever needs to migrate to a graph orchestration framework, that's a wiring change,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level deeper on what each stage is responsible for. Planner is identical across all three modes -- just breaks the raw request into a numbered plan. Researcher is the only agent that actually branches by mode: Apply reads the posting and resume directly, no retrieval; Interview and Learn call real search tools against a corpus. Writer's prompt swaps per mode, but the constraint is the same everywhere -- grounded strictly in what the Researcher returned, nothing invented. Critic checks the draft against that research and returns APPROVED or REVISE -- in Apply mode specifically this is split into two parallel checks, explained later under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the three modes. Worth pointing at directly: the corpus row shows Apply uses no retrieval at all, working straight off the posting and resume, while Interview and Learn each pull from their own vector store. Revision caps differ deliberately -- Apply and Interview both get two rounds, Learn is capped at one round for speed over depth. And the Critic's focus differs per mode -- Apply mode checks fit accuracy and number fabrication with two parallel checks, the highest-stakes check in the system, since a fabricated number on a resume is the worst possible failure mode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corpora, one per mode that actually retrieves. interview_qa is 508 embedded Q&amp;A pairs from a public ML dataset. class_notes is my own reference notebooks, chunked one piece per markdown header, 131 embedded chunks. Apply mode has no corpus at all -- its research is the posting plus the resume, both already in hand.
Two genuinely different search strategies the model chooses between: semantic_search is Chroma vector similarity, persisted to disk so it loads instantly on repeat runs -- for conceptual questions. keyword_search is plain substring matching, no embeddings at all -- for exact terms or names. The model itself picks which to call.
If asked about SciFact: the codebase still carries it as a fallback corpus from before this became Career Copilot. It is unreachable in practice -- the Router is forced to return one of three modes, so nothing ever falls through to it, and its index has never even been built. Vestigial, and left off this slide deliberately rather than presented as a live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gears -- how this actually broke, which I think is the most useful part of the talk. The first live run of Apply mode produced a complete, well-organized draft. The Critic approved it on the very first round. It looked correct. It wasn't. What follows is three real bugs, in the order I found them, each one deeper than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claimed a 70% VRAM reduction, a 3x throughput boost, 10k RPS -- none of those numbers appeared anywhere in the source resume. It just made them up, and they sounded completely plausible.
Root cause: the Critic's prompt only asked it to check accuracy, clarity, completeness in the abstract -- no instruction to verify a single number against a source. So the draft read as confident and well-organized, and got approved on round one.
Fix: mode-specific Writer and Critic prompts. Apply mode's Writer is now explicitly told: if the resume has no number to back up a claim, use a placeholder like [quantify: ...] rather than invent a plausible-sounding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bug is the one I think is the most important lesson in this whole project. The Critic never saw the research in the first place -- the actual code only passed the task and the draft into its prompt; the research the Researcher had gathered was never included at all.
I caught this because the Critic's own output told me directly, on the very next run: 'No external research text was provided.' It wasn't hallucinating that -- it was telling the truth about a real gap that had been in the code since the original scaffold, invisible until Apply mode specifically asked it to check something.
Fix: added the research into the Critic's context, and restructured its prompt into an explicit three-step process -- list every claimed number, quote the matching source sentence, end on a parseable verdict line that the code reads rather than a human eyeballing it.
If asked: an earlier version of this fix also carried a regex safety net that cross-checked flagged numbers against the research text. It did not survive the later split of the Apply critic into two parallel calls, which rewrote critic_agent wholesale. Worth restoring as defense-in-depth; deliberately not re-added untested the night before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bug is subtler, and only showed up after fixing the first two. The draft said 'five-plus years of experience.' The actual resume said 'eleven-plus years.' The Critic approved the wrong number.
What happened: 'five-plus years' did technically appear in the research text -- but in the job posting section, describing what the employer was asking for, not a fact about the candidate. Neither Writer nor Critic distinguished which of the two sources a matched number was actually coming from.
The structure was already there: researcher_agent assembles apply-mode research as 'Job posting:' + 'Resume:', two labelled sections. Those labels are the foundation -- without them there would be nothing for an instruction to point at. What this fix changed is the instruction.
Both prompts are now taught what the labels mean. The Writer is told to use ONLY numbers from the Resume section and never substitute the posting's stated requirement as the candidate's own tenure. The Claims critic is told the same, and additionally that the posting may describe the EMPLOYER's own platform -- 'our platform processes 50 million requests daily' is a fact about the company, not the candidate.
If asked how the agents were 'taught': no fine-tuning, no classifier, no parsing rules. Labelled data plus prose explaining which label is authoritative.
If asked whether all three bugs were fixed by prompting -- no, and this is worth saying. Bugs 1 and 3 were prompt fixes. Bug 2 was a code fix: one line adding state['research'] to the Critic's message. Two rounds were spent rewording prompts before finding it. The hardest bug in the system was the one that was NOT a prompting problem, and mistaking it for one cost two wasted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terminal capture from this session, not a staged screenshot. I asked about blockchain consensus, a topic genuinely not in the corpus. keyword_search comes back with 'no results found.' Rather than answer from general training knowledge -- exactly the confident-but-ungrounded behavior that caused Bug 1 -- the Writer states plainly what the research does and doesn't cover, and offers a quiz built only from what's actually indexed.
What I like about this one: it's the Bug 2 fix working correctly under a case I never explicitly tested during the debugging session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one's about the Critic specifically -- pushing back on the idea that a grounded Critic is just a rubber stamp with extra steps. This is a TF-IDF explanation the system generated, and the Critic returned REVISE with six concrete, actionable notes: a missing normalization variant, an unstated log base, corpus-dependent numeric ranges presented as fact, an incomplete pitfalls table. Each comes with a specific fix, not a vague 'improve clarity.'
This is what 'grounded' actually buys in practice: substantive review, not approval theater.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piece of evidence, and the one I'm most proud of. I deliberately mismatched an embedded-systems job posting against a resume with none of that background. Every core requirement -- C/C++, RTOS, JTAG, ARM drivers -- gets honestly marked NOT MET, with a direct 'weak match' recommendation. No softening, no hedging.
Critically, the resume bullets that follow still only draw from real experience -- framing Rust and Kubernetes work as an adjacent skill, never as embedded-systems experience the candidate doesn't have. That's the fabrication fix, the grounding fix, and the attribution fix, all holding up together under a case designed specifically to break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three bugs, a set of engineering work that isn't glamorous but matters for reliability. Rate-limit handling is adaptive -- the API's own error messages carry a suggested wait time embedded in the text, sometimes milliseconds, sometimes over an hour, and the system parses that and honors it automatically, failing fast with a clear message instead of blocking silently when the wait would be too long.
Router and Planner now run concurrently since neither depends on the other's output -- one full network round-trip saved per request, zero logic changes. Apply mode's Critic, previously one combined fit-and-claims check, is now split into two parallel checks at 1,400 and 1,800 tokens respectively -- raised from an earlier 700/1,000 that was actually observed truncating in testing. The combined version needed reduced reasoning effort to fit one shared budget, and that actually caused it to miss a real error -- a company-wide platform statistic from the job posting got attributed to the candidate personally, and the weakened reviewer approved it. Splitting lets both run at full reasoning, concurrently, in the same wall-clock time.
Token budgets are tuned per mode too: the Router's own output budget scales with input length (roughly 2 tokens per word plus 200, floored at 512 and capped at 8,000) instead of a flat guess, so a full-length job posting doesn't get truncated mid-JSON. The Writer follows the same idea -- 2,500 tokens in Apply mode, where the input itself is already large, versus 4,096 for Interview and Learn, where the input is short and there's more room for a longer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actually stand today. All three modes tested end to end, including the adversarial cases just shown -- zero corpus coverage leading to honest refusal, a severe mismatch leading to an honest weak-match verdict. Streamlit UI wrapping the pipeline with no duplicated logic, and an Excel tracker logging results at zero additional API cost.
If I had to boil this whole project down to one sentence: confident output is not the same thing as grounded output. Every real bug in this system produced a draft that looked correct on first read. A Critic that's supposed to catch fabrication only works if it's actually shown the source material -- and even then, it has to be told which source is authoritative, because 'the number appeared somewhere in the text' isn't the same as 'the number is true of the candidate.' Verification has to be structural. It can't be vibes-based.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brings us to the part I think is actually the most convincing: let's see it live. Run all three modes -- Apply, Interview, Learn -- against real inputs, right now, on stage.
Feel free to jump in with questions as we go, or hold them for the end -- whichever's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image" Target="../media/image-18-1.png"/><Relationship Id="rId5" Type="http://schemas.openxmlformats.org/officeDocument/2006/relationships/image" Target="../media/image-18-1.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1C33"/>
          </a:solidFill>
          <a:ln/>
        </p:spPr>
      </p:sp>
      <p:sp>
        <p:nvSpPr>
          <p:cNvPr id="3" name="Shape 1"/>
          <p:cNvSpPr/>
          <p:nvPr/>
        </p:nvSpPr>
        <p:spPr>
          <a:xfrm>
            <a:off x="7436815" y="-3840480"/>
            <a:ext cx="9509760" cy="9509760"/>
          </a:xfrm>
          <a:prstGeom prst="ellipse">
            <a:avLst/>
          </a:prstGeom>
          <a:ln w="15875">
            <a:solidFill>
              <a:srgbClr val="32456B"/>
            </a:solidFill>
            <a:prstDash val="solid"/>
          </a:ln>
        </p:spPr>
      </p:sp>
      <p:sp>
        <p:nvSpPr>
          <p:cNvPr id="4" name="Shape 2"/>
          <p:cNvSpPr/>
          <p:nvPr/>
        </p:nvSpPr>
        <p:spPr>
          <a:xfrm>
            <a:off x="8259775" y="-3017520"/>
            <a:ext cx="7863840" cy="7863840"/>
          </a:xfrm>
          <a:prstGeom prst="ellipse">
            <a:avLst/>
          </a:prstGeom>
          <a:ln w="15875">
            <a:solidFill>
              <a:srgbClr val="32456B">
                <a:alpha val="85000"/>
              </a:srgbClr>
            </a:solidFill>
            <a:prstDash val="solid"/>
          </a:ln>
        </p:spPr>
      </p:sp>
      <p:sp>
        <p:nvSpPr>
          <p:cNvPr id="5" name="Shape 3"/>
          <p:cNvSpPr/>
          <p:nvPr/>
        </p:nvSpPr>
        <p:spPr>
          <a:xfrm>
            <a:off x="9082735" y="-2194560"/>
            <a:ext cx="6217920" cy="6217920"/>
          </a:xfrm>
          <a:prstGeom prst="ellipse">
            <a:avLst/>
          </a:prstGeom>
          <a:ln w="15875">
            <a:solidFill>
              <a:srgbClr val="32456B">
                <a:alpha val="70000"/>
              </a:srgbClr>
            </a:solidFill>
            <a:prstDash val="solid"/>
          </a:ln>
        </p:spPr>
      </p:sp>
      <p:sp>
        <p:nvSpPr>
          <p:cNvPr id="6" name="Shape 4"/>
          <p:cNvSpPr/>
          <p:nvPr/>
        </p:nvSpPr>
        <p:spPr>
          <a:xfrm>
            <a:off x="548640" y="1234440"/>
            <a:ext cx="566928" cy="566928"/>
          </a:xfrm>
          <a:prstGeom prst="ellipse">
            <a:avLst/>
          </a:prstGeom>
          <a:solidFill>
            <a:srgbClr val="27395E"/>
          </a:solidFill>
          <a:ln/>
        </p:spPr>
      </p:sp>
      <p:pic>
        <p:nvPicPr>
          <p:cNvPr id="7" name="Image 0" descr="/home/claude/deck_assets/icons/layers.png">    </p:cNvPr>
          <p:cNvPicPr>
            <a:picLocks noChangeAspect="1"/>
          </p:cNvPicPr>
          <p:nvPr/>
        </p:nvPicPr>
        <p:blipFill>
          <a:blip r:embed="rId1"/>
          <a:stretch>
            <a:fillRect/>
          </a:stretch>
        </p:blipFill>
        <p:spPr>
          <a:xfrm>
            <a:off x="696041" y="1381841"/>
            <a:ext cx="272125" cy="272125"/>
          </a:xfrm>
          <a:prstGeom prst="rect">
            <a:avLst/>
          </a:prstGeom>
        </p:spPr>
      </p:pic>
      <p:sp>
        <p:nvSpPr>
          <p:cNvPr id="8" name="Text 5"/>
          <p:cNvSpPr/>
          <p:nvPr/>
        </p:nvSpPr>
        <p:spPr>
          <a:xfrm>
            <a:off x="548640" y="1965960"/>
            <a:ext cx="8229600" cy="320040"/>
          </a:xfrm>
          <a:prstGeom prst="rect">
            <a:avLst/>
          </a:prstGeom>
          <a:noFill/>
          <a:ln/>
        </p:spPr>
        <p:txBody>
          <a:bodyPr wrap="square" lIns="0" tIns="0" rIns="0" bIns="0" rtlCol="0" anchor="ctr"/>
          <a:lstStyle/>
          <a:p>
            <a:pPr indent="0" marL="0">
              <a:buNone/>
            </a:pPr>
            <a:r>
              <a:rPr lang="en-US" sz="1250" b="1" spc="240" kern="0" dirty="0">
                <a:solidFill>
                  <a:srgbClr val="9FB0CC"/>
                </a:solidFill>
                <a:latin typeface="Calibri" pitchFamily="34" charset="0"/>
                <a:ea typeface="Calibri" pitchFamily="34" charset="-122"/>
                <a:cs typeface="Calibri" pitchFamily="34" charset="-120"/>
              </a:rPr>
              <a:t>INTERNAL PROTOTYPE · TEAM REVIEW</a:t>
            </a:r>
            <a:endParaRPr lang="en-US" sz="1250" dirty="0"/>
          </a:p>
        </p:txBody>
      </p:sp>
      <p:sp>
        <p:nvSpPr>
          <p:cNvPr id="9" name="Text 6"/>
          <p:cNvSpPr/>
          <p:nvPr/>
        </p:nvSpPr>
        <p:spPr>
          <a:xfrm>
            <a:off x="548640" y="2331720"/>
            <a:ext cx="969264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Career Copilot</a:t>
            </a:r>
            <a:endParaRPr lang="en-US" sz="6000" dirty="0"/>
          </a:p>
        </p:txBody>
      </p:sp>
      <p:sp>
        <p:nvSpPr>
          <p:cNvPr id="10" name="Text 7"/>
          <p:cNvSpPr/>
          <p:nvPr/>
        </p:nvSpPr>
        <p:spPr>
          <a:xfrm>
            <a:off x="548640" y="3611880"/>
            <a:ext cx="8778240" cy="868680"/>
          </a:xfrm>
          <a:prstGeom prst="rect">
            <a:avLst/>
          </a:prstGeom>
          <a:noFill/>
          <a:ln/>
        </p:spPr>
        <p:txBody>
          <a:bodyPr wrap="square" lIns="0" tIns="0" rIns="0" bIns="0" rtlCol="0" anchor="ctr"/>
          <a:lstStyle/>
          <a:p>
            <a:pPr indent="0" marL="0">
              <a:lnSpc>
                <a:spcPct val="128000"/>
              </a:lnSpc>
              <a:buNone/>
            </a:pPr>
            <a:r>
              <a:rPr lang="en-US" sz="1550" i="1" dirty="0">
                <a:solidFill>
                  <a:srgbClr val="C7D3E8"/>
                </a:solidFill>
                <a:latin typeface="Calibri" pitchFamily="34" charset="0"/>
                <a:ea typeface="Calibri" pitchFamily="34" charset="-122"/>
                <a:cs typeface="Calibri" pitchFamily="34" charset="-120"/>
              </a:rPr>
              <a:t>A router-plus-pipeline multi-agent system for resume tailoring,</a:t>
            </a:r>
            <a:endParaRPr lang="en-US" sz="1550" dirty="0"/>
          </a:p>
          <a:p>
            <a:pPr indent="0" marL="0">
              <a:lnSpc>
                <a:spcPct val="128000"/>
              </a:lnSpc>
              <a:buNone/>
            </a:pPr>
            <a:r>
              <a:rPr lang="en-US" sz="1550" i="1" dirty="0">
                <a:solidFill>
                  <a:srgbClr val="C7D3E8"/>
                </a:solidFill>
                <a:latin typeface="Calibri" pitchFamily="34" charset="0"/>
                <a:ea typeface="Calibri" pitchFamily="34" charset="-122"/>
                <a:cs typeface="Calibri" pitchFamily="34" charset="-120"/>
              </a:rPr>
              <a:t>mock interviews, and concept review — built, broken, and debugged in the open.</a:t>
            </a:r>
            <a:endParaRPr lang="en-US" sz="1550" dirty="0"/>
          </a:p>
        </p:txBody>
      </p:sp>
      <p:sp>
        <p:nvSpPr>
          <p:cNvPr id="11" name="Shape 8"/>
          <p:cNvSpPr/>
          <p:nvPr/>
        </p:nvSpPr>
        <p:spPr>
          <a:xfrm>
            <a:off x="548640" y="4709160"/>
            <a:ext cx="1005840" cy="0"/>
          </a:xfrm>
          <a:prstGeom prst="line">
            <a:avLst/>
          </a:prstGeom>
          <a:noFill/>
          <a:ln w="31750">
            <a:solidFill>
              <a:srgbClr val="C97A20"/>
            </a:solidFill>
            <a:prstDash val="solid"/>
          </a:ln>
        </p:spPr>
      </p:sp>
      <p:sp>
        <p:nvSpPr>
          <p:cNvPr id="12" name="Text 9"/>
          <p:cNvSpPr/>
          <p:nvPr/>
        </p:nvSpPr>
        <p:spPr>
          <a:xfrm>
            <a:off x="548640" y="4892040"/>
            <a:ext cx="8686800" cy="365760"/>
          </a:xfrm>
          <a:prstGeom prst="rect">
            <a:avLst/>
          </a:prstGeom>
          <a:noFill/>
          <a:ln/>
        </p:spPr>
        <p:txBody>
          <a:bodyPr wrap="square" lIns="0" tIns="0" rIns="0" bIns="0" rtlCol="0" anchor="ctr"/>
          <a:lstStyle/>
          <a:p>
            <a:pPr indent="0" marL="0">
              <a:buNone/>
            </a:pPr>
            <a:r>
              <a:rPr lang="en-US" sz="1300" dirty="0">
                <a:solidFill>
                  <a:srgbClr val="9FB0CC"/>
                </a:solidFill>
                <a:latin typeface="Calibri" pitchFamily="34" charset="0"/>
                <a:ea typeface="Calibri" pitchFamily="34" charset="-122"/>
                <a:cs typeface="Calibri" pitchFamily="34" charset="-120"/>
              </a:rPr>
              <a:t>A working prototype, presented for team feedback.</a:t>
            </a:r>
            <a:endParaRPr lang="en-US" sz="1300" dirty="0"/>
          </a:p>
        </p:txBody>
      </p:sp>
      <p:sp>
        <p:nvSpPr>
          <p:cNvPr id="13" name="Shape 10"/>
          <p:cNvSpPr/>
          <p:nvPr/>
        </p:nvSpPr>
        <p:spPr>
          <a:xfrm>
            <a:off x="8031175" y="4160520"/>
            <a:ext cx="3611880" cy="1965960"/>
          </a:xfrm>
          <a:prstGeom prst="roundRect">
            <a:avLst>
              <a:gd name="adj" fmla="val 4186"/>
            </a:avLst>
          </a:prstGeom>
          <a:solidFill>
            <a:srgbClr val="27395E"/>
          </a:solidFill>
          <a:ln w="12700">
            <a:solidFill>
              <a:srgbClr val="32456B"/>
            </a:solidFill>
            <a:prstDash val="solid"/>
          </a:ln>
          <a:effectLst>
            <a:outerShdw sx="100000" sy="100000" kx="0" ky="0" algn="bl" rotWithShape="0" blurRad="127000" dist="38100" dir="5400000">
              <a:srgbClr val="0B1220">
                <a:alpha val="12000"/>
              </a:srgbClr>
            </a:outerShdw>
          </a:effectLst>
        </p:spPr>
      </p:sp>
      <p:sp>
        <p:nvSpPr>
          <p:cNvPr id="14" name="Text 11"/>
          <p:cNvSpPr/>
          <p:nvPr/>
        </p:nvSpPr>
        <p:spPr>
          <a:xfrm>
            <a:off x="8259775" y="4343400"/>
            <a:ext cx="2743200" cy="274320"/>
          </a:xfrm>
          <a:prstGeom prst="rect">
            <a:avLst/>
          </a:prstGeom>
          <a:noFill/>
          <a:ln/>
        </p:spPr>
        <p:txBody>
          <a:bodyPr wrap="square" lIns="0" tIns="0" rIns="0" bIns="0" rtlCol="0" anchor="ctr"/>
          <a:lstStyle/>
          <a:p>
            <a:pPr indent="0" marL="0">
              <a:buNone/>
            </a:pPr>
            <a:r>
              <a:rPr lang="en-US" sz="1000" b="1" spc="200" kern="0" dirty="0">
                <a:solidFill>
                  <a:srgbClr val="9FB0CC"/>
                </a:solidFill>
                <a:latin typeface="Calibri" pitchFamily="34" charset="0"/>
                <a:ea typeface="Calibri" pitchFamily="34" charset="-122"/>
                <a:cs typeface="Calibri" pitchFamily="34" charset="-120"/>
              </a:rPr>
              <a:t>PIPELINE</a:t>
            </a:r>
            <a:endParaRPr lang="en-US" sz="1000" dirty="0"/>
          </a:p>
        </p:txBody>
      </p:sp>
      <p:sp>
        <p:nvSpPr>
          <p:cNvPr id="15" name="Text 12"/>
          <p:cNvSpPr/>
          <p:nvPr/>
        </p:nvSpPr>
        <p:spPr>
          <a:xfrm>
            <a:off x="8259775" y="4663440"/>
            <a:ext cx="3200400" cy="274320"/>
          </a:xfrm>
          <a:prstGeom prst="rect">
            <a:avLst/>
          </a:prstGeom>
          <a:noFill/>
          <a:ln/>
        </p:spPr>
        <p:txBody>
          <a:bodyPr wrap="square" lIns="0" tIns="0" rIns="0" bIns="0" rtlCol="0" anchor="ctr"/>
          <a:lstStyle/>
          <a:p>
            <a:pPr indent="0" marL="0">
              <a:buNone/>
            </a:pPr>
            <a:r>
              <a:rPr lang="en-US" sz="1250" b="1" dirty="0">
                <a:solidFill>
                  <a:srgbClr val="C97A20"/>
                </a:solidFill>
                <a:latin typeface="Consolas" pitchFamily="34" charset="0"/>
                <a:ea typeface="Consolas" pitchFamily="34" charset="-122"/>
                <a:cs typeface="Consolas" pitchFamily="34" charset="-120"/>
              </a:rPr>
              <a:t>Router</a:t>
            </a:r>
            <a:endParaRPr lang="en-US" sz="1250" dirty="0"/>
          </a:p>
        </p:txBody>
      </p:sp>
      <p:sp>
        <p:nvSpPr>
          <p:cNvPr id="16" name="Text 13"/>
          <p:cNvSpPr/>
          <p:nvPr/>
        </p:nvSpPr>
        <p:spPr>
          <a:xfrm>
            <a:off x="8259775" y="4956048"/>
            <a:ext cx="3200400" cy="274320"/>
          </a:xfrm>
          <a:prstGeom prst="rect">
            <a:avLst/>
          </a:prstGeom>
          <a:noFill/>
          <a:ln/>
        </p:spPr>
        <p:txBody>
          <a:bodyPr wrap="square" lIns="0" tIns="0" rIns="0" bIns="0" rtlCol="0" anchor="ctr"/>
          <a:lstStyle/>
          <a:p>
            <a:pPr indent="0" marL="0">
              <a:buNone/>
            </a:pPr>
            <a:r>
              <a:rPr lang="en-US" sz="1250" dirty="0">
                <a:solidFill>
                  <a:srgbClr val="FFFFFF"/>
                </a:solidFill>
                <a:latin typeface="Consolas" pitchFamily="34" charset="0"/>
                <a:ea typeface="Consolas" pitchFamily="34" charset="-122"/>
                <a:cs typeface="Consolas" pitchFamily="34" charset="-120"/>
              </a:rPr>
              <a:t>Planner</a:t>
            </a:r>
            <a:endParaRPr lang="en-US" sz="1250" dirty="0"/>
          </a:p>
        </p:txBody>
      </p:sp>
      <p:sp>
        <p:nvSpPr>
          <p:cNvPr id="17" name="Text 14"/>
          <p:cNvSpPr/>
          <p:nvPr/>
        </p:nvSpPr>
        <p:spPr>
          <a:xfrm>
            <a:off x="8259775" y="5248656"/>
            <a:ext cx="3200400" cy="274320"/>
          </a:xfrm>
          <a:prstGeom prst="rect">
            <a:avLst/>
          </a:prstGeom>
          <a:noFill/>
          <a:ln/>
        </p:spPr>
        <p:txBody>
          <a:bodyPr wrap="square" lIns="0" tIns="0" rIns="0" bIns="0" rtlCol="0" anchor="ctr"/>
          <a:lstStyle/>
          <a:p>
            <a:pPr indent="0" marL="0">
              <a:buNone/>
            </a:pPr>
            <a:r>
              <a:rPr lang="en-US" sz="1250" dirty="0">
                <a:solidFill>
                  <a:srgbClr val="FFFFFF"/>
                </a:solidFill>
                <a:latin typeface="Consolas" pitchFamily="34" charset="0"/>
                <a:ea typeface="Consolas" pitchFamily="34" charset="-122"/>
                <a:cs typeface="Consolas" pitchFamily="34" charset="-120"/>
              </a:rPr>
              <a:t>Researcher</a:t>
            </a:r>
            <a:endParaRPr lang="en-US" sz="1250" dirty="0"/>
          </a:p>
        </p:txBody>
      </p:sp>
      <p:sp>
        <p:nvSpPr>
          <p:cNvPr id="18" name="Text 15"/>
          <p:cNvSpPr/>
          <p:nvPr/>
        </p:nvSpPr>
        <p:spPr>
          <a:xfrm>
            <a:off x="8259775" y="5541264"/>
            <a:ext cx="3200400" cy="274320"/>
          </a:xfrm>
          <a:prstGeom prst="rect">
            <a:avLst/>
          </a:prstGeom>
          <a:noFill/>
          <a:ln/>
        </p:spPr>
        <p:txBody>
          <a:bodyPr wrap="square" lIns="0" tIns="0" rIns="0" bIns="0" rtlCol="0" anchor="ctr"/>
          <a:lstStyle/>
          <a:p>
            <a:pPr indent="0" marL="0">
              <a:buNone/>
            </a:pPr>
            <a:r>
              <a:rPr lang="en-US" sz="1250" dirty="0">
                <a:solidFill>
                  <a:srgbClr val="FFFFFF"/>
                </a:solidFill>
                <a:latin typeface="Consolas" pitchFamily="34" charset="0"/>
                <a:ea typeface="Consolas" pitchFamily="34" charset="-122"/>
                <a:cs typeface="Consolas" pitchFamily="34" charset="-120"/>
              </a:rPr>
              <a:t>Writer</a:t>
            </a:r>
            <a:endParaRPr lang="en-US" sz="1250" dirty="0"/>
          </a:p>
        </p:txBody>
      </p:sp>
      <p:sp>
        <p:nvSpPr>
          <p:cNvPr id="19" name="Text 16"/>
          <p:cNvSpPr/>
          <p:nvPr/>
        </p:nvSpPr>
        <p:spPr>
          <a:xfrm>
            <a:off x="8259775" y="5833872"/>
            <a:ext cx="3200400" cy="274320"/>
          </a:xfrm>
          <a:prstGeom prst="rect">
            <a:avLst/>
          </a:prstGeom>
          <a:noFill/>
          <a:ln/>
        </p:spPr>
        <p:txBody>
          <a:bodyPr wrap="square" lIns="0" tIns="0" rIns="0" bIns="0" rtlCol="0" anchor="ctr"/>
          <a:lstStyle/>
          <a:p>
            <a:pPr indent="0" marL="0">
              <a:buNone/>
            </a:pPr>
            <a:r>
              <a:rPr lang="en-US" sz="1250" dirty="0">
                <a:solidFill>
                  <a:srgbClr val="FFFFFF"/>
                </a:solidFill>
                <a:latin typeface="Consolas" pitchFamily="34" charset="0"/>
                <a:ea typeface="Consolas" pitchFamily="34" charset="-122"/>
                <a:cs typeface="Consolas" pitchFamily="34" charset="-120"/>
              </a:rPr>
              <a:t>Critic</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48640" y="713232"/>
            <a:ext cx="106070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548640" y="1965960"/>
            <a:ext cx="512064" cy="512064"/>
          </a:xfrm>
          <a:prstGeom prst="ellipse">
            <a:avLst/>
          </a:prstGeom>
          <a:solidFill>
            <a:srgbClr val="1B2A4A"/>
          </a:solidFill>
          <a:ln/>
        </p:spPr>
      </p:sp>
      <p:pic>
        <p:nvPicPr>
          <p:cNvPr id="5" name="Image 0" descr="/home/claude/deck_assets/icons/target.png">    </p:cNvPr>
          <p:cNvPicPr>
            <a:picLocks noChangeAspect="1"/>
          </p:cNvPicPr>
          <p:nvPr/>
        </p:nvPicPr>
        <p:blipFill>
          <a:blip r:embed="rId1"/>
          <a:stretch>
            <a:fillRect/>
          </a:stretch>
        </p:blipFill>
        <p:spPr>
          <a:xfrm>
            <a:off x="681777" y="2099097"/>
            <a:ext cx="245791" cy="245791"/>
          </a:xfrm>
          <a:prstGeom prst="rect">
            <a:avLst/>
          </a:prstGeom>
        </p:spPr>
      </p:pic>
      <p:sp>
        <p:nvSpPr>
          <p:cNvPr id="6" name="Text 3"/>
          <p:cNvSpPr/>
          <p:nvPr/>
        </p:nvSpPr>
        <p:spPr>
          <a:xfrm>
            <a:off x="1325880" y="1947672"/>
            <a:ext cx="393192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The problem</a:t>
            </a:r>
            <a:endParaRPr lang="en-US" sz="1700" dirty="0"/>
          </a:p>
        </p:txBody>
      </p:sp>
      <p:sp>
        <p:nvSpPr>
          <p:cNvPr id="7" name="Text 4"/>
          <p:cNvSpPr/>
          <p:nvPr/>
        </p:nvSpPr>
        <p:spPr>
          <a:xfrm>
            <a:off x="5394960" y="1947672"/>
            <a:ext cx="5760720" cy="502920"/>
          </a:xfrm>
          <a:prstGeom prst="rect">
            <a:avLst/>
          </a:prstGeom>
          <a:noFill/>
          <a:ln/>
        </p:spPr>
        <p:txBody>
          <a:bodyPr wrap="square" lIns="0" tIns="0" rIns="0" bIns="0" rtlCol="0" anchor="t"/>
          <a:lstStyle/>
          <a:p>
            <a:pPr indent="0" marL="0">
              <a:buNone/>
            </a:pPr>
            <a:r>
              <a:rPr lang="en-US" sz="1300" dirty="0">
                <a:solidFill>
                  <a:srgbClr val="6B7A93"/>
                </a:solidFill>
                <a:latin typeface="Calibri" pitchFamily="34" charset="0"/>
                <a:ea typeface="Calibri" pitchFamily="34" charset="-122"/>
                <a:cs typeface="Calibri" pitchFamily="34" charset="-120"/>
              </a:rPr>
              <a:t>Three separate job-search tasks, no shared context between them</a:t>
            </a:r>
            <a:endParaRPr lang="en-US" sz="1300" dirty="0"/>
          </a:p>
        </p:txBody>
      </p:sp>
      <p:sp>
        <p:nvSpPr>
          <p:cNvPr id="8" name="Shape 5"/>
          <p:cNvSpPr/>
          <p:nvPr/>
        </p:nvSpPr>
        <p:spPr>
          <a:xfrm>
            <a:off x="548640" y="2660904"/>
            <a:ext cx="10607040" cy="0"/>
          </a:xfrm>
          <a:prstGeom prst="line">
            <a:avLst/>
          </a:prstGeom>
          <a:noFill/>
          <a:ln w="12700">
            <a:solidFill>
              <a:srgbClr val="D7E0EE"/>
            </a:solidFill>
            <a:prstDash val="solid"/>
          </a:ln>
        </p:spPr>
      </p:sp>
      <p:sp>
        <p:nvSpPr>
          <p:cNvPr id="9" name="Shape 6"/>
          <p:cNvSpPr/>
          <p:nvPr/>
        </p:nvSpPr>
        <p:spPr>
          <a:xfrm>
            <a:off x="548640" y="2807208"/>
            <a:ext cx="512064" cy="512064"/>
          </a:xfrm>
          <a:prstGeom prst="ellipse">
            <a:avLst/>
          </a:prstGeom>
          <a:solidFill>
            <a:srgbClr val="1B2A4A"/>
          </a:solidFill>
          <a:ln/>
        </p:spPr>
      </p:sp>
      <p:pic>
        <p:nvPicPr>
          <p:cNvPr id="10" name="Image 1" descr="/home/claude/deck_assets/icons/layers.png">    </p:cNvPr>
          <p:cNvPicPr>
            <a:picLocks noChangeAspect="1"/>
          </p:cNvPicPr>
          <p:nvPr/>
        </p:nvPicPr>
        <p:blipFill>
          <a:blip r:embed="rId2"/>
          <a:stretch>
            <a:fillRect/>
          </a:stretch>
        </p:blipFill>
        <p:spPr>
          <a:xfrm>
            <a:off x="681777" y="2940345"/>
            <a:ext cx="245791" cy="245791"/>
          </a:xfrm>
          <a:prstGeom prst="rect">
            <a:avLst/>
          </a:prstGeom>
        </p:spPr>
      </p:pic>
      <p:sp>
        <p:nvSpPr>
          <p:cNvPr id="11" name="Text 7"/>
          <p:cNvSpPr/>
          <p:nvPr/>
        </p:nvSpPr>
        <p:spPr>
          <a:xfrm>
            <a:off x="1325880" y="2788920"/>
            <a:ext cx="393192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Architecture</a:t>
            </a:r>
            <a:endParaRPr lang="en-US" sz="1700" dirty="0"/>
          </a:p>
        </p:txBody>
      </p:sp>
      <p:sp>
        <p:nvSpPr>
          <p:cNvPr id="12" name="Text 8"/>
          <p:cNvSpPr/>
          <p:nvPr/>
        </p:nvSpPr>
        <p:spPr>
          <a:xfrm>
            <a:off x="5394960" y="2788920"/>
            <a:ext cx="5760720" cy="502920"/>
          </a:xfrm>
          <a:prstGeom prst="rect">
            <a:avLst/>
          </a:prstGeom>
          <a:noFill/>
          <a:ln/>
        </p:spPr>
        <p:txBody>
          <a:bodyPr wrap="square" lIns="0" tIns="0" rIns="0" bIns="0" rtlCol="0" anchor="t"/>
          <a:lstStyle/>
          <a:p>
            <a:pPr indent="0" marL="0">
              <a:buNone/>
            </a:pPr>
            <a:r>
              <a:rPr lang="en-US" sz="1300" dirty="0">
                <a:solidFill>
                  <a:srgbClr val="6B7A93"/>
                </a:solidFill>
                <a:latin typeface="Calibri" pitchFamily="34" charset="0"/>
                <a:ea typeface="Calibri" pitchFamily="34" charset="-122"/>
                <a:cs typeface="Calibri" pitchFamily="34" charset="-120"/>
              </a:rPr>
              <a:t>One router, one reused pipeline, mode-specific prompts</a:t>
            </a:r>
            <a:endParaRPr lang="en-US" sz="1300" dirty="0"/>
          </a:p>
        </p:txBody>
      </p:sp>
      <p:sp>
        <p:nvSpPr>
          <p:cNvPr id="13" name="Shape 9"/>
          <p:cNvSpPr/>
          <p:nvPr/>
        </p:nvSpPr>
        <p:spPr>
          <a:xfrm>
            <a:off x="548640" y="3502152"/>
            <a:ext cx="10607040" cy="0"/>
          </a:xfrm>
          <a:prstGeom prst="line">
            <a:avLst/>
          </a:prstGeom>
          <a:noFill/>
          <a:ln w="12700">
            <a:solidFill>
              <a:srgbClr val="D7E0EE"/>
            </a:solidFill>
            <a:prstDash val="solid"/>
          </a:ln>
        </p:spPr>
      </p:sp>
      <p:sp>
        <p:nvSpPr>
          <p:cNvPr id="14" name="Shape 10"/>
          <p:cNvSpPr/>
          <p:nvPr/>
        </p:nvSpPr>
        <p:spPr>
          <a:xfrm>
            <a:off x="548640" y="3648456"/>
            <a:ext cx="512064" cy="512064"/>
          </a:xfrm>
          <a:prstGeom prst="ellipse">
            <a:avLst/>
          </a:prstGeom>
          <a:solidFill>
            <a:srgbClr val="1B2A4A"/>
          </a:solidFill>
          <a:ln/>
        </p:spPr>
      </p:sp>
      <p:pic>
        <p:nvPicPr>
          <p:cNvPr id="15" name="Image 2" descr="/home/claude/deck_assets/icons/briefcase.png">    </p:cNvPr>
          <p:cNvPicPr>
            <a:picLocks noChangeAspect="1"/>
          </p:cNvPicPr>
          <p:nvPr/>
        </p:nvPicPr>
        <p:blipFill>
          <a:blip r:embed="rId3"/>
          <a:stretch>
            <a:fillRect/>
          </a:stretch>
        </p:blipFill>
        <p:spPr>
          <a:xfrm>
            <a:off x="681777" y="3781593"/>
            <a:ext cx="245791" cy="245791"/>
          </a:xfrm>
          <a:prstGeom prst="rect">
            <a:avLst/>
          </a:prstGeom>
        </p:spPr>
      </p:pic>
      <p:sp>
        <p:nvSpPr>
          <p:cNvPr id="16" name="Text 11"/>
          <p:cNvSpPr/>
          <p:nvPr/>
        </p:nvSpPr>
        <p:spPr>
          <a:xfrm>
            <a:off x="1325880" y="3630168"/>
            <a:ext cx="393192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The three modes</a:t>
            </a:r>
            <a:endParaRPr lang="en-US" sz="1700" dirty="0"/>
          </a:p>
        </p:txBody>
      </p:sp>
      <p:sp>
        <p:nvSpPr>
          <p:cNvPr id="17" name="Text 12"/>
          <p:cNvSpPr/>
          <p:nvPr/>
        </p:nvSpPr>
        <p:spPr>
          <a:xfrm>
            <a:off x="5394960" y="3630168"/>
            <a:ext cx="5760720" cy="502920"/>
          </a:xfrm>
          <a:prstGeom prst="rect">
            <a:avLst/>
          </a:prstGeom>
          <a:noFill/>
          <a:ln/>
        </p:spPr>
        <p:txBody>
          <a:bodyPr wrap="square" lIns="0" tIns="0" rIns="0" bIns="0" rtlCol="0" anchor="t"/>
          <a:lstStyle/>
          <a:p>
            <a:pPr indent="0" marL="0">
              <a:buNone/>
            </a:pPr>
            <a:r>
              <a:rPr lang="en-US" sz="1300" dirty="0">
                <a:solidFill>
                  <a:srgbClr val="6B7A93"/>
                </a:solidFill>
                <a:latin typeface="Calibri" pitchFamily="34" charset="0"/>
                <a:ea typeface="Calibri" pitchFamily="34" charset="-122"/>
                <a:cs typeface="Calibri" pitchFamily="34" charset="-120"/>
              </a:rPr>
              <a:t>Apply, Interview, and Learn — how each one actually differs</a:t>
            </a:r>
            <a:endParaRPr lang="en-US" sz="1300" dirty="0"/>
          </a:p>
        </p:txBody>
      </p:sp>
      <p:sp>
        <p:nvSpPr>
          <p:cNvPr id="18" name="Shape 13"/>
          <p:cNvSpPr/>
          <p:nvPr/>
        </p:nvSpPr>
        <p:spPr>
          <a:xfrm>
            <a:off x="548640" y="4343400"/>
            <a:ext cx="10607040" cy="0"/>
          </a:xfrm>
          <a:prstGeom prst="line">
            <a:avLst/>
          </a:prstGeom>
          <a:noFill/>
          <a:ln w="12700">
            <a:solidFill>
              <a:srgbClr val="D7E0EE"/>
            </a:solidFill>
            <a:prstDash val="solid"/>
          </a:ln>
        </p:spPr>
      </p:sp>
      <p:sp>
        <p:nvSpPr>
          <p:cNvPr id="19" name="Shape 14"/>
          <p:cNvSpPr/>
          <p:nvPr/>
        </p:nvSpPr>
        <p:spPr>
          <a:xfrm>
            <a:off x="548640" y="4489704"/>
            <a:ext cx="512064" cy="512064"/>
          </a:xfrm>
          <a:prstGeom prst="ellipse">
            <a:avLst/>
          </a:prstGeom>
          <a:solidFill>
            <a:srgbClr val="1B2A4A"/>
          </a:solidFill>
          <a:ln/>
        </p:spPr>
      </p:sp>
      <p:pic>
        <p:nvPicPr>
          <p:cNvPr id="20" name="Image 3" descr="/home/claude/deck_assets/icons/bug.png">    </p:cNvPr>
          <p:cNvPicPr>
            <a:picLocks noChangeAspect="1"/>
          </p:cNvPicPr>
          <p:nvPr/>
        </p:nvPicPr>
        <p:blipFill>
          <a:blip r:embed="rId4"/>
          <a:stretch>
            <a:fillRect/>
          </a:stretch>
        </p:blipFill>
        <p:spPr>
          <a:xfrm>
            <a:off x="681777" y="4622841"/>
            <a:ext cx="245791" cy="245791"/>
          </a:xfrm>
          <a:prstGeom prst="rect">
            <a:avLst/>
          </a:prstGeom>
        </p:spPr>
      </p:pic>
      <p:sp>
        <p:nvSpPr>
          <p:cNvPr id="21" name="Text 15"/>
          <p:cNvSpPr/>
          <p:nvPr/>
        </p:nvSpPr>
        <p:spPr>
          <a:xfrm>
            <a:off x="1325880" y="4471416"/>
            <a:ext cx="393192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The debugging journey</a:t>
            </a:r>
            <a:endParaRPr lang="en-US" sz="1700" dirty="0"/>
          </a:p>
        </p:txBody>
      </p:sp>
      <p:sp>
        <p:nvSpPr>
          <p:cNvPr id="22" name="Text 16"/>
          <p:cNvSpPr/>
          <p:nvPr/>
        </p:nvSpPr>
        <p:spPr>
          <a:xfrm>
            <a:off x="5394960" y="4471416"/>
            <a:ext cx="5760720" cy="502920"/>
          </a:xfrm>
          <a:prstGeom prst="rect">
            <a:avLst/>
          </a:prstGeom>
          <a:noFill/>
          <a:ln/>
        </p:spPr>
        <p:txBody>
          <a:bodyPr wrap="square" lIns="0" tIns="0" rIns="0" bIns="0" rtlCol="0" anchor="t"/>
          <a:lstStyle/>
          <a:p>
            <a:pPr indent="0" marL="0">
              <a:buNone/>
            </a:pPr>
            <a:r>
              <a:rPr lang="en-US" sz="1300" dirty="0">
                <a:solidFill>
                  <a:srgbClr val="6B7A93"/>
                </a:solidFill>
                <a:latin typeface="Calibri" pitchFamily="34" charset="0"/>
                <a:ea typeface="Calibri" pitchFamily="34" charset="-122"/>
                <a:cs typeface="Calibri" pitchFamily="34" charset="-120"/>
              </a:rPr>
              <a:t>Three real bugs, their root causes, and how the fixes were verified</a:t>
            </a:r>
            <a:endParaRPr lang="en-US" sz="1300" dirty="0"/>
          </a:p>
        </p:txBody>
      </p:sp>
      <p:sp>
        <p:nvSpPr>
          <p:cNvPr id="23" name="Shape 17"/>
          <p:cNvSpPr/>
          <p:nvPr/>
        </p:nvSpPr>
        <p:spPr>
          <a:xfrm>
            <a:off x="548640" y="5184648"/>
            <a:ext cx="10607040" cy="0"/>
          </a:xfrm>
          <a:prstGeom prst="line">
            <a:avLst/>
          </a:prstGeom>
          <a:noFill/>
          <a:ln w="12700">
            <a:solidFill>
              <a:srgbClr val="D7E0EE"/>
            </a:solidFill>
            <a:prstDash val="solid"/>
          </a:ln>
        </p:spPr>
      </p:sp>
      <p:sp>
        <p:nvSpPr>
          <p:cNvPr id="24" name="Shape 18"/>
          <p:cNvSpPr/>
          <p:nvPr/>
        </p:nvSpPr>
        <p:spPr>
          <a:xfrm>
            <a:off x="548640" y="5330952"/>
            <a:ext cx="512064" cy="512064"/>
          </a:xfrm>
          <a:prstGeom prst="ellipse">
            <a:avLst/>
          </a:prstGeom>
          <a:solidFill>
            <a:srgbClr val="1B2A4A"/>
          </a:solidFill>
          <a:ln/>
        </p:spPr>
      </p:sp>
      <p:pic>
        <p:nvPicPr>
          <p:cNvPr id="25" name="Image 4" descr="/home/claude/deck_assets/icons/play.png">    </p:cNvPr>
          <p:cNvPicPr>
            <a:picLocks noChangeAspect="1"/>
          </p:cNvPicPr>
          <p:nvPr/>
        </p:nvPicPr>
        <p:blipFill>
          <a:blip r:embed="rId5"/>
          <a:stretch>
            <a:fillRect/>
          </a:stretch>
        </p:blipFill>
        <p:spPr>
          <a:xfrm>
            <a:off x="681777" y="5464089"/>
            <a:ext cx="245791" cy="245791"/>
          </a:xfrm>
          <a:prstGeom prst="rect">
            <a:avLst/>
          </a:prstGeom>
        </p:spPr>
      </p:pic>
      <p:sp>
        <p:nvSpPr>
          <p:cNvPr id="26" name="Text 19"/>
          <p:cNvSpPr/>
          <p:nvPr/>
        </p:nvSpPr>
        <p:spPr>
          <a:xfrm>
            <a:off x="1325880" y="5312664"/>
            <a:ext cx="393192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Live demo</a:t>
            </a:r>
            <a:endParaRPr lang="en-US" sz="1700" dirty="0"/>
          </a:p>
        </p:txBody>
      </p:sp>
      <p:sp>
        <p:nvSpPr>
          <p:cNvPr id="27" name="Text 20"/>
          <p:cNvSpPr/>
          <p:nvPr/>
        </p:nvSpPr>
        <p:spPr>
          <a:xfrm>
            <a:off x="5394960" y="5312664"/>
            <a:ext cx="5760720" cy="502920"/>
          </a:xfrm>
          <a:prstGeom prst="rect">
            <a:avLst/>
          </a:prstGeom>
          <a:noFill/>
          <a:ln/>
        </p:spPr>
        <p:txBody>
          <a:bodyPr wrap="square" lIns="0" tIns="0" rIns="0" bIns="0" rtlCol="0" anchor="t"/>
          <a:lstStyle/>
          <a:p>
            <a:pPr indent="0" marL="0">
              <a:buNone/>
            </a:pPr>
            <a:r>
              <a:rPr lang="en-US" sz="1300" dirty="0">
                <a:solidFill>
                  <a:srgbClr val="6B7A93"/>
                </a:solidFill>
                <a:latin typeface="Calibri" pitchFamily="34" charset="0"/>
                <a:ea typeface="Calibri" pitchFamily="34" charset="-122"/>
                <a:cs typeface="Calibri" pitchFamily="34" charset="-120"/>
              </a:rPr>
              <a:t>Running all three modes against real inputs, on stage</a:t>
            </a:r>
            <a:endParaRPr lang="en-US" sz="1300" dirty="0"/>
          </a:p>
        </p:txBody>
      </p:sp>
      <p:sp>
        <p:nvSpPr>
          <p:cNvPr id="28" name="Text 21"/>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02</a:t>
            </a:r>
            <a:endParaRPr lang="en-US" sz="1000" dirty="0"/>
          </a:p>
        </p:txBody>
      </p:sp>
      <p:sp>
        <p:nvSpPr>
          <p:cNvPr id="29" name="Text 22"/>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713232"/>
            <a:ext cx="777240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Job search is three jobs, done separately</a:t>
            </a:r>
            <a:endParaRPr lang="en-US" sz="3200" dirty="0"/>
          </a:p>
        </p:txBody>
      </p:sp>
      <p:sp>
        <p:nvSpPr>
          <p:cNvPr id="4" name="Text 2"/>
          <p:cNvSpPr/>
          <p:nvPr/>
        </p:nvSpPr>
        <p:spPr>
          <a:xfrm>
            <a:off x="548640" y="1508760"/>
            <a:ext cx="9875520" cy="640080"/>
          </a:xfrm>
          <a:prstGeom prst="rect">
            <a:avLst/>
          </a:prstGeom>
          <a:noFill/>
          <a:ln/>
        </p:spPr>
        <p:txBody>
          <a:bodyPr wrap="square" lIns="0" tIns="0" rIns="0" bIns="0" rtlCol="0" anchor="ctr"/>
          <a:lstStyle/>
          <a:p>
            <a:pPr indent="0" marL="0">
              <a:lnSpc>
                <a:spcPct val="130000"/>
              </a:lnSpc>
              <a:buNone/>
            </a:pPr>
            <a:r>
              <a:rPr lang="en-US" sz="1400" dirty="0">
                <a:solidFill>
                  <a:srgbClr val="6B7A93"/>
                </a:solidFill>
                <a:latin typeface="Calibri" pitchFamily="34" charset="0"/>
                <a:ea typeface="Calibri" pitchFamily="34" charset="-122"/>
                <a:cs typeface="Calibri" pitchFamily="34" charset="-120"/>
              </a:rPr>
              <a:t>Tailoring a resume, prepping for interviews, and reviewing technical concepts each get</a:t>
            </a:r>
            <a:endParaRPr lang="en-US" sz="1400" dirty="0"/>
          </a:p>
          <a:p>
            <a:pPr indent="0" marL="0">
              <a:lnSpc>
                <a:spcPct val="130000"/>
              </a:lnSpc>
              <a:buNone/>
            </a:pPr>
            <a:r>
              <a:rPr lang="en-US" sz="1400" dirty="0">
                <a:solidFill>
                  <a:srgbClr val="6B7A93"/>
                </a:solidFill>
                <a:latin typeface="Calibri" pitchFamily="34" charset="0"/>
                <a:ea typeface="Calibri" pitchFamily="34" charset="-122"/>
                <a:cs typeface="Calibri" pitchFamily="34" charset="-120"/>
              </a:rPr>
              <a:t>their own tab, their own context, and their own copy-pasting.</a:t>
            </a:r>
            <a:endParaRPr lang="en-US" sz="1400" dirty="0"/>
          </a:p>
        </p:txBody>
      </p:sp>
      <p:sp>
        <p:nvSpPr>
          <p:cNvPr id="5" name="Shape 3"/>
          <p:cNvSpPr/>
          <p:nvPr/>
        </p:nvSpPr>
        <p:spPr>
          <a:xfrm>
            <a:off x="548640" y="2423160"/>
            <a:ext cx="3383280" cy="3246120"/>
          </a:xfrm>
          <a:prstGeom prst="roundRect">
            <a:avLst>
              <a:gd name="adj" fmla="val 2535"/>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6" name="Shape 4"/>
          <p:cNvSpPr/>
          <p:nvPr/>
        </p:nvSpPr>
        <p:spPr>
          <a:xfrm>
            <a:off x="868680" y="2724912"/>
            <a:ext cx="621792" cy="621792"/>
          </a:xfrm>
          <a:prstGeom prst="ellipse">
            <a:avLst/>
          </a:prstGeom>
          <a:solidFill>
            <a:srgbClr val="1B2A4A"/>
          </a:solidFill>
          <a:ln/>
        </p:spPr>
      </p:sp>
      <p:pic>
        <p:nvPicPr>
          <p:cNvPr id="7" name="Image 0" descr="/home/claude/deck_assets/icons/briefcase.png">    </p:cNvPr>
          <p:cNvPicPr>
            <a:picLocks noChangeAspect="1"/>
          </p:cNvPicPr>
          <p:nvPr/>
        </p:nvPicPr>
        <p:blipFill>
          <a:blip r:embed="rId1"/>
          <a:stretch>
            <a:fillRect/>
          </a:stretch>
        </p:blipFill>
        <p:spPr>
          <a:xfrm>
            <a:off x="1030346" y="2886578"/>
            <a:ext cx="298460" cy="298460"/>
          </a:xfrm>
          <a:prstGeom prst="rect">
            <a:avLst/>
          </a:prstGeom>
        </p:spPr>
      </p:pic>
      <p:sp>
        <p:nvSpPr>
          <p:cNvPr id="8" name="Text 5"/>
          <p:cNvSpPr/>
          <p:nvPr/>
        </p:nvSpPr>
        <p:spPr>
          <a:xfrm>
            <a:off x="868680" y="3520440"/>
            <a:ext cx="2743200" cy="411480"/>
          </a:xfrm>
          <a:prstGeom prst="rect">
            <a:avLst/>
          </a:prstGeom>
          <a:noFill/>
          <a:ln/>
        </p:spPr>
        <p:txBody>
          <a:bodyPr wrap="square" lIns="0" tIns="0" rIns="0" bIns="0" rtlCol="0" anchor="ctr"/>
          <a:lstStyle/>
          <a:p>
            <a:pPr indent="0" marL="0">
              <a:buNone/>
            </a:pPr>
            <a:r>
              <a:rPr lang="en-US" sz="1900" b="1" dirty="0">
                <a:solidFill>
                  <a:srgbClr val="16213A"/>
                </a:solidFill>
                <a:latin typeface="Cambria" pitchFamily="34" charset="0"/>
                <a:ea typeface="Cambria" pitchFamily="34" charset="-122"/>
                <a:cs typeface="Cambria" pitchFamily="34" charset="-120"/>
              </a:rPr>
              <a:t>Apply</a:t>
            </a:r>
            <a:endParaRPr lang="en-US" sz="1900" dirty="0"/>
          </a:p>
        </p:txBody>
      </p:sp>
      <p:sp>
        <p:nvSpPr>
          <p:cNvPr id="9" name="Text 6"/>
          <p:cNvSpPr/>
          <p:nvPr/>
        </p:nvSpPr>
        <p:spPr>
          <a:xfrm>
            <a:off x="868680" y="3977640"/>
            <a:ext cx="2743200" cy="1463040"/>
          </a:xfrm>
          <a:prstGeom prst="rect">
            <a:avLst/>
          </a:prstGeom>
          <a:noFill/>
          <a:ln/>
        </p:spPr>
        <p:txBody>
          <a:bodyPr wrap="square" lIns="0" tIns="0" rIns="0" bIns="0" rtlCol="0" anchor="ctr"/>
          <a:lstStyle/>
          <a:p>
            <a:pPr indent="0" marL="0">
              <a:lnSpc>
                <a:spcPct val="132000"/>
              </a:lnSpc>
              <a:buNone/>
            </a:pPr>
            <a:r>
              <a:rPr lang="en-US" sz="1250" dirty="0">
                <a:solidFill>
                  <a:srgbClr val="6B7A93"/>
                </a:solidFill>
                <a:latin typeface="Calibri" pitchFamily="34" charset="0"/>
                <a:ea typeface="Calibri" pitchFamily="34" charset="-122"/>
                <a:cs typeface="Calibri" pitchFamily="34" charset="-120"/>
              </a:rPr>
              <a:t>Rewrite bullets to match a job posting, and honestly gauge fit before applying</a:t>
            </a:r>
            <a:endParaRPr lang="en-US" sz="1250" dirty="0"/>
          </a:p>
        </p:txBody>
      </p:sp>
      <p:sp>
        <p:nvSpPr>
          <p:cNvPr id="10" name="Shape 7"/>
          <p:cNvSpPr/>
          <p:nvPr/>
        </p:nvSpPr>
        <p:spPr>
          <a:xfrm>
            <a:off x="4251960" y="2423160"/>
            <a:ext cx="3383280" cy="3246120"/>
          </a:xfrm>
          <a:prstGeom prst="roundRect">
            <a:avLst>
              <a:gd name="adj" fmla="val 2535"/>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1" name="Shape 8"/>
          <p:cNvSpPr/>
          <p:nvPr/>
        </p:nvSpPr>
        <p:spPr>
          <a:xfrm>
            <a:off x="4572000" y="2724912"/>
            <a:ext cx="621792" cy="621792"/>
          </a:xfrm>
          <a:prstGeom prst="ellipse">
            <a:avLst/>
          </a:prstGeom>
          <a:solidFill>
            <a:srgbClr val="1B2A4A"/>
          </a:solidFill>
          <a:ln/>
        </p:spPr>
      </p:sp>
      <p:pic>
        <p:nvPicPr>
          <p:cNvPr id="12" name="Image 1" descr="/home/claude/deck_assets/icons/comments.png">    </p:cNvPr>
          <p:cNvPicPr>
            <a:picLocks noChangeAspect="1"/>
          </p:cNvPicPr>
          <p:nvPr/>
        </p:nvPicPr>
        <p:blipFill>
          <a:blip r:embed="rId2"/>
          <a:stretch>
            <a:fillRect/>
          </a:stretch>
        </p:blipFill>
        <p:spPr>
          <a:xfrm>
            <a:off x="4733666" y="2886578"/>
            <a:ext cx="298460" cy="298460"/>
          </a:xfrm>
          <a:prstGeom prst="rect">
            <a:avLst/>
          </a:prstGeom>
        </p:spPr>
      </p:pic>
      <p:sp>
        <p:nvSpPr>
          <p:cNvPr id="13" name="Text 9"/>
          <p:cNvSpPr/>
          <p:nvPr/>
        </p:nvSpPr>
        <p:spPr>
          <a:xfrm>
            <a:off x="4572000" y="3520440"/>
            <a:ext cx="2743200" cy="411480"/>
          </a:xfrm>
          <a:prstGeom prst="rect">
            <a:avLst/>
          </a:prstGeom>
          <a:noFill/>
          <a:ln/>
        </p:spPr>
        <p:txBody>
          <a:bodyPr wrap="square" lIns="0" tIns="0" rIns="0" bIns="0" rtlCol="0" anchor="ctr"/>
          <a:lstStyle/>
          <a:p>
            <a:pPr indent="0" marL="0">
              <a:buNone/>
            </a:pPr>
            <a:r>
              <a:rPr lang="en-US" sz="1900" b="1" dirty="0">
                <a:solidFill>
                  <a:srgbClr val="16213A"/>
                </a:solidFill>
                <a:latin typeface="Cambria" pitchFamily="34" charset="0"/>
                <a:ea typeface="Cambria" pitchFamily="34" charset="-122"/>
                <a:cs typeface="Cambria" pitchFamily="34" charset="-120"/>
              </a:rPr>
              <a:t>Interview</a:t>
            </a:r>
            <a:endParaRPr lang="en-US" sz="1900" dirty="0"/>
          </a:p>
        </p:txBody>
      </p:sp>
      <p:sp>
        <p:nvSpPr>
          <p:cNvPr id="14" name="Text 10"/>
          <p:cNvSpPr/>
          <p:nvPr/>
        </p:nvSpPr>
        <p:spPr>
          <a:xfrm>
            <a:off x="4572000" y="3977640"/>
            <a:ext cx="2743200" cy="1463040"/>
          </a:xfrm>
          <a:prstGeom prst="rect">
            <a:avLst/>
          </a:prstGeom>
          <a:noFill/>
          <a:ln/>
        </p:spPr>
        <p:txBody>
          <a:bodyPr wrap="square" lIns="0" tIns="0" rIns="0" bIns="0" rtlCol="0" anchor="ctr"/>
          <a:lstStyle/>
          <a:p>
            <a:pPr indent="0" marL="0">
              <a:lnSpc>
                <a:spcPct val="132000"/>
              </a:lnSpc>
              <a:buNone/>
            </a:pPr>
            <a:r>
              <a:rPr lang="en-US" sz="1250" dirty="0">
                <a:solidFill>
                  <a:srgbClr val="6B7A93"/>
                </a:solidFill>
                <a:latin typeface="Calibri" pitchFamily="34" charset="0"/>
                <a:ea typeface="Calibri" pitchFamily="34" charset="-122"/>
                <a:cs typeface="Calibri" pitchFamily="34" charset="-120"/>
              </a:rPr>
              <a:t>Get quizzed on a topic the way a real interviewer reasons, not just recalls</a:t>
            </a:r>
            <a:endParaRPr lang="en-US" sz="1250" dirty="0"/>
          </a:p>
        </p:txBody>
      </p:sp>
      <p:sp>
        <p:nvSpPr>
          <p:cNvPr id="15" name="Shape 11"/>
          <p:cNvSpPr/>
          <p:nvPr/>
        </p:nvSpPr>
        <p:spPr>
          <a:xfrm>
            <a:off x="7955280" y="2423160"/>
            <a:ext cx="3383280" cy="3246120"/>
          </a:xfrm>
          <a:prstGeom prst="roundRect">
            <a:avLst>
              <a:gd name="adj" fmla="val 2535"/>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6" name="Shape 12"/>
          <p:cNvSpPr/>
          <p:nvPr/>
        </p:nvSpPr>
        <p:spPr>
          <a:xfrm>
            <a:off x="8275320" y="2724912"/>
            <a:ext cx="621792" cy="621792"/>
          </a:xfrm>
          <a:prstGeom prst="ellipse">
            <a:avLst/>
          </a:prstGeom>
          <a:solidFill>
            <a:srgbClr val="1B2A4A"/>
          </a:solidFill>
          <a:ln/>
        </p:spPr>
      </p:sp>
      <p:pic>
        <p:nvPicPr>
          <p:cNvPr id="17" name="Image 2" descr="/home/claude/deck_assets/icons/book.png">    </p:cNvPr>
          <p:cNvPicPr>
            <a:picLocks noChangeAspect="1"/>
          </p:cNvPicPr>
          <p:nvPr/>
        </p:nvPicPr>
        <p:blipFill>
          <a:blip r:embed="rId3"/>
          <a:stretch>
            <a:fillRect/>
          </a:stretch>
        </p:blipFill>
        <p:spPr>
          <a:xfrm>
            <a:off x="8436986" y="2886578"/>
            <a:ext cx="298460" cy="298460"/>
          </a:xfrm>
          <a:prstGeom prst="rect">
            <a:avLst/>
          </a:prstGeom>
        </p:spPr>
      </p:pic>
      <p:sp>
        <p:nvSpPr>
          <p:cNvPr id="18" name="Text 13"/>
          <p:cNvSpPr/>
          <p:nvPr/>
        </p:nvSpPr>
        <p:spPr>
          <a:xfrm>
            <a:off x="8275320" y="3520440"/>
            <a:ext cx="2743200" cy="411480"/>
          </a:xfrm>
          <a:prstGeom prst="rect">
            <a:avLst/>
          </a:prstGeom>
          <a:noFill/>
          <a:ln/>
        </p:spPr>
        <p:txBody>
          <a:bodyPr wrap="square" lIns="0" tIns="0" rIns="0" bIns="0" rtlCol="0" anchor="ctr"/>
          <a:lstStyle/>
          <a:p>
            <a:pPr indent="0" marL="0">
              <a:buNone/>
            </a:pPr>
            <a:r>
              <a:rPr lang="en-US" sz="1900" b="1" dirty="0">
                <a:solidFill>
                  <a:srgbClr val="16213A"/>
                </a:solidFill>
                <a:latin typeface="Cambria" pitchFamily="34" charset="0"/>
                <a:ea typeface="Cambria" pitchFamily="34" charset="-122"/>
                <a:cs typeface="Cambria" pitchFamily="34" charset="-120"/>
              </a:rPr>
              <a:t>Learn</a:t>
            </a:r>
            <a:endParaRPr lang="en-US" sz="1900" dirty="0"/>
          </a:p>
        </p:txBody>
      </p:sp>
      <p:sp>
        <p:nvSpPr>
          <p:cNvPr id="19" name="Text 14"/>
          <p:cNvSpPr/>
          <p:nvPr/>
        </p:nvSpPr>
        <p:spPr>
          <a:xfrm>
            <a:off x="8275320" y="3977640"/>
            <a:ext cx="2743200" cy="1463040"/>
          </a:xfrm>
          <a:prstGeom prst="rect">
            <a:avLst/>
          </a:prstGeom>
          <a:noFill/>
          <a:ln/>
        </p:spPr>
        <p:txBody>
          <a:bodyPr wrap="square" lIns="0" tIns="0" rIns="0" bIns="0" rtlCol="0" anchor="ctr"/>
          <a:lstStyle/>
          <a:p>
            <a:pPr indent="0" marL="0">
              <a:lnSpc>
                <a:spcPct val="132000"/>
              </a:lnSpc>
              <a:buNone/>
            </a:pPr>
            <a:r>
              <a:rPr lang="en-US" sz="1250" dirty="0">
                <a:solidFill>
                  <a:srgbClr val="6B7A93"/>
                </a:solidFill>
                <a:latin typeface="Calibri" pitchFamily="34" charset="0"/>
                <a:ea typeface="Calibri" pitchFamily="34" charset="-122"/>
                <a:cs typeface="Calibri" pitchFamily="34" charset="-120"/>
              </a:rPr>
              <a:t>Review a concept from real reference material, not a generic explanation</a:t>
            </a:r>
            <a:endParaRPr lang="en-US" sz="1250" dirty="0"/>
          </a:p>
        </p:txBody>
      </p:sp>
      <p:sp>
        <p:nvSpPr>
          <p:cNvPr id="20" name="Shape 15"/>
          <p:cNvSpPr/>
          <p:nvPr/>
        </p:nvSpPr>
        <p:spPr>
          <a:xfrm>
            <a:off x="548640" y="5870448"/>
            <a:ext cx="10607040" cy="621792"/>
          </a:xfrm>
          <a:prstGeom prst="roundRect">
            <a:avLst>
              <a:gd name="adj" fmla="val 13235"/>
            </a:avLst>
          </a:prstGeom>
          <a:solidFill>
            <a:srgbClr val="E7EEFB"/>
          </a:solidFill>
          <a:ln w="12700">
            <a:solidFill>
              <a:srgbClr val="D7E0EE"/>
            </a:solidFill>
            <a:prstDash val="solid"/>
          </a:ln>
        </p:spPr>
      </p:sp>
      <p:sp>
        <p:nvSpPr>
          <p:cNvPr id="21" name="Text 16"/>
          <p:cNvSpPr/>
          <p:nvPr/>
        </p:nvSpPr>
        <p:spPr>
          <a:xfrm>
            <a:off x="822960" y="5870448"/>
            <a:ext cx="10058400" cy="621792"/>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The gap: </a:t>
            </a:r>
            <a:pPr indent="0" marL="0">
              <a:buNone/>
            </a:pPr>
            <a:r>
              <a:rPr lang="en-US" sz="1350" dirty="0">
                <a:solidFill>
                  <a:srgbClr val="33415A"/>
                </a:solidFill>
                <a:latin typeface="Calibri" pitchFamily="34" charset="0"/>
                <a:ea typeface="Calibri" pitchFamily="34" charset="-122"/>
                <a:cs typeface="Calibri" pitchFamily="34" charset="-120"/>
              </a:rPr>
              <a:t>none of these tools remember what the others already know about you.</a:t>
            </a:r>
            <a:endParaRPr lang="en-US" sz="1350" dirty="0"/>
          </a:p>
        </p:txBody>
      </p:sp>
      <p:sp>
        <p:nvSpPr>
          <p:cNvPr id="22" name="Text 17"/>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03</a:t>
            </a:r>
            <a:endParaRPr lang="en-US" sz="1000" dirty="0"/>
          </a:p>
        </p:txBody>
      </p:sp>
      <p:sp>
        <p:nvSpPr>
          <p:cNvPr id="23" name="Text 18"/>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ARCHITECTURE DECISION</a:t>
            </a:r>
            <a:endParaRPr lang="en-US" sz="1100" dirty="0"/>
          </a:p>
        </p:txBody>
      </p:sp>
      <p:sp>
        <p:nvSpPr>
          <p:cNvPr id="3" name="Text 1"/>
          <p:cNvSpPr/>
          <p:nvPr/>
        </p:nvSpPr>
        <p:spPr>
          <a:xfrm>
            <a:off x="548640" y="713232"/>
            <a:ext cx="868680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Hierarchical router, not three pipelines</a:t>
            </a:r>
            <a:endParaRPr lang="en-US" sz="3200" dirty="0"/>
          </a:p>
        </p:txBody>
      </p:sp>
      <p:sp>
        <p:nvSpPr>
          <p:cNvPr id="4" name="Text 2"/>
          <p:cNvSpPr/>
          <p:nvPr/>
        </p:nvSpPr>
        <p:spPr>
          <a:xfrm>
            <a:off x="548640" y="1508760"/>
            <a:ext cx="9875520" cy="365760"/>
          </a:xfrm>
          <a:prstGeom prst="rect">
            <a:avLst/>
          </a:prstGeom>
          <a:noFill/>
          <a:ln/>
        </p:spPr>
        <p:txBody>
          <a:bodyPr wrap="square" lIns="0" tIns="0" rIns="0" bIns="0" rtlCol="0" anchor="ctr"/>
          <a:lstStyle/>
          <a:p>
            <a:pPr indent="0" marL="0">
              <a:buNone/>
            </a:pPr>
            <a:r>
              <a:rPr lang="en-US" sz="1400" dirty="0">
                <a:solidFill>
                  <a:srgbClr val="6B7A93"/>
                </a:solidFill>
                <a:latin typeface="Calibri" pitchFamily="34" charset="0"/>
                <a:ea typeface="Calibri" pitchFamily="34" charset="-122"/>
                <a:cs typeface="Calibri" pitchFamily="34" charset="-120"/>
              </a:rPr>
              <a:t>Three distinct intents don't have to mean three separate codebases.</a:t>
            </a:r>
            <a:endParaRPr lang="en-US" sz="1400" dirty="0"/>
          </a:p>
        </p:txBody>
      </p:sp>
      <p:sp>
        <p:nvSpPr>
          <p:cNvPr id="5" name="Shape 3"/>
          <p:cNvSpPr/>
          <p:nvPr/>
        </p:nvSpPr>
        <p:spPr>
          <a:xfrm>
            <a:off x="548640" y="2148840"/>
            <a:ext cx="5120640" cy="3703320"/>
          </a:xfrm>
          <a:prstGeom prst="roundRect">
            <a:avLst>
              <a:gd name="adj" fmla="val 2222"/>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6" name="Shape 4"/>
          <p:cNvSpPr/>
          <p:nvPr/>
        </p:nvSpPr>
        <p:spPr>
          <a:xfrm>
            <a:off x="868680" y="2441448"/>
            <a:ext cx="457200" cy="457200"/>
          </a:xfrm>
          <a:prstGeom prst="ellipse">
            <a:avLst/>
          </a:prstGeom>
          <a:solidFill>
            <a:srgbClr val="C9463D"/>
          </a:solidFill>
          <a:ln/>
        </p:spPr>
      </p:sp>
      <p:pic>
        <p:nvPicPr>
          <p:cNvPr id="7" name="Image 0" descr="/home/claude/deck_assets/icons/xmark.png">    </p:cNvPr>
          <p:cNvPicPr>
            <a:picLocks noChangeAspect="1"/>
          </p:cNvPicPr>
          <p:nvPr/>
        </p:nvPicPr>
        <p:blipFill>
          <a:blip r:embed="rId1"/>
          <a:stretch>
            <a:fillRect/>
          </a:stretch>
        </p:blipFill>
        <p:spPr>
          <a:xfrm>
            <a:off x="987552" y="2560320"/>
            <a:ext cx="219456" cy="219456"/>
          </a:xfrm>
          <a:prstGeom prst="rect">
            <a:avLst/>
          </a:prstGeom>
        </p:spPr>
      </p:pic>
      <p:sp>
        <p:nvSpPr>
          <p:cNvPr id="8" name="Text 5"/>
          <p:cNvSpPr/>
          <p:nvPr/>
        </p:nvSpPr>
        <p:spPr>
          <a:xfrm>
            <a:off x="1463040" y="2459736"/>
            <a:ext cx="3931920" cy="45720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Rejected: three separate pipelines</a:t>
            </a:r>
            <a:endParaRPr lang="en-US" sz="1550" dirty="0"/>
          </a:p>
        </p:txBody>
      </p:sp>
      <p:sp>
        <p:nvSpPr>
          <p:cNvPr id="9" name="Text 6"/>
          <p:cNvSpPr/>
          <p:nvPr/>
        </p:nvSpPr>
        <p:spPr>
          <a:xfrm>
            <a:off x="868680" y="3200400"/>
            <a:ext cx="274320" cy="548640"/>
          </a:xfrm>
          <a:prstGeom prst="rect">
            <a:avLst/>
          </a:prstGeom>
          <a:noFill/>
          <a:ln/>
        </p:spPr>
        <p:txBody>
          <a:bodyPr wrap="square" lIns="0" tIns="0" rIns="0" bIns="0" rtlCol="0" anchor="ctr"/>
          <a:lstStyle/>
          <a:p>
            <a:pPr indent="0" marL="0">
              <a:buNone/>
            </a:pPr>
            <a:r>
              <a:rPr lang="en-US" sz="1300" dirty="0">
                <a:solidFill>
                  <a:srgbClr val="6B7A93"/>
                </a:solidFill>
                <a:latin typeface="Calibri" pitchFamily="34" charset="0"/>
                <a:ea typeface="Calibri" pitchFamily="34" charset="-122"/>
                <a:cs typeface="Calibri" pitchFamily="34" charset="-120"/>
              </a:rPr>
              <a:t>—</a:t>
            </a:r>
            <a:endParaRPr lang="en-US" sz="1300" dirty="0"/>
          </a:p>
        </p:txBody>
      </p:sp>
      <p:sp>
        <p:nvSpPr>
          <p:cNvPr id="10" name="Text 7"/>
          <p:cNvSpPr/>
          <p:nvPr/>
        </p:nvSpPr>
        <p:spPr>
          <a:xfrm>
            <a:off x="1188720" y="3172968"/>
            <a:ext cx="4160520" cy="594360"/>
          </a:xfrm>
          <a:prstGeom prst="rect">
            <a:avLst/>
          </a:prstGeom>
          <a:noFill/>
          <a:ln/>
        </p:spPr>
        <p:txBody>
          <a:bodyPr wrap="square" lIns="0" tIns="0" rIns="0" bIns="0" rtlCol="0" anchor="t"/>
          <a:lstStyle/>
          <a:p>
            <a:pPr indent="0" marL="0">
              <a:lnSpc>
                <a:spcPct val="125000"/>
              </a:lnSpc>
              <a:buNone/>
            </a:pPr>
            <a:r>
              <a:rPr lang="en-US" sz="1250" dirty="0">
                <a:solidFill>
                  <a:srgbClr val="6B7A93"/>
                </a:solidFill>
                <a:latin typeface="Calibri" pitchFamily="34" charset="0"/>
                <a:ea typeface="Calibri" pitchFamily="34" charset="-122"/>
                <a:cs typeface="Calibri" pitchFamily="34" charset="-120"/>
              </a:rPr>
              <a:t>Same Researcher → Writer → Critic logic, copy-pasted three times</a:t>
            </a:r>
            <a:endParaRPr lang="en-US" sz="1250" dirty="0"/>
          </a:p>
        </p:txBody>
      </p:sp>
      <p:sp>
        <p:nvSpPr>
          <p:cNvPr id="11" name="Text 8"/>
          <p:cNvSpPr/>
          <p:nvPr/>
        </p:nvSpPr>
        <p:spPr>
          <a:xfrm>
            <a:off x="868680" y="3858768"/>
            <a:ext cx="274320" cy="548640"/>
          </a:xfrm>
          <a:prstGeom prst="rect">
            <a:avLst/>
          </a:prstGeom>
          <a:noFill/>
          <a:ln/>
        </p:spPr>
        <p:txBody>
          <a:bodyPr wrap="square" lIns="0" tIns="0" rIns="0" bIns="0" rtlCol="0" anchor="ctr"/>
          <a:lstStyle/>
          <a:p>
            <a:pPr indent="0" marL="0">
              <a:buNone/>
            </a:pPr>
            <a:r>
              <a:rPr lang="en-US" sz="1300" dirty="0">
                <a:solidFill>
                  <a:srgbClr val="6B7A93"/>
                </a:solidFill>
                <a:latin typeface="Calibri" pitchFamily="34" charset="0"/>
                <a:ea typeface="Calibri" pitchFamily="34" charset="-122"/>
                <a:cs typeface="Calibri" pitchFamily="34" charset="-120"/>
              </a:rPr>
              <a:t>—</a:t>
            </a:r>
            <a:endParaRPr lang="en-US" sz="1300" dirty="0"/>
          </a:p>
        </p:txBody>
      </p:sp>
      <p:sp>
        <p:nvSpPr>
          <p:cNvPr id="12" name="Text 9"/>
          <p:cNvSpPr/>
          <p:nvPr/>
        </p:nvSpPr>
        <p:spPr>
          <a:xfrm>
            <a:off x="1188720" y="3831336"/>
            <a:ext cx="4160520" cy="594360"/>
          </a:xfrm>
          <a:prstGeom prst="rect">
            <a:avLst/>
          </a:prstGeom>
          <a:noFill/>
          <a:ln/>
        </p:spPr>
        <p:txBody>
          <a:bodyPr wrap="square" lIns="0" tIns="0" rIns="0" bIns="0" rtlCol="0" anchor="t"/>
          <a:lstStyle/>
          <a:p>
            <a:pPr indent="0" marL="0">
              <a:lnSpc>
                <a:spcPct val="125000"/>
              </a:lnSpc>
              <a:buNone/>
            </a:pPr>
            <a:r>
              <a:rPr lang="en-US" sz="1250" dirty="0">
                <a:solidFill>
                  <a:srgbClr val="6B7A93"/>
                </a:solidFill>
                <a:latin typeface="Calibri" pitchFamily="34" charset="0"/>
                <a:ea typeface="Calibri" pitchFamily="34" charset="-122"/>
                <a:cs typeface="Calibri" pitchFamily="34" charset="-120"/>
              </a:rPr>
              <a:t>Every future bugfix has to be applied (and re-tested) in triplicate</a:t>
            </a:r>
            <a:endParaRPr lang="en-US" sz="1250" dirty="0"/>
          </a:p>
        </p:txBody>
      </p:sp>
      <p:sp>
        <p:nvSpPr>
          <p:cNvPr id="13" name="Text 10"/>
          <p:cNvSpPr/>
          <p:nvPr/>
        </p:nvSpPr>
        <p:spPr>
          <a:xfrm>
            <a:off x="868680" y="4517136"/>
            <a:ext cx="274320" cy="548640"/>
          </a:xfrm>
          <a:prstGeom prst="rect">
            <a:avLst/>
          </a:prstGeom>
          <a:noFill/>
          <a:ln/>
        </p:spPr>
        <p:txBody>
          <a:bodyPr wrap="square" lIns="0" tIns="0" rIns="0" bIns="0" rtlCol="0" anchor="ctr"/>
          <a:lstStyle/>
          <a:p>
            <a:pPr indent="0" marL="0">
              <a:buNone/>
            </a:pPr>
            <a:r>
              <a:rPr lang="en-US" sz="1300" dirty="0">
                <a:solidFill>
                  <a:srgbClr val="6B7A93"/>
                </a:solidFill>
                <a:latin typeface="Calibri" pitchFamily="34" charset="0"/>
                <a:ea typeface="Calibri" pitchFamily="34" charset="-122"/>
                <a:cs typeface="Calibri" pitchFamily="34" charset="-120"/>
              </a:rPr>
              <a:t>—</a:t>
            </a:r>
            <a:endParaRPr lang="en-US" sz="1300" dirty="0"/>
          </a:p>
        </p:txBody>
      </p:sp>
      <p:sp>
        <p:nvSpPr>
          <p:cNvPr id="14" name="Text 11"/>
          <p:cNvSpPr/>
          <p:nvPr/>
        </p:nvSpPr>
        <p:spPr>
          <a:xfrm>
            <a:off x="1188720" y="4489704"/>
            <a:ext cx="4160520" cy="594360"/>
          </a:xfrm>
          <a:prstGeom prst="rect">
            <a:avLst/>
          </a:prstGeom>
          <a:noFill/>
          <a:ln/>
        </p:spPr>
        <p:txBody>
          <a:bodyPr wrap="square" lIns="0" tIns="0" rIns="0" bIns="0" rtlCol="0" anchor="t"/>
          <a:lstStyle/>
          <a:p>
            <a:pPr indent="0" marL="0">
              <a:lnSpc>
                <a:spcPct val="125000"/>
              </a:lnSpc>
              <a:buNone/>
            </a:pPr>
            <a:r>
              <a:rPr lang="en-US" sz="1250" dirty="0">
                <a:solidFill>
                  <a:srgbClr val="6B7A93"/>
                </a:solidFill>
                <a:latin typeface="Calibri" pitchFamily="34" charset="0"/>
                <a:ea typeface="Calibri" pitchFamily="34" charset="-122"/>
                <a:cs typeface="Calibri" pitchFamily="34" charset="-120"/>
              </a:rPr>
              <a:t>No single place to route an ambiguous or dual-intent request</a:t>
            </a:r>
            <a:endParaRPr lang="en-US" sz="1250" dirty="0"/>
          </a:p>
        </p:txBody>
      </p:sp>
      <p:sp>
        <p:nvSpPr>
          <p:cNvPr id="15" name="Shape 12"/>
          <p:cNvSpPr/>
          <p:nvPr/>
        </p:nvSpPr>
        <p:spPr>
          <a:xfrm>
            <a:off x="6263640" y="2148840"/>
            <a:ext cx="5120640" cy="3703320"/>
          </a:xfrm>
          <a:prstGeom prst="roundRect">
            <a:avLst>
              <a:gd name="adj" fmla="val 2222"/>
            </a:avLst>
          </a:prstGeom>
          <a:solidFill>
            <a:srgbClr val="1B2A4A"/>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6" name="Shape 13"/>
          <p:cNvSpPr/>
          <p:nvPr/>
        </p:nvSpPr>
        <p:spPr>
          <a:xfrm>
            <a:off x="6583680" y="2441448"/>
            <a:ext cx="457200" cy="457200"/>
          </a:xfrm>
          <a:prstGeom prst="ellipse">
            <a:avLst/>
          </a:prstGeom>
          <a:solidFill>
            <a:srgbClr val="FFFFFF"/>
          </a:solidFill>
          <a:ln/>
        </p:spPr>
      </p:sp>
      <p:pic>
        <p:nvPicPr>
          <p:cNvPr id="17" name="Image 1" descr="/home/claude/deck_assets/icons/check.png">    </p:cNvPr>
          <p:cNvPicPr>
            <a:picLocks noChangeAspect="1"/>
          </p:cNvPicPr>
          <p:nvPr/>
        </p:nvPicPr>
        <p:blipFill>
          <a:blip r:embed="rId2"/>
          <a:stretch>
            <a:fillRect/>
          </a:stretch>
        </p:blipFill>
        <p:spPr>
          <a:xfrm>
            <a:off x="6702552" y="2560320"/>
            <a:ext cx="219456" cy="219456"/>
          </a:xfrm>
          <a:prstGeom prst="rect">
            <a:avLst/>
          </a:prstGeom>
        </p:spPr>
      </p:pic>
      <p:sp>
        <p:nvSpPr>
          <p:cNvPr id="18" name="Text 14"/>
          <p:cNvSpPr/>
          <p:nvPr/>
        </p:nvSpPr>
        <p:spPr>
          <a:xfrm>
            <a:off x="7178040" y="2459736"/>
            <a:ext cx="3931920" cy="45720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Chosen: Router + one reused chain</a:t>
            </a:r>
            <a:endParaRPr lang="en-US" sz="1550" dirty="0"/>
          </a:p>
        </p:txBody>
      </p:sp>
      <p:sp>
        <p:nvSpPr>
          <p:cNvPr id="19" name="Text 15"/>
          <p:cNvSpPr/>
          <p:nvPr/>
        </p:nvSpPr>
        <p:spPr>
          <a:xfrm>
            <a:off x="6583680" y="3200400"/>
            <a:ext cx="274320" cy="548640"/>
          </a:xfrm>
          <a:prstGeom prst="rect">
            <a:avLst/>
          </a:prstGeom>
          <a:noFill/>
          <a:ln/>
        </p:spPr>
        <p:txBody>
          <a:bodyPr wrap="square" lIns="0" tIns="0" rIns="0" bIns="0" rtlCol="0" anchor="ctr"/>
          <a:lstStyle/>
          <a:p>
            <a:pPr indent="0" marL="0">
              <a:buNone/>
            </a:pPr>
            <a:r>
              <a:rPr lang="en-US" sz="1300" dirty="0">
                <a:solidFill>
                  <a:srgbClr val="9FB0CC"/>
                </a:solidFill>
                <a:latin typeface="Calibri" pitchFamily="34" charset="0"/>
                <a:ea typeface="Calibri" pitchFamily="34" charset="-122"/>
                <a:cs typeface="Calibri" pitchFamily="34" charset="-120"/>
              </a:rPr>
              <a:t>—</a:t>
            </a:r>
            <a:endParaRPr lang="en-US" sz="1300" dirty="0"/>
          </a:p>
        </p:txBody>
      </p:sp>
      <p:sp>
        <p:nvSpPr>
          <p:cNvPr id="20" name="Text 16"/>
          <p:cNvSpPr/>
          <p:nvPr/>
        </p:nvSpPr>
        <p:spPr>
          <a:xfrm>
            <a:off x="6903720" y="3172968"/>
            <a:ext cx="4160520" cy="594360"/>
          </a:xfrm>
          <a:prstGeom prst="rect">
            <a:avLst/>
          </a:prstGeom>
          <a:noFill/>
          <a:ln/>
        </p:spPr>
        <p:txBody>
          <a:bodyPr wrap="square" lIns="0" tIns="0" rIns="0" bIns="0" rtlCol="0" anchor="t"/>
          <a:lstStyle/>
          <a:p>
            <a:pPr indent="0" marL="0">
              <a:lnSpc>
                <a:spcPct val="125000"/>
              </a:lnSpc>
              <a:buNone/>
            </a:pPr>
            <a:r>
              <a:rPr lang="en-US" sz="1250" dirty="0">
                <a:solidFill>
                  <a:srgbClr val="D7E0EE"/>
                </a:solidFill>
                <a:latin typeface="Calibri" pitchFamily="34" charset="0"/>
                <a:ea typeface="Calibri" pitchFamily="34" charset="-122"/>
                <a:cs typeface="Calibri" pitchFamily="34" charset="-120"/>
              </a:rPr>
              <a:t>A Router classifies intent, then the same debugged chain runs for all three</a:t>
            </a:r>
            <a:endParaRPr lang="en-US" sz="1250" dirty="0"/>
          </a:p>
        </p:txBody>
      </p:sp>
      <p:sp>
        <p:nvSpPr>
          <p:cNvPr id="21" name="Text 17"/>
          <p:cNvSpPr/>
          <p:nvPr/>
        </p:nvSpPr>
        <p:spPr>
          <a:xfrm>
            <a:off x="6583680" y="3858768"/>
            <a:ext cx="274320" cy="548640"/>
          </a:xfrm>
          <a:prstGeom prst="rect">
            <a:avLst/>
          </a:prstGeom>
          <a:noFill/>
          <a:ln/>
        </p:spPr>
        <p:txBody>
          <a:bodyPr wrap="square" lIns="0" tIns="0" rIns="0" bIns="0" rtlCol="0" anchor="ctr"/>
          <a:lstStyle/>
          <a:p>
            <a:pPr indent="0" marL="0">
              <a:buNone/>
            </a:pPr>
            <a:r>
              <a:rPr lang="en-US" sz="1300" dirty="0">
                <a:solidFill>
                  <a:srgbClr val="9FB0CC"/>
                </a:solidFill>
                <a:latin typeface="Calibri" pitchFamily="34" charset="0"/>
                <a:ea typeface="Calibri" pitchFamily="34" charset="-122"/>
                <a:cs typeface="Calibri" pitchFamily="34" charset="-120"/>
              </a:rPr>
              <a:t>—</a:t>
            </a:r>
            <a:endParaRPr lang="en-US" sz="1300" dirty="0"/>
          </a:p>
        </p:txBody>
      </p:sp>
      <p:sp>
        <p:nvSpPr>
          <p:cNvPr id="22" name="Text 18"/>
          <p:cNvSpPr/>
          <p:nvPr/>
        </p:nvSpPr>
        <p:spPr>
          <a:xfrm>
            <a:off x="6903720" y="3831336"/>
            <a:ext cx="4160520" cy="594360"/>
          </a:xfrm>
          <a:prstGeom prst="rect">
            <a:avLst/>
          </a:prstGeom>
          <a:noFill/>
          <a:ln/>
        </p:spPr>
        <p:txBody>
          <a:bodyPr wrap="square" lIns="0" tIns="0" rIns="0" bIns="0" rtlCol="0" anchor="t"/>
          <a:lstStyle/>
          <a:p>
            <a:pPr indent="0" marL="0">
              <a:lnSpc>
                <a:spcPct val="125000"/>
              </a:lnSpc>
              <a:buNone/>
            </a:pPr>
            <a:r>
              <a:rPr lang="en-US" sz="1250" dirty="0">
                <a:solidFill>
                  <a:srgbClr val="D7E0EE"/>
                </a:solidFill>
                <a:latin typeface="Calibri" pitchFamily="34" charset="0"/>
                <a:ea typeface="Calibri" pitchFamily="34" charset="-122"/>
                <a:cs typeface="Calibri" pitchFamily="34" charset="-120"/>
              </a:rPr>
              <a:t>Mode-specific behavior lives only in system prompts and corpus choice</a:t>
            </a:r>
            <a:endParaRPr lang="en-US" sz="1250" dirty="0"/>
          </a:p>
        </p:txBody>
      </p:sp>
      <p:sp>
        <p:nvSpPr>
          <p:cNvPr id="23" name="Text 19"/>
          <p:cNvSpPr/>
          <p:nvPr/>
        </p:nvSpPr>
        <p:spPr>
          <a:xfrm>
            <a:off x="6583680" y="4517136"/>
            <a:ext cx="274320" cy="548640"/>
          </a:xfrm>
          <a:prstGeom prst="rect">
            <a:avLst/>
          </a:prstGeom>
          <a:noFill/>
          <a:ln/>
        </p:spPr>
        <p:txBody>
          <a:bodyPr wrap="square" lIns="0" tIns="0" rIns="0" bIns="0" rtlCol="0" anchor="ctr"/>
          <a:lstStyle/>
          <a:p>
            <a:pPr indent="0" marL="0">
              <a:buNone/>
            </a:pPr>
            <a:r>
              <a:rPr lang="en-US" sz="1300" dirty="0">
                <a:solidFill>
                  <a:srgbClr val="9FB0CC"/>
                </a:solidFill>
                <a:latin typeface="Calibri" pitchFamily="34" charset="0"/>
                <a:ea typeface="Calibri" pitchFamily="34" charset="-122"/>
                <a:cs typeface="Calibri" pitchFamily="34" charset="-120"/>
              </a:rPr>
              <a:t>—</a:t>
            </a:r>
            <a:endParaRPr lang="en-US" sz="1300" dirty="0"/>
          </a:p>
        </p:txBody>
      </p:sp>
      <p:sp>
        <p:nvSpPr>
          <p:cNvPr id="24" name="Text 20"/>
          <p:cNvSpPr/>
          <p:nvPr/>
        </p:nvSpPr>
        <p:spPr>
          <a:xfrm>
            <a:off x="6903720" y="4489704"/>
            <a:ext cx="4160520" cy="594360"/>
          </a:xfrm>
          <a:prstGeom prst="rect">
            <a:avLst/>
          </a:prstGeom>
          <a:noFill/>
          <a:ln/>
        </p:spPr>
        <p:txBody>
          <a:bodyPr wrap="square" lIns="0" tIns="0" rIns="0" bIns="0" rtlCol="0" anchor="t"/>
          <a:lstStyle/>
          <a:p>
            <a:pPr indent="0" marL="0">
              <a:lnSpc>
                <a:spcPct val="125000"/>
              </a:lnSpc>
              <a:buNone/>
            </a:pPr>
            <a:r>
              <a:rPr lang="en-US" sz="1250" dirty="0">
                <a:solidFill>
                  <a:srgbClr val="D7E0EE"/>
                </a:solidFill>
                <a:latin typeface="Calibri" pitchFamily="34" charset="0"/>
                <a:ea typeface="Calibri" pitchFamily="34" charset="-122"/>
                <a:cs typeface="Calibri" pitchFamily="34" charset="-120"/>
              </a:rPr>
              <a:t>One bugfix (e.g. the Critic grounding fix) benefits every mode at once</a:t>
            </a:r>
            <a:endParaRPr lang="en-US" sz="1250" dirty="0"/>
          </a:p>
        </p:txBody>
      </p:sp>
      <p:sp>
        <p:nvSpPr>
          <p:cNvPr id="25" name="Text 21"/>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04</a:t>
            </a:r>
            <a:endParaRPr lang="en-US" sz="1000" dirty="0"/>
          </a:p>
        </p:txBody>
      </p:sp>
      <p:sp>
        <p:nvSpPr>
          <p:cNvPr id="26" name="Text 22"/>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713232"/>
            <a:ext cx="960120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Hierarchical on top, sequential underneath</a:t>
            </a:r>
            <a:endParaRPr lang="en-US" sz="3200" dirty="0"/>
          </a:p>
        </p:txBody>
      </p:sp>
      <p:sp>
        <p:nvSpPr>
          <p:cNvPr id="4" name="Text 2"/>
          <p:cNvSpPr/>
          <p:nvPr/>
        </p:nvSpPr>
        <p:spPr>
          <a:xfrm>
            <a:off x="548640" y="1481328"/>
            <a:ext cx="10607040" cy="365760"/>
          </a:xfrm>
          <a:prstGeom prst="rect">
            <a:avLst/>
          </a:prstGeom>
          <a:noFill/>
          <a:ln/>
        </p:spPr>
        <p:txBody>
          <a:bodyPr wrap="square" lIns="0" tIns="0" rIns="0" bIns="0" rtlCol="0" anchor="ctr"/>
          <a:lstStyle/>
          <a:p>
            <a:pPr indent="0" marL="0">
              <a:buNone/>
            </a:pPr>
            <a:r>
              <a:rPr lang="en-US" sz="1350" dirty="0">
                <a:solidFill>
                  <a:srgbClr val="6B7A93"/>
                </a:solidFill>
                <a:latin typeface="Calibri" pitchFamily="34" charset="0"/>
                <a:ea typeface="Calibri" pitchFamily="34" charset="-122"/>
                <a:cs typeface="Calibri" pitchFamily="34" charset="-120"/>
              </a:rPr>
              <a:t>Three intents fan out at the Router, then converge into one chain that is written and debugged once.</a:t>
            </a:r>
            <a:endParaRPr lang="en-US" sz="1350" dirty="0"/>
          </a:p>
        </p:txBody>
      </p:sp>
      <p:sp>
        <p:nvSpPr>
          <p:cNvPr id="5" name="Shape 3"/>
          <p:cNvSpPr/>
          <p:nvPr/>
        </p:nvSpPr>
        <p:spPr>
          <a:xfrm>
            <a:off x="548640" y="1938528"/>
            <a:ext cx="10607040" cy="566928"/>
          </a:xfrm>
          <a:prstGeom prst="roundRect">
            <a:avLst>
              <a:gd name="adj" fmla="val 14516"/>
            </a:avLst>
          </a:prstGeom>
          <a:solidFill>
            <a:srgbClr val="1B2A4A"/>
          </a:solidFill>
          <a:ln w="12700">
            <a:solidFill>
              <a:srgbClr val="1B2A4A"/>
            </a:solidFill>
            <a:prstDash val="solid"/>
          </a:ln>
          <a:effectLst>
            <a:outerShdw sx="100000" sy="100000" kx="0" ky="0" algn="bl" rotWithShape="0" blurRad="127000" dist="38100" dir="5400000">
              <a:srgbClr val="0B1220">
                <a:alpha val="12000"/>
              </a:srgbClr>
            </a:outerShdw>
          </a:effectLst>
        </p:spPr>
      </p:sp>
      <p:sp>
        <p:nvSpPr>
          <p:cNvPr id="6" name="Shape 4"/>
          <p:cNvSpPr/>
          <p:nvPr/>
        </p:nvSpPr>
        <p:spPr>
          <a:xfrm>
            <a:off x="804672" y="2020824"/>
            <a:ext cx="402336" cy="402336"/>
          </a:xfrm>
          <a:prstGeom prst="ellipse">
            <a:avLst/>
          </a:prstGeom>
          <a:solidFill>
            <a:srgbClr val="C97A20"/>
          </a:solidFill>
          <a:ln/>
        </p:spPr>
      </p:sp>
      <p:pic>
        <p:nvPicPr>
          <p:cNvPr id="7" name="Image 0" descr="/home/claude/deck_assets/icons/route.png">    </p:cNvPr>
          <p:cNvPicPr>
            <a:picLocks noChangeAspect="1"/>
          </p:cNvPicPr>
          <p:nvPr/>
        </p:nvPicPr>
        <p:blipFill>
          <a:blip r:embed="rId1"/>
          <a:stretch>
            <a:fillRect/>
          </a:stretch>
        </p:blipFill>
        <p:spPr>
          <a:xfrm>
            <a:off x="909279" y="2125431"/>
            <a:ext cx="193121" cy="193121"/>
          </a:xfrm>
          <a:prstGeom prst="rect">
            <a:avLst/>
          </a:prstGeom>
        </p:spPr>
      </p:pic>
      <p:sp>
        <p:nvSpPr>
          <p:cNvPr id="8" name="Text 5"/>
          <p:cNvSpPr/>
          <p:nvPr/>
        </p:nvSpPr>
        <p:spPr>
          <a:xfrm>
            <a:off x="1417320" y="1993392"/>
            <a:ext cx="2194560" cy="256032"/>
          </a:xfrm>
          <a:prstGeom prst="rect">
            <a:avLst/>
          </a:prstGeom>
          <a:noFill/>
          <a:ln/>
        </p:spPr>
        <p:txBody>
          <a:bodyPr wrap="square" lIns="0" tIns="0" rIns="0" bIns="0" rtlCol="0" anchor="ctr"/>
          <a:lstStyle/>
          <a:p>
            <a:pPr indent="0" marL="0">
              <a:buNone/>
            </a:pPr>
            <a:r>
              <a:rPr lang="en-US" sz="1150" b="1" spc="200" kern="0" dirty="0">
                <a:solidFill>
                  <a:srgbClr val="C97A20"/>
                </a:solidFill>
                <a:latin typeface="Calibri" pitchFamily="34" charset="0"/>
                <a:ea typeface="Calibri" pitchFamily="34" charset="-122"/>
                <a:cs typeface="Calibri" pitchFamily="34" charset="-120"/>
              </a:rPr>
              <a:t>ROUTER</a:t>
            </a:r>
            <a:endParaRPr lang="en-US" sz="1150" dirty="0"/>
          </a:p>
        </p:txBody>
      </p:sp>
      <p:sp>
        <p:nvSpPr>
          <p:cNvPr id="9" name="Text 6"/>
          <p:cNvSpPr/>
          <p:nvPr/>
        </p:nvSpPr>
        <p:spPr>
          <a:xfrm>
            <a:off x="1417320" y="2231136"/>
            <a:ext cx="9144000" cy="256032"/>
          </a:xfrm>
          <a:prstGeom prst="rect">
            <a:avLst/>
          </a:prstGeom>
          <a:noFill/>
          <a:ln/>
        </p:spPr>
        <p:txBody>
          <a:bodyPr wrap="square" lIns="0" tIns="0" rIns="0" bIns="0" rtlCol="0" anchor="ctr"/>
          <a:lstStyle/>
          <a:p>
            <a:pPr indent="0" marL="0">
              <a:buNone/>
            </a:pPr>
            <a:r>
              <a:rPr lang="en-US" sz="1150" dirty="0">
                <a:solidFill>
                  <a:srgbClr val="D7E0EE"/>
                </a:solidFill>
                <a:latin typeface="Calibri" pitchFamily="34" charset="0"/>
                <a:ea typeface="Calibri" pitchFamily="34" charset="-122"/>
                <a:cs typeface="Calibri" pitchFamily="34" charset="-120"/>
              </a:rPr>
              <a:t>forced tool-call — classifies intent and picks exactly one mode, never falls through to plain text</a:t>
            </a:r>
            <a:endParaRPr lang="en-US" sz="1150" dirty="0"/>
          </a:p>
        </p:txBody>
      </p:sp>
      <p:sp>
        <p:nvSpPr>
          <p:cNvPr id="10" name="Shape 7"/>
          <p:cNvSpPr/>
          <p:nvPr/>
        </p:nvSpPr>
        <p:spPr>
          <a:xfrm>
            <a:off x="2240280" y="2505456"/>
            <a:ext cx="0" cy="374904"/>
          </a:xfrm>
          <a:prstGeom prst="line">
            <a:avLst/>
          </a:prstGeom>
          <a:noFill/>
          <a:ln w="19050">
            <a:solidFill>
              <a:srgbClr val="6B7A93"/>
            </a:solidFill>
            <a:prstDash val="solid"/>
            <a:tailEnd type="triangle"/>
          </a:ln>
        </p:spPr>
      </p:sp>
      <p:sp>
        <p:nvSpPr>
          <p:cNvPr id="11" name="Shape 8"/>
          <p:cNvSpPr/>
          <p:nvPr/>
        </p:nvSpPr>
        <p:spPr>
          <a:xfrm>
            <a:off x="548640" y="2880360"/>
            <a:ext cx="3383280" cy="841248"/>
          </a:xfrm>
          <a:prstGeom prst="roundRect">
            <a:avLst>
              <a:gd name="adj" fmla="val 9783"/>
            </a:avLst>
          </a:prstGeom>
          <a:solidFill>
            <a:srgbClr val="E7EEFB"/>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2" name="Shape 9"/>
          <p:cNvSpPr/>
          <p:nvPr/>
        </p:nvSpPr>
        <p:spPr>
          <a:xfrm>
            <a:off x="786384" y="3081528"/>
            <a:ext cx="438912" cy="438912"/>
          </a:xfrm>
          <a:prstGeom prst="ellipse">
            <a:avLst/>
          </a:prstGeom>
          <a:solidFill>
            <a:srgbClr val="1B2A4A"/>
          </a:solidFill>
          <a:ln/>
        </p:spPr>
      </p:sp>
      <p:pic>
        <p:nvPicPr>
          <p:cNvPr id="13" name="Image 1" descr="/home/claude/deck_assets/icons/briefcase.png">    </p:cNvPr>
          <p:cNvPicPr>
            <a:picLocks noChangeAspect="1"/>
          </p:cNvPicPr>
          <p:nvPr/>
        </p:nvPicPr>
        <p:blipFill>
          <a:blip r:embed="rId2"/>
          <a:stretch>
            <a:fillRect/>
          </a:stretch>
        </p:blipFill>
        <p:spPr>
          <a:xfrm>
            <a:off x="900501" y="3195645"/>
            <a:ext cx="210678" cy="210678"/>
          </a:xfrm>
          <a:prstGeom prst="rect">
            <a:avLst/>
          </a:prstGeom>
        </p:spPr>
      </p:pic>
      <p:sp>
        <p:nvSpPr>
          <p:cNvPr id="14" name="Text 10"/>
          <p:cNvSpPr/>
          <p:nvPr/>
        </p:nvSpPr>
        <p:spPr>
          <a:xfrm>
            <a:off x="1353312" y="3026664"/>
            <a:ext cx="1645920" cy="292608"/>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Apply</a:t>
            </a:r>
            <a:endParaRPr lang="en-US" sz="1500" dirty="0"/>
          </a:p>
        </p:txBody>
      </p:sp>
      <p:sp>
        <p:nvSpPr>
          <p:cNvPr id="15" name="Text 11"/>
          <p:cNvSpPr/>
          <p:nvPr/>
        </p:nvSpPr>
        <p:spPr>
          <a:xfrm>
            <a:off x="1353312" y="3337560"/>
            <a:ext cx="2377440" cy="274320"/>
          </a:xfrm>
          <a:prstGeom prst="rect">
            <a:avLst/>
          </a:prstGeom>
          <a:noFill/>
          <a:ln/>
        </p:spPr>
        <p:txBody>
          <a:bodyPr wrap="square" lIns="0" tIns="0" rIns="0" bIns="0" rtlCol="0" anchor="ctr"/>
          <a:lstStyle/>
          <a:p>
            <a:pPr indent="0" marL="0">
              <a:buNone/>
            </a:pPr>
            <a:r>
              <a:rPr lang="en-US" sz="1050" dirty="0">
                <a:solidFill>
                  <a:srgbClr val="6B7A93"/>
                </a:solidFill>
                <a:latin typeface="Calibri" pitchFamily="34" charset="0"/>
                <a:ea typeface="Calibri" pitchFamily="34" charset="-122"/>
                <a:cs typeface="Calibri" pitchFamily="34" charset="-120"/>
              </a:rPr>
              <a:t>no corpus — posting + resume</a:t>
            </a:r>
            <a:endParaRPr lang="en-US" sz="1050" dirty="0"/>
          </a:p>
        </p:txBody>
      </p:sp>
      <p:sp>
        <p:nvSpPr>
          <p:cNvPr id="16" name="Shape 12"/>
          <p:cNvSpPr/>
          <p:nvPr/>
        </p:nvSpPr>
        <p:spPr>
          <a:xfrm>
            <a:off x="3017520" y="3008376"/>
            <a:ext cx="749808" cy="292608"/>
          </a:xfrm>
          <a:prstGeom prst="roundRect">
            <a:avLst>
              <a:gd name="adj" fmla="val 50000"/>
            </a:avLst>
          </a:prstGeom>
          <a:solidFill>
            <a:srgbClr val="1B2A4A"/>
          </a:solidFill>
          <a:ln/>
        </p:spPr>
      </p:sp>
      <p:sp>
        <p:nvSpPr>
          <p:cNvPr id="17" name="Text 13"/>
          <p:cNvSpPr/>
          <p:nvPr/>
        </p:nvSpPr>
        <p:spPr>
          <a:xfrm>
            <a:off x="3017520" y="3008376"/>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 rounds</a:t>
            </a:r>
            <a:endParaRPr lang="en-US" sz="850" dirty="0"/>
          </a:p>
        </p:txBody>
      </p:sp>
      <p:sp>
        <p:nvSpPr>
          <p:cNvPr id="18" name="Shape 14"/>
          <p:cNvSpPr/>
          <p:nvPr/>
        </p:nvSpPr>
        <p:spPr>
          <a:xfrm>
            <a:off x="5943600" y="2505456"/>
            <a:ext cx="0" cy="374904"/>
          </a:xfrm>
          <a:prstGeom prst="line">
            <a:avLst/>
          </a:prstGeom>
          <a:noFill/>
          <a:ln w="19050">
            <a:solidFill>
              <a:srgbClr val="6B7A93"/>
            </a:solidFill>
            <a:prstDash val="solid"/>
            <a:tailEnd type="triangle"/>
          </a:ln>
        </p:spPr>
      </p:sp>
      <p:sp>
        <p:nvSpPr>
          <p:cNvPr id="19" name="Shape 15"/>
          <p:cNvSpPr/>
          <p:nvPr/>
        </p:nvSpPr>
        <p:spPr>
          <a:xfrm>
            <a:off x="4251960" y="2880360"/>
            <a:ext cx="3383280" cy="841248"/>
          </a:xfrm>
          <a:prstGeom prst="roundRect">
            <a:avLst>
              <a:gd name="adj" fmla="val 9783"/>
            </a:avLst>
          </a:prstGeom>
          <a:solidFill>
            <a:srgbClr val="E7EEFB"/>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20" name="Shape 16"/>
          <p:cNvSpPr/>
          <p:nvPr/>
        </p:nvSpPr>
        <p:spPr>
          <a:xfrm>
            <a:off x="4489704" y="3081528"/>
            <a:ext cx="438912" cy="438912"/>
          </a:xfrm>
          <a:prstGeom prst="ellipse">
            <a:avLst/>
          </a:prstGeom>
          <a:solidFill>
            <a:srgbClr val="1B2A4A"/>
          </a:solidFill>
          <a:ln/>
        </p:spPr>
      </p:sp>
      <p:pic>
        <p:nvPicPr>
          <p:cNvPr id="21" name="Image 2" descr="/home/claude/deck_assets/icons/comments.png">    </p:cNvPr>
          <p:cNvPicPr>
            <a:picLocks noChangeAspect="1"/>
          </p:cNvPicPr>
          <p:nvPr/>
        </p:nvPicPr>
        <p:blipFill>
          <a:blip r:embed="rId3"/>
          <a:stretch>
            <a:fillRect/>
          </a:stretch>
        </p:blipFill>
        <p:spPr>
          <a:xfrm>
            <a:off x="4603821" y="3195645"/>
            <a:ext cx="210678" cy="210678"/>
          </a:xfrm>
          <a:prstGeom prst="rect">
            <a:avLst/>
          </a:prstGeom>
        </p:spPr>
      </p:pic>
      <p:sp>
        <p:nvSpPr>
          <p:cNvPr id="22" name="Text 17"/>
          <p:cNvSpPr/>
          <p:nvPr/>
        </p:nvSpPr>
        <p:spPr>
          <a:xfrm>
            <a:off x="5056632" y="3026664"/>
            <a:ext cx="1645920" cy="292608"/>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Interview</a:t>
            </a:r>
            <a:endParaRPr lang="en-US" sz="1500" dirty="0"/>
          </a:p>
        </p:txBody>
      </p:sp>
      <p:sp>
        <p:nvSpPr>
          <p:cNvPr id="23" name="Text 18"/>
          <p:cNvSpPr/>
          <p:nvPr/>
        </p:nvSpPr>
        <p:spPr>
          <a:xfrm>
            <a:off x="5056632" y="3337560"/>
            <a:ext cx="2377440" cy="274320"/>
          </a:xfrm>
          <a:prstGeom prst="rect">
            <a:avLst/>
          </a:prstGeom>
          <a:noFill/>
          <a:ln/>
        </p:spPr>
        <p:txBody>
          <a:bodyPr wrap="square" lIns="0" tIns="0" rIns="0" bIns="0" rtlCol="0" anchor="ctr"/>
          <a:lstStyle/>
          <a:p>
            <a:pPr indent="0" marL="0">
              <a:buNone/>
            </a:pPr>
            <a:r>
              <a:rPr lang="en-US" sz="1050" dirty="0">
                <a:solidFill>
                  <a:srgbClr val="6B7A93"/>
                </a:solidFill>
                <a:latin typeface="Calibri" pitchFamily="34" charset="0"/>
                <a:ea typeface="Calibri" pitchFamily="34" charset="-122"/>
                <a:cs typeface="Calibri" pitchFamily="34" charset="-120"/>
              </a:rPr>
              <a:t>searches interview_qa</a:t>
            </a:r>
            <a:endParaRPr lang="en-US" sz="1050" dirty="0"/>
          </a:p>
        </p:txBody>
      </p:sp>
      <p:sp>
        <p:nvSpPr>
          <p:cNvPr id="24" name="Shape 19"/>
          <p:cNvSpPr/>
          <p:nvPr/>
        </p:nvSpPr>
        <p:spPr>
          <a:xfrm>
            <a:off x="6720840" y="3008376"/>
            <a:ext cx="749808" cy="292608"/>
          </a:xfrm>
          <a:prstGeom prst="roundRect">
            <a:avLst>
              <a:gd name="adj" fmla="val 50000"/>
            </a:avLst>
          </a:prstGeom>
          <a:solidFill>
            <a:srgbClr val="1B2A4A"/>
          </a:solidFill>
          <a:ln/>
        </p:spPr>
      </p:sp>
      <p:sp>
        <p:nvSpPr>
          <p:cNvPr id="25" name="Text 20"/>
          <p:cNvSpPr/>
          <p:nvPr/>
        </p:nvSpPr>
        <p:spPr>
          <a:xfrm>
            <a:off x="6720840" y="3008376"/>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 rounds</a:t>
            </a:r>
            <a:endParaRPr lang="en-US" sz="850" dirty="0"/>
          </a:p>
        </p:txBody>
      </p:sp>
      <p:sp>
        <p:nvSpPr>
          <p:cNvPr id="26" name="Shape 21"/>
          <p:cNvSpPr/>
          <p:nvPr/>
        </p:nvSpPr>
        <p:spPr>
          <a:xfrm>
            <a:off x="9646920" y="2505456"/>
            <a:ext cx="0" cy="374904"/>
          </a:xfrm>
          <a:prstGeom prst="line">
            <a:avLst/>
          </a:prstGeom>
          <a:noFill/>
          <a:ln w="19050">
            <a:solidFill>
              <a:srgbClr val="6B7A93"/>
            </a:solidFill>
            <a:prstDash val="solid"/>
            <a:tailEnd type="triangle"/>
          </a:ln>
        </p:spPr>
      </p:sp>
      <p:sp>
        <p:nvSpPr>
          <p:cNvPr id="27" name="Shape 22"/>
          <p:cNvSpPr/>
          <p:nvPr/>
        </p:nvSpPr>
        <p:spPr>
          <a:xfrm>
            <a:off x="7955280" y="2880360"/>
            <a:ext cx="3383280" cy="841248"/>
          </a:xfrm>
          <a:prstGeom prst="roundRect">
            <a:avLst>
              <a:gd name="adj" fmla="val 9783"/>
            </a:avLst>
          </a:prstGeom>
          <a:solidFill>
            <a:srgbClr val="E7EEFB"/>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28" name="Shape 23"/>
          <p:cNvSpPr/>
          <p:nvPr/>
        </p:nvSpPr>
        <p:spPr>
          <a:xfrm>
            <a:off x="8193024" y="3081528"/>
            <a:ext cx="438912" cy="438912"/>
          </a:xfrm>
          <a:prstGeom prst="ellipse">
            <a:avLst/>
          </a:prstGeom>
          <a:solidFill>
            <a:srgbClr val="1B2A4A"/>
          </a:solidFill>
          <a:ln/>
        </p:spPr>
      </p:sp>
      <p:pic>
        <p:nvPicPr>
          <p:cNvPr id="29" name="Image 3" descr="/home/claude/deck_assets/icons/book.png">    </p:cNvPr>
          <p:cNvPicPr>
            <a:picLocks noChangeAspect="1"/>
          </p:cNvPicPr>
          <p:nvPr/>
        </p:nvPicPr>
        <p:blipFill>
          <a:blip r:embed="rId4"/>
          <a:stretch>
            <a:fillRect/>
          </a:stretch>
        </p:blipFill>
        <p:spPr>
          <a:xfrm>
            <a:off x="8307141" y="3195645"/>
            <a:ext cx="210678" cy="210678"/>
          </a:xfrm>
          <a:prstGeom prst="rect">
            <a:avLst/>
          </a:prstGeom>
        </p:spPr>
      </p:pic>
      <p:sp>
        <p:nvSpPr>
          <p:cNvPr id="30" name="Text 24"/>
          <p:cNvSpPr/>
          <p:nvPr/>
        </p:nvSpPr>
        <p:spPr>
          <a:xfrm>
            <a:off x="8759952" y="3026664"/>
            <a:ext cx="1645920" cy="292608"/>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Learn</a:t>
            </a:r>
            <a:endParaRPr lang="en-US" sz="1500" dirty="0"/>
          </a:p>
        </p:txBody>
      </p:sp>
      <p:sp>
        <p:nvSpPr>
          <p:cNvPr id="31" name="Text 25"/>
          <p:cNvSpPr/>
          <p:nvPr/>
        </p:nvSpPr>
        <p:spPr>
          <a:xfrm>
            <a:off x="8759952" y="3337560"/>
            <a:ext cx="2377440" cy="274320"/>
          </a:xfrm>
          <a:prstGeom prst="rect">
            <a:avLst/>
          </a:prstGeom>
          <a:noFill/>
          <a:ln/>
        </p:spPr>
        <p:txBody>
          <a:bodyPr wrap="square" lIns="0" tIns="0" rIns="0" bIns="0" rtlCol="0" anchor="ctr"/>
          <a:lstStyle/>
          <a:p>
            <a:pPr indent="0" marL="0">
              <a:buNone/>
            </a:pPr>
            <a:r>
              <a:rPr lang="en-US" sz="1050" dirty="0">
                <a:solidFill>
                  <a:srgbClr val="6B7A93"/>
                </a:solidFill>
                <a:latin typeface="Calibri" pitchFamily="34" charset="0"/>
                <a:ea typeface="Calibri" pitchFamily="34" charset="-122"/>
                <a:cs typeface="Calibri" pitchFamily="34" charset="-120"/>
              </a:rPr>
              <a:t>searches class_notes</a:t>
            </a:r>
            <a:endParaRPr lang="en-US" sz="1050" dirty="0"/>
          </a:p>
        </p:txBody>
      </p:sp>
      <p:sp>
        <p:nvSpPr>
          <p:cNvPr id="32" name="Shape 26"/>
          <p:cNvSpPr/>
          <p:nvPr/>
        </p:nvSpPr>
        <p:spPr>
          <a:xfrm>
            <a:off x="10424160" y="3008376"/>
            <a:ext cx="749808" cy="292608"/>
          </a:xfrm>
          <a:prstGeom prst="roundRect">
            <a:avLst>
              <a:gd name="adj" fmla="val 50000"/>
            </a:avLst>
          </a:prstGeom>
          <a:solidFill>
            <a:srgbClr val="1B2A4A"/>
          </a:solidFill>
          <a:ln/>
        </p:spPr>
      </p:sp>
      <p:sp>
        <p:nvSpPr>
          <p:cNvPr id="33" name="Text 27"/>
          <p:cNvSpPr/>
          <p:nvPr/>
        </p:nvSpPr>
        <p:spPr>
          <a:xfrm>
            <a:off x="10424160" y="3008376"/>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 round</a:t>
            </a:r>
            <a:endParaRPr lang="en-US" sz="850" dirty="0"/>
          </a:p>
        </p:txBody>
      </p:sp>
      <p:sp>
        <p:nvSpPr>
          <p:cNvPr id="34" name="Shape 28"/>
          <p:cNvSpPr/>
          <p:nvPr/>
        </p:nvSpPr>
        <p:spPr>
          <a:xfrm>
            <a:off x="2240280" y="3721608"/>
            <a:ext cx="0" cy="411480"/>
          </a:xfrm>
          <a:prstGeom prst="line">
            <a:avLst/>
          </a:prstGeom>
          <a:noFill/>
          <a:ln w="19050">
            <a:solidFill>
              <a:srgbClr val="1B2A4A"/>
            </a:solidFill>
            <a:prstDash val="solid"/>
          </a:ln>
        </p:spPr>
      </p:sp>
      <p:sp>
        <p:nvSpPr>
          <p:cNvPr id="35" name="Shape 29"/>
          <p:cNvSpPr/>
          <p:nvPr/>
        </p:nvSpPr>
        <p:spPr>
          <a:xfrm>
            <a:off x="5943600" y="3721608"/>
            <a:ext cx="0" cy="411480"/>
          </a:xfrm>
          <a:prstGeom prst="line">
            <a:avLst/>
          </a:prstGeom>
          <a:noFill/>
          <a:ln w="19050">
            <a:solidFill>
              <a:srgbClr val="1B2A4A"/>
            </a:solidFill>
            <a:prstDash val="solid"/>
          </a:ln>
        </p:spPr>
      </p:sp>
      <p:sp>
        <p:nvSpPr>
          <p:cNvPr id="36" name="Shape 30"/>
          <p:cNvSpPr/>
          <p:nvPr/>
        </p:nvSpPr>
        <p:spPr>
          <a:xfrm>
            <a:off x="9646920" y="3721608"/>
            <a:ext cx="0" cy="411480"/>
          </a:xfrm>
          <a:prstGeom prst="line">
            <a:avLst/>
          </a:prstGeom>
          <a:noFill/>
          <a:ln w="19050">
            <a:solidFill>
              <a:srgbClr val="1B2A4A"/>
            </a:solidFill>
            <a:prstDash val="solid"/>
          </a:ln>
        </p:spPr>
      </p:sp>
      <p:sp>
        <p:nvSpPr>
          <p:cNvPr id="37" name="Shape 31"/>
          <p:cNvSpPr/>
          <p:nvPr/>
        </p:nvSpPr>
        <p:spPr>
          <a:xfrm>
            <a:off x="2240280" y="4133088"/>
            <a:ext cx="7406640" cy="0"/>
          </a:xfrm>
          <a:prstGeom prst="line">
            <a:avLst/>
          </a:prstGeom>
          <a:noFill/>
          <a:ln w="19050">
            <a:solidFill>
              <a:srgbClr val="1B2A4A"/>
            </a:solidFill>
            <a:prstDash val="solid"/>
          </a:ln>
        </p:spPr>
      </p:sp>
      <p:sp>
        <p:nvSpPr>
          <p:cNvPr id="38" name="Shape 32"/>
          <p:cNvSpPr/>
          <p:nvPr/>
        </p:nvSpPr>
        <p:spPr>
          <a:xfrm>
            <a:off x="6095848" y="4133088"/>
            <a:ext cx="0" cy="384048"/>
          </a:xfrm>
          <a:prstGeom prst="line">
            <a:avLst/>
          </a:prstGeom>
          <a:noFill/>
          <a:ln w="25400">
            <a:solidFill>
              <a:srgbClr val="1B2A4A"/>
            </a:solidFill>
            <a:prstDash val="solid"/>
            <a:tailEnd type="triangle"/>
          </a:ln>
        </p:spPr>
      </p:sp>
      <p:sp>
        <p:nvSpPr>
          <p:cNvPr id="39" name="Text 33"/>
          <p:cNvSpPr/>
          <p:nvPr/>
        </p:nvSpPr>
        <p:spPr>
          <a:xfrm>
            <a:off x="6260440" y="4169664"/>
            <a:ext cx="2926080" cy="274320"/>
          </a:xfrm>
          <a:prstGeom prst="rect">
            <a:avLst/>
          </a:prstGeom>
          <a:noFill/>
          <a:ln/>
        </p:spPr>
        <p:txBody>
          <a:bodyPr wrap="square" lIns="0" tIns="0" rIns="0" bIns="0" rtlCol="0" anchor="ctr"/>
          <a:lstStyle/>
          <a:p>
            <a:pPr indent="0" marL="0">
              <a:buNone/>
            </a:pPr>
            <a:r>
              <a:rPr lang="en-US" sz="1000" i="1" dirty="0">
                <a:solidFill>
                  <a:srgbClr val="1B2A4A"/>
                </a:solidFill>
                <a:latin typeface="Calibri" pitchFamily="34" charset="0"/>
                <a:ea typeface="Calibri" pitchFamily="34" charset="-122"/>
                <a:cs typeface="Calibri" pitchFamily="34" charset="-120"/>
              </a:rPr>
              <a:t>all three converge here</a:t>
            </a:r>
            <a:endParaRPr lang="en-US" sz="1000" dirty="0"/>
          </a:p>
        </p:txBody>
      </p:sp>
      <p:sp>
        <p:nvSpPr>
          <p:cNvPr id="40" name="Shape 34"/>
          <p:cNvSpPr/>
          <p:nvPr/>
        </p:nvSpPr>
        <p:spPr>
          <a:xfrm>
            <a:off x="856336" y="4443984"/>
            <a:ext cx="10479024" cy="1152144"/>
          </a:xfrm>
          <a:prstGeom prst="roundRect">
            <a:avLst>
              <a:gd name="adj" fmla="val 7143"/>
            </a:avLst>
          </a:prstGeom>
          <a:solidFill>
            <a:srgbClr val="F4F7FC"/>
          </a:solidFill>
          <a:ln w="12700">
            <a:solidFill>
              <a:srgbClr val="D7E0EE"/>
            </a:solidFill>
            <a:prstDash val="solid"/>
          </a:ln>
        </p:spPr>
      </p:sp>
      <p:sp>
        <p:nvSpPr>
          <p:cNvPr id="41" name="Shape 35"/>
          <p:cNvSpPr/>
          <p:nvPr/>
        </p:nvSpPr>
        <p:spPr>
          <a:xfrm>
            <a:off x="1057504" y="4626864"/>
            <a:ext cx="2286000" cy="786384"/>
          </a:xfrm>
          <a:prstGeom prst="roundRect">
            <a:avLst>
              <a:gd name="adj" fmla="val 10465"/>
            </a:avLst>
          </a:prstGeom>
          <a:solidFill>
            <a:srgbClr val="FFFFFF"/>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42" name="Text 36"/>
          <p:cNvSpPr/>
          <p:nvPr/>
        </p:nvSpPr>
        <p:spPr>
          <a:xfrm>
            <a:off x="1057504" y="4736592"/>
            <a:ext cx="2286000" cy="292608"/>
          </a:xfrm>
          <a:prstGeom prst="rect">
            <a:avLst/>
          </a:prstGeom>
          <a:noFill/>
          <a:ln/>
        </p:spPr>
        <p:txBody>
          <a:bodyPr wrap="square" lIns="0" tIns="0" rIns="0" bIns="0" rtlCol="0" anchor="ctr"/>
          <a:lstStyle/>
          <a:p>
            <a:pPr algn="ctr" indent="0" marL="0">
              <a:buNone/>
            </a:pPr>
            <a:r>
              <a:rPr lang="en-US" sz="1400" b="1" dirty="0">
                <a:solidFill>
                  <a:srgbClr val="16213A"/>
                </a:solidFill>
                <a:latin typeface="Cambria" pitchFamily="34" charset="0"/>
                <a:ea typeface="Cambria" pitchFamily="34" charset="-122"/>
                <a:cs typeface="Cambria" pitchFamily="34" charset="-120"/>
              </a:rPr>
              <a:t>Planner</a:t>
            </a:r>
            <a:endParaRPr lang="en-US" sz="1400" dirty="0"/>
          </a:p>
        </p:txBody>
      </p:sp>
      <p:sp>
        <p:nvSpPr>
          <p:cNvPr id="43" name="Text 37"/>
          <p:cNvSpPr/>
          <p:nvPr/>
        </p:nvSpPr>
        <p:spPr>
          <a:xfrm>
            <a:off x="1057504" y="5047488"/>
            <a:ext cx="2286000" cy="256032"/>
          </a:xfrm>
          <a:prstGeom prst="rect">
            <a:avLst/>
          </a:prstGeom>
          <a:noFill/>
          <a:ln/>
        </p:spPr>
        <p:txBody>
          <a:bodyPr wrap="square" lIns="0" tIns="0" rIns="0" bIns="0" rtlCol="0" anchor="ctr"/>
          <a:lstStyle/>
          <a:p>
            <a:pPr algn="ctr" indent="0" marL="0">
              <a:buNone/>
            </a:pPr>
            <a:r>
              <a:rPr lang="en-US" sz="900" dirty="0">
                <a:solidFill>
                  <a:srgbClr val="6B7A93"/>
                </a:solidFill>
                <a:latin typeface="Calibri" pitchFamily="34" charset="0"/>
                <a:ea typeface="Calibri" pitchFamily="34" charset="-122"/>
                <a:cs typeface="Calibri" pitchFamily="34" charset="-120"/>
              </a:rPr>
              <a:t>same for all 3</a:t>
            </a:r>
            <a:endParaRPr lang="en-US" sz="900" dirty="0"/>
          </a:p>
        </p:txBody>
      </p:sp>
      <p:sp>
        <p:nvSpPr>
          <p:cNvPr id="44" name="Shape 38"/>
          <p:cNvSpPr/>
          <p:nvPr/>
        </p:nvSpPr>
        <p:spPr>
          <a:xfrm>
            <a:off x="3343504" y="5020056"/>
            <a:ext cx="310896" cy="0"/>
          </a:xfrm>
          <a:prstGeom prst="line">
            <a:avLst/>
          </a:prstGeom>
          <a:noFill/>
          <a:ln w="19050">
            <a:solidFill>
              <a:srgbClr val="6B7A93"/>
            </a:solidFill>
            <a:prstDash val="solid"/>
            <a:tailEnd type="triangle"/>
          </a:ln>
        </p:spPr>
      </p:sp>
      <p:sp>
        <p:nvSpPr>
          <p:cNvPr id="45" name="Shape 39"/>
          <p:cNvSpPr/>
          <p:nvPr/>
        </p:nvSpPr>
        <p:spPr>
          <a:xfrm>
            <a:off x="3654400" y="4626864"/>
            <a:ext cx="2286000" cy="786384"/>
          </a:xfrm>
          <a:prstGeom prst="roundRect">
            <a:avLst>
              <a:gd name="adj" fmla="val 10465"/>
            </a:avLst>
          </a:prstGeom>
          <a:solidFill>
            <a:srgbClr val="FFFFFF"/>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46" name="Text 40"/>
          <p:cNvSpPr/>
          <p:nvPr/>
        </p:nvSpPr>
        <p:spPr>
          <a:xfrm>
            <a:off x="3654400" y="4736592"/>
            <a:ext cx="2286000" cy="292608"/>
          </a:xfrm>
          <a:prstGeom prst="rect">
            <a:avLst/>
          </a:prstGeom>
          <a:noFill/>
          <a:ln/>
        </p:spPr>
        <p:txBody>
          <a:bodyPr wrap="square" lIns="0" tIns="0" rIns="0" bIns="0" rtlCol="0" anchor="ctr"/>
          <a:lstStyle/>
          <a:p>
            <a:pPr algn="ctr" indent="0" marL="0">
              <a:buNone/>
            </a:pPr>
            <a:r>
              <a:rPr lang="en-US" sz="1400" b="1" dirty="0">
                <a:solidFill>
                  <a:srgbClr val="16213A"/>
                </a:solidFill>
                <a:latin typeface="Cambria" pitchFamily="34" charset="0"/>
                <a:ea typeface="Cambria" pitchFamily="34" charset="-122"/>
                <a:cs typeface="Cambria" pitchFamily="34" charset="-120"/>
              </a:rPr>
              <a:t>Researcher</a:t>
            </a:r>
            <a:endParaRPr lang="en-US" sz="1400" dirty="0"/>
          </a:p>
        </p:txBody>
      </p:sp>
      <p:sp>
        <p:nvSpPr>
          <p:cNvPr id="47" name="Text 41"/>
          <p:cNvSpPr/>
          <p:nvPr/>
        </p:nvSpPr>
        <p:spPr>
          <a:xfrm>
            <a:off x="3654400" y="5047488"/>
            <a:ext cx="2286000" cy="256032"/>
          </a:xfrm>
          <a:prstGeom prst="rect">
            <a:avLst/>
          </a:prstGeom>
          <a:noFill/>
          <a:ln/>
        </p:spPr>
        <p:txBody>
          <a:bodyPr wrap="square" lIns="0" tIns="0" rIns="0" bIns="0" rtlCol="0" anchor="ctr"/>
          <a:lstStyle/>
          <a:p>
            <a:pPr algn="ctr" indent="0" marL="0">
              <a:buNone/>
            </a:pPr>
            <a:r>
              <a:rPr lang="en-US" sz="900" dirty="0">
                <a:solidFill>
                  <a:srgbClr val="6B7A93"/>
                </a:solidFill>
                <a:latin typeface="Calibri" pitchFamily="34" charset="0"/>
                <a:ea typeface="Calibri" pitchFamily="34" charset="-122"/>
                <a:cs typeface="Calibri" pitchFamily="34" charset="-120"/>
              </a:rPr>
              <a:t>only branching agent</a:t>
            </a:r>
            <a:endParaRPr lang="en-US" sz="900" dirty="0"/>
          </a:p>
        </p:txBody>
      </p:sp>
      <p:sp>
        <p:nvSpPr>
          <p:cNvPr id="48" name="Shape 42"/>
          <p:cNvSpPr/>
          <p:nvPr/>
        </p:nvSpPr>
        <p:spPr>
          <a:xfrm>
            <a:off x="5940400" y="5020056"/>
            <a:ext cx="310896" cy="0"/>
          </a:xfrm>
          <a:prstGeom prst="line">
            <a:avLst/>
          </a:prstGeom>
          <a:noFill/>
          <a:ln w="19050">
            <a:solidFill>
              <a:srgbClr val="6B7A93"/>
            </a:solidFill>
            <a:prstDash val="solid"/>
            <a:tailEnd type="triangle"/>
          </a:ln>
        </p:spPr>
      </p:sp>
      <p:sp>
        <p:nvSpPr>
          <p:cNvPr id="49" name="Shape 43"/>
          <p:cNvSpPr/>
          <p:nvPr/>
        </p:nvSpPr>
        <p:spPr>
          <a:xfrm>
            <a:off x="6251296" y="4626864"/>
            <a:ext cx="2286000" cy="786384"/>
          </a:xfrm>
          <a:prstGeom prst="roundRect">
            <a:avLst>
              <a:gd name="adj" fmla="val 10465"/>
            </a:avLst>
          </a:prstGeom>
          <a:solidFill>
            <a:srgbClr val="FFFFFF"/>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50" name="Text 44"/>
          <p:cNvSpPr/>
          <p:nvPr/>
        </p:nvSpPr>
        <p:spPr>
          <a:xfrm>
            <a:off x="6251296" y="4736592"/>
            <a:ext cx="2286000" cy="292608"/>
          </a:xfrm>
          <a:prstGeom prst="rect">
            <a:avLst/>
          </a:prstGeom>
          <a:noFill/>
          <a:ln/>
        </p:spPr>
        <p:txBody>
          <a:bodyPr wrap="square" lIns="0" tIns="0" rIns="0" bIns="0" rtlCol="0" anchor="ctr"/>
          <a:lstStyle/>
          <a:p>
            <a:pPr algn="ctr" indent="0" marL="0">
              <a:buNone/>
            </a:pPr>
            <a:r>
              <a:rPr lang="en-US" sz="1400" b="1" dirty="0">
                <a:solidFill>
                  <a:srgbClr val="16213A"/>
                </a:solidFill>
                <a:latin typeface="Cambria" pitchFamily="34" charset="0"/>
                <a:ea typeface="Cambria" pitchFamily="34" charset="-122"/>
                <a:cs typeface="Cambria" pitchFamily="34" charset="-120"/>
              </a:rPr>
              <a:t>Writer</a:t>
            </a:r>
            <a:endParaRPr lang="en-US" sz="1400" dirty="0"/>
          </a:p>
        </p:txBody>
      </p:sp>
      <p:sp>
        <p:nvSpPr>
          <p:cNvPr id="51" name="Text 45"/>
          <p:cNvSpPr/>
          <p:nvPr/>
        </p:nvSpPr>
        <p:spPr>
          <a:xfrm>
            <a:off x="6251296" y="5047488"/>
            <a:ext cx="2286000" cy="256032"/>
          </a:xfrm>
          <a:prstGeom prst="rect">
            <a:avLst/>
          </a:prstGeom>
          <a:noFill/>
          <a:ln/>
        </p:spPr>
        <p:txBody>
          <a:bodyPr wrap="square" lIns="0" tIns="0" rIns="0" bIns="0" rtlCol="0" anchor="ctr"/>
          <a:lstStyle/>
          <a:p>
            <a:pPr algn="ctr" indent="0" marL="0">
              <a:buNone/>
            </a:pPr>
            <a:r>
              <a:rPr lang="en-US" sz="900" dirty="0">
                <a:solidFill>
                  <a:srgbClr val="6B7A93"/>
                </a:solidFill>
                <a:latin typeface="Calibri" pitchFamily="34" charset="0"/>
                <a:ea typeface="Calibri" pitchFamily="34" charset="-122"/>
                <a:cs typeface="Calibri" pitchFamily="34" charset="-120"/>
              </a:rPr>
              <a:t>prompt per mode</a:t>
            </a:r>
            <a:endParaRPr lang="en-US" sz="900" dirty="0"/>
          </a:p>
        </p:txBody>
      </p:sp>
      <p:sp>
        <p:nvSpPr>
          <p:cNvPr id="52" name="Shape 46"/>
          <p:cNvSpPr/>
          <p:nvPr/>
        </p:nvSpPr>
        <p:spPr>
          <a:xfrm>
            <a:off x="8537296" y="5020056"/>
            <a:ext cx="310896" cy="0"/>
          </a:xfrm>
          <a:prstGeom prst="line">
            <a:avLst/>
          </a:prstGeom>
          <a:noFill/>
          <a:ln w="19050">
            <a:solidFill>
              <a:srgbClr val="6B7A93"/>
            </a:solidFill>
            <a:prstDash val="solid"/>
            <a:tailEnd type="triangle"/>
          </a:ln>
        </p:spPr>
      </p:sp>
      <p:sp>
        <p:nvSpPr>
          <p:cNvPr id="53" name="Shape 47"/>
          <p:cNvSpPr/>
          <p:nvPr/>
        </p:nvSpPr>
        <p:spPr>
          <a:xfrm>
            <a:off x="8848192" y="4626864"/>
            <a:ext cx="2286000" cy="786384"/>
          </a:xfrm>
          <a:prstGeom prst="roundRect">
            <a:avLst>
              <a:gd name="adj" fmla="val 10465"/>
            </a:avLst>
          </a:prstGeom>
          <a:solidFill>
            <a:srgbClr val="FFFFFF"/>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54" name="Text 48"/>
          <p:cNvSpPr/>
          <p:nvPr/>
        </p:nvSpPr>
        <p:spPr>
          <a:xfrm>
            <a:off x="8848192" y="4736592"/>
            <a:ext cx="2286000" cy="292608"/>
          </a:xfrm>
          <a:prstGeom prst="rect">
            <a:avLst/>
          </a:prstGeom>
          <a:noFill/>
          <a:ln/>
        </p:spPr>
        <p:txBody>
          <a:bodyPr wrap="square" lIns="0" tIns="0" rIns="0" bIns="0" rtlCol="0" anchor="ctr"/>
          <a:lstStyle/>
          <a:p>
            <a:pPr algn="ctr" indent="0" marL="0">
              <a:buNone/>
            </a:pPr>
            <a:r>
              <a:rPr lang="en-US" sz="1400" b="1" dirty="0">
                <a:solidFill>
                  <a:srgbClr val="16213A"/>
                </a:solidFill>
                <a:latin typeface="Cambria" pitchFamily="34" charset="0"/>
                <a:ea typeface="Cambria" pitchFamily="34" charset="-122"/>
                <a:cs typeface="Cambria" pitchFamily="34" charset="-120"/>
              </a:rPr>
              <a:t>Critic</a:t>
            </a:r>
            <a:endParaRPr lang="en-US" sz="1400" dirty="0"/>
          </a:p>
        </p:txBody>
      </p:sp>
      <p:sp>
        <p:nvSpPr>
          <p:cNvPr id="55" name="Text 49"/>
          <p:cNvSpPr/>
          <p:nvPr/>
        </p:nvSpPr>
        <p:spPr>
          <a:xfrm>
            <a:off x="8848192" y="5047488"/>
            <a:ext cx="2286000" cy="256032"/>
          </a:xfrm>
          <a:prstGeom prst="rect">
            <a:avLst/>
          </a:prstGeom>
          <a:noFill/>
          <a:ln/>
        </p:spPr>
        <p:txBody>
          <a:bodyPr wrap="square" lIns="0" tIns="0" rIns="0" bIns="0" rtlCol="0" anchor="ctr"/>
          <a:lstStyle/>
          <a:p>
            <a:pPr algn="ctr" indent="0" marL="0">
              <a:buNone/>
            </a:pPr>
            <a:r>
              <a:rPr lang="en-US" sz="900" dirty="0">
                <a:solidFill>
                  <a:srgbClr val="6B7A93"/>
                </a:solidFill>
                <a:latin typeface="Calibri" pitchFamily="34" charset="0"/>
                <a:ea typeface="Calibri" pitchFamily="34" charset="-122"/>
                <a:cs typeface="Calibri" pitchFamily="34" charset="-120"/>
              </a:rPr>
              <a:t>APPROVED / REVISE</a:t>
            </a:r>
            <a:endParaRPr lang="en-US" sz="900" dirty="0"/>
          </a:p>
        </p:txBody>
      </p:sp>
      <p:sp>
        <p:nvSpPr>
          <p:cNvPr id="56" name="Shape 50"/>
          <p:cNvSpPr/>
          <p:nvPr/>
        </p:nvSpPr>
        <p:spPr>
          <a:xfrm>
            <a:off x="9991192" y="5468112"/>
            <a:ext cx="0" cy="201168"/>
          </a:xfrm>
          <a:prstGeom prst="line">
            <a:avLst/>
          </a:prstGeom>
          <a:noFill/>
          <a:ln w="17780">
            <a:solidFill>
              <a:srgbClr val="C97A20"/>
            </a:solidFill>
            <a:prstDash val="dash"/>
          </a:ln>
        </p:spPr>
      </p:sp>
      <p:sp>
        <p:nvSpPr>
          <p:cNvPr id="57" name="Shape 51"/>
          <p:cNvSpPr/>
          <p:nvPr/>
        </p:nvSpPr>
        <p:spPr>
          <a:xfrm>
            <a:off x="7394296" y="5669280"/>
            <a:ext cx="2596896" cy="0"/>
          </a:xfrm>
          <a:prstGeom prst="line">
            <a:avLst/>
          </a:prstGeom>
          <a:noFill/>
          <a:ln w="17780">
            <a:solidFill>
              <a:srgbClr val="C97A20"/>
            </a:solidFill>
            <a:prstDash val="dash"/>
          </a:ln>
        </p:spPr>
      </p:sp>
      <p:sp>
        <p:nvSpPr>
          <p:cNvPr id="58" name="Shape 52"/>
          <p:cNvSpPr/>
          <p:nvPr/>
        </p:nvSpPr>
        <p:spPr>
          <a:xfrm flipV="1">
            <a:off x="7394296" y="5468112"/>
            <a:ext cx="0" cy="201168"/>
          </a:xfrm>
          <a:prstGeom prst="line">
            <a:avLst/>
          </a:prstGeom>
          <a:noFill/>
          <a:ln w="17780">
            <a:solidFill>
              <a:srgbClr val="C97A20"/>
            </a:solidFill>
            <a:prstDash val="dash"/>
            <a:tailEnd type="triangle"/>
          </a:ln>
        </p:spPr>
      </p:sp>
      <p:sp>
        <p:nvSpPr>
          <p:cNvPr id="59" name="Text 53"/>
          <p:cNvSpPr/>
          <p:nvPr/>
        </p:nvSpPr>
        <p:spPr>
          <a:xfrm>
            <a:off x="6845656" y="5687568"/>
            <a:ext cx="1828800" cy="274320"/>
          </a:xfrm>
          <a:prstGeom prst="rect">
            <a:avLst/>
          </a:prstGeom>
          <a:noFill/>
          <a:ln/>
        </p:spPr>
        <p:txBody>
          <a:bodyPr wrap="square" lIns="0" tIns="0" rIns="0" bIns="0" rtlCol="0" anchor="ctr"/>
          <a:lstStyle/>
          <a:p>
            <a:pPr algn="ctr" indent="0" marL="0">
              <a:buNone/>
            </a:pPr>
            <a:r>
              <a:rPr lang="en-US" sz="950" i="1" dirty="0">
                <a:solidFill>
                  <a:srgbClr val="C97A20"/>
                </a:solidFill>
                <a:latin typeface="Calibri" pitchFamily="34" charset="0"/>
                <a:ea typeface="Calibri" pitchFamily="34" charset="-122"/>
                <a:cs typeface="Calibri" pitchFamily="34" charset="-120"/>
              </a:rPr>
              <a:t>REVISE loop</a:t>
            </a:r>
            <a:endParaRPr lang="en-US" sz="950" dirty="0"/>
          </a:p>
        </p:txBody>
      </p:sp>
      <p:sp>
        <p:nvSpPr>
          <p:cNvPr id="60" name="Text 54"/>
          <p:cNvSpPr/>
          <p:nvPr/>
        </p:nvSpPr>
        <p:spPr>
          <a:xfrm>
            <a:off x="856336" y="6016752"/>
            <a:ext cx="10479024" cy="274320"/>
          </a:xfrm>
          <a:prstGeom prst="rect">
            <a:avLst/>
          </a:prstGeom>
          <a:noFill/>
          <a:ln/>
        </p:spPr>
        <p:txBody>
          <a:bodyPr wrap="square" lIns="0" tIns="0" rIns="0" bIns="0" rtlCol="0" anchor="ctr"/>
          <a:lstStyle/>
          <a:p>
            <a:pPr algn="ctr" indent="0" marL="0">
              <a:buNone/>
            </a:pPr>
            <a:r>
              <a:rPr lang="en-US" sz="1000" b="1" spc="120" kern="0" dirty="0">
                <a:solidFill>
                  <a:srgbClr val="1B2A4A"/>
                </a:solidFill>
                <a:latin typeface="Calibri" pitchFamily="34" charset="0"/>
                <a:ea typeface="Calibri" pitchFamily="34" charset="-122"/>
                <a:cs typeface="Calibri" pitchFamily="34" charset="-120"/>
              </a:rPr>
              <a:t>ONE SHARED CHAIN — written once, debugged once, fixed once</a:t>
            </a:r>
            <a:endParaRPr lang="en-US" sz="1000" dirty="0"/>
          </a:p>
        </p:txBody>
      </p:sp>
      <p:sp>
        <p:nvSpPr>
          <p:cNvPr id="61" name="Text 55"/>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05</a:t>
            </a:r>
            <a:endParaRPr lang="en-US" sz="1000" dirty="0"/>
          </a:p>
        </p:txBody>
      </p:sp>
      <p:sp>
        <p:nvSpPr>
          <p:cNvPr id="62" name="Text 56"/>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713232"/>
            <a:ext cx="106070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How a request actually flows</a:t>
            </a:r>
            <a:endParaRPr lang="en-US" sz="3200" dirty="0"/>
          </a:p>
        </p:txBody>
      </p:sp>
      <p:sp>
        <p:nvSpPr>
          <p:cNvPr id="4" name="Shape 2"/>
          <p:cNvSpPr/>
          <p:nvPr/>
        </p:nvSpPr>
        <p:spPr>
          <a:xfrm>
            <a:off x="548640" y="2331720"/>
            <a:ext cx="1783080" cy="1997964"/>
          </a:xfrm>
          <a:prstGeom prst="roundRect">
            <a:avLst>
              <a:gd name="adj" fmla="val 4615"/>
            </a:avLst>
          </a:prstGeom>
          <a:solidFill>
            <a:srgbClr val="1B2A4A"/>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5" name="Shape 3"/>
          <p:cNvSpPr/>
          <p:nvPr/>
        </p:nvSpPr>
        <p:spPr>
          <a:xfrm>
            <a:off x="1175004" y="2532888"/>
            <a:ext cx="530352" cy="530352"/>
          </a:xfrm>
          <a:prstGeom prst="ellipse">
            <a:avLst/>
          </a:prstGeom>
          <a:solidFill>
            <a:srgbClr val="C97A20"/>
          </a:solidFill>
          <a:ln/>
        </p:spPr>
      </p:sp>
      <p:pic>
        <p:nvPicPr>
          <p:cNvPr id="6" name="Image 0" descr="/home/claude/deck_assets/icons/route.png">    </p:cNvPr>
          <p:cNvPicPr>
            <a:picLocks noChangeAspect="1"/>
          </p:cNvPicPr>
          <p:nvPr/>
        </p:nvPicPr>
        <p:blipFill>
          <a:blip r:embed="rId1"/>
          <a:stretch>
            <a:fillRect/>
          </a:stretch>
        </p:blipFill>
        <p:spPr>
          <a:xfrm>
            <a:off x="1312896" y="2670780"/>
            <a:ext cx="254569" cy="254569"/>
          </a:xfrm>
          <a:prstGeom prst="rect">
            <a:avLst/>
          </a:prstGeom>
        </p:spPr>
      </p:pic>
      <p:sp>
        <p:nvSpPr>
          <p:cNvPr id="7" name="Text 4"/>
          <p:cNvSpPr/>
          <p:nvPr/>
        </p:nvSpPr>
        <p:spPr>
          <a:xfrm>
            <a:off x="548640" y="3154680"/>
            <a:ext cx="1783080" cy="32004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Router</a:t>
            </a:r>
            <a:endParaRPr lang="en-US" sz="1450" dirty="0"/>
          </a:p>
        </p:txBody>
      </p:sp>
      <p:sp>
        <p:nvSpPr>
          <p:cNvPr id="8" name="Text 5"/>
          <p:cNvSpPr/>
          <p:nvPr/>
        </p:nvSpPr>
        <p:spPr>
          <a:xfrm>
            <a:off x="621792" y="3502152"/>
            <a:ext cx="1636776" cy="685800"/>
          </a:xfrm>
          <a:prstGeom prst="rect">
            <a:avLst/>
          </a:prstGeom>
          <a:noFill/>
          <a:ln/>
        </p:spPr>
        <p:txBody>
          <a:bodyPr wrap="square" lIns="0" tIns="0" rIns="0" bIns="0" rtlCol="0" anchor="ctr"/>
          <a:lstStyle/>
          <a:p>
            <a:pPr algn="ctr" indent="0" marL="0">
              <a:lnSpc>
                <a:spcPct val="115000"/>
              </a:lnSpc>
              <a:buNone/>
            </a:pPr>
            <a:r>
              <a:rPr lang="en-US" sz="1000" dirty="0">
                <a:solidFill>
                  <a:srgbClr val="9FB0CC"/>
                </a:solidFill>
                <a:latin typeface="Calibri" pitchFamily="34" charset="0"/>
                <a:ea typeface="Calibri" pitchFamily="34" charset="-122"/>
                <a:cs typeface="Calibri" pitchFamily="34" charset="-120"/>
              </a:rPr>
              <a:t>forced tool-call</a:t>
            </a:r>
            <a:endParaRPr lang="en-US" sz="1000" dirty="0"/>
          </a:p>
          <a:p>
            <a:pPr algn="ctr" indent="0" marL="0">
              <a:lnSpc>
                <a:spcPct val="115000"/>
              </a:lnSpc>
              <a:buNone/>
            </a:pPr>
            <a:r>
              <a:rPr lang="en-US" sz="1000" dirty="0">
                <a:solidFill>
                  <a:srgbClr val="9FB0CC"/>
                </a:solidFill>
                <a:latin typeface="Calibri" pitchFamily="34" charset="0"/>
                <a:ea typeface="Calibri" pitchFamily="34" charset="-122"/>
                <a:cs typeface="Calibri" pitchFamily="34" charset="-120"/>
              </a:rPr>
              <a:t>picks 1 of 3 modes</a:t>
            </a:r>
            <a:endParaRPr lang="en-US" sz="1000" dirty="0"/>
          </a:p>
        </p:txBody>
      </p:sp>
      <p:sp>
        <p:nvSpPr>
          <p:cNvPr id="9" name="Shape 6"/>
          <p:cNvSpPr/>
          <p:nvPr/>
        </p:nvSpPr>
        <p:spPr>
          <a:xfrm>
            <a:off x="2331720" y="3330702"/>
            <a:ext cx="384048" cy="0"/>
          </a:xfrm>
          <a:prstGeom prst="line">
            <a:avLst/>
          </a:prstGeom>
          <a:noFill/>
          <a:ln w="22225">
            <a:solidFill>
              <a:srgbClr val="6B7A93"/>
            </a:solidFill>
            <a:prstDash val="solid"/>
            <a:tailEnd type="triangle"/>
          </a:ln>
        </p:spPr>
      </p:sp>
      <p:sp>
        <p:nvSpPr>
          <p:cNvPr id="10" name="Shape 7"/>
          <p:cNvSpPr/>
          <p:nvPr/>
        </p:nvSpPr>
        <p:spPr>
          <a:xfrm>
            <a:off x="2715768" y="2331720"/>
            <a:ext cx="1783080" cy="1997964"/>
          </a:xfrm>
          <a:prstGeom prst="roundRect">
            <a:avLst>
              <a:gd name="adj" fmla="val 4615"/>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1" name="Shape 8"/>
          <p:cNvSpPr/>
          <p:nvPr/>
        </p:nvSpPr>
        <p:spPr>
          <a:xfrm>
            <a:off x="3342132" y="2532888"/>
            <a:ext cx="530352" cy="530352"/>
          </a:xfrm>
          <a:prstGeom prst="ellipse">
            <a:avLst/>
          </a:prstGeom>
          <a:solidFill>
            <a:srgbClr val="1B2A4A"/>
          </a:solidFill>
          <a:ln/>
        </p:spPr>
      </p:sp>
      <p:pic>
        <p:nvPicPr>
          <p:cNvPr id="12" name="Image 1" descr="/home/claude/deck_assets/icons/planner.png">    </p:cNvPr>
          <p:cNvPicPr>
            <a:picLocks noChangeAspect="1"/>
          </p:cNvPicPr>
          <p:nvPr/>
        </p:nvPicPr>
        <p:blipFill>
          <a:blip r:embed="rId2"/>
          <a:stretch>
            <a:fillRect/>
          </a:stretch>
        </p:blipFill>
        <p:spPr>
          <a:xfrm>
            <a:off x="3480024" y="2670780"/>
            <a:ext cx="254569" cy="254569"/>
          </a:xfrm>
          <a:prstGeom prst="rect">
            <a:avLst/>
          </a:prstGeom>
        </p:spPr>
      </p:pic>
      <p:sp>
        <p:nvSpPr>
          <p:cNvPr id="13" name="Text 9"/>
          <p:cNvSpPr/>
          <p:nvPr/>
        </p:nvSpPr>
        <p:spPr>
          <a:xfrm>
            <a:off x="2715768" y="3154680"/>
            <a:ext cx="1783080" cy="320040"/>
          </a:xfrm>
          <a:prstGeom prst="rect">
            <a:avLst/>
          </a:prstGeom>
          <a:noFill/>
          <a:ln/>
        </p:spPr>
        <p:txBody>
          <a:bodyPr wrap="square" lIns="0" tIns="0" rIns="0" bIns="0" rtlCol="0" anchor="ctr"/>
          <a:lstStyle/>
          <a:p>
            <a:pPr algn="ctr" indent="0" marL="0">
              <a:buNone/>
            </a:pPr>
            <a:r>
              <a:rPr lang="en-US" sz="1450" b="1" dirty="0">
                <a:solidFill>
                  <a:srgbClr val="16213A"/>
                </a:solidFill>
                <a:latin typeface="Cambria" pitchFamily="34" charset="0"/>
                <a:ea typeface="Cambria" pitchFamily="34" charset="-122"/>
                <a:cs typeface="Cambria" pitchFamily="34" charset="-120"/>
              </a:rPr>
              <a:t>Planner</a:t>
            </a:r>
            <a:endParaRPr lang="en-US" sz="1450" dirty="0"/>
          </a:p>
        </p:txBody>
      </p:sp>
      <p:sp>
        <p:nvSpPr>
          <p:cNvPr id="14" name="Text 10"/>
          <p:cNvSpPr/>
          <p:nvPr/>
        </p:nvSpPr>
        <p:spPr>
          <a:xfrm>
            <a:off x="2788920" y="3502152"/>
            <a:ext cx="1636776" cy="685800"/>
          </a:xfrm>
          <a:prstGeom prst="rect">
            <a:avLst/>
          </a:prstGeom>
          <a:noFill/>
          <a:ln/>
        </p:spPr>
        <p:txBody>
          <a:bodyPr wrap="square" lIns="0" tIns="0" rIns="0" bIns="0" rtlCol="0" anchor="ctr"/>
          <a:lstStyle/>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breaks task into</a:t>
            </a:r>
            <a:endParaRPr lang="en-US" sz="1000" dirty="0"/>
          </a:p>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a research plan</a:t>
            </a:r>
            <a:endParaRPr lang="en-US" sz="1000" dirty="0"/>
          </a:p>
        </p:txBody>
      </p:sp>
      <p:sp>
        <p:nvSpPr>
          <p:cNvPr id="15" name="Shape 11"/>
          <p:cNvSpPr/>
          <p:nvPr/>
        </p:nvSpPr>
        <p:spPr>
          <a:xfrm>
            <a:off x="4498848" y="3330702"/>
            <a:ext cx="384048" cy="0"/>
          </a:xfrm>
          <a:prstGeom prst="line">
            <a:avLst/>
          </a:prstGeom>
          <a:noFill/>
          <a:ln w="22225">
            <a:solidFill>
              <a:srgbClr val="6B7A93"/>
            </a:solidFill>
            <a:prstDash val="solid"/>
            <a:tailEnd type="triangle"/>
          </a:ln>
        </p:spPr>
      </p:sp>
      <p:sp>
        <p:nvSpPr>
          <p:cNvPr id="16" name="Shape 12"/>
          <p:cNvSpPr/>
          <p:nvPr/>
        </p:nvSpPr>
        <p:spPr>
          <a:xfrm>
            <a:off x="4882896" y="2331720"/>
            <a:ext cx="1783080" cy="1997964"/>
          </a:xfrm>
          <a:prstGeom prst="roundRect">
            <a:avLst>
              <a:gd name="adj" fmla="val 4615"/>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7" name="Shape 13"/>
          <p:cNvSpPr/>
          <p:nvPr/>
        </p:nvSpPr>
        <p:spPr>
          <a:xfrm>
            <a:off x="5509260" y="2532888"/>
            <a:ext cx="530352" cy="530352"/>
          </a:xfrm>
          <a:prstGeom prst="ellipse">
            <a:avLst/>
          </a:prstGeom>
          <a:solidFill>
            <a:srgbClr val="1B2A4A"/>
          </a:solidFill>
          <a:ln/>
        </p:spPr>
      </p:sp>
      <p:pic>
        <p:nvPicPr>
          <p:cNvPr id="18" name="Image 2" descr="/home/claude/deck_assets/icons/research.png">    </p:cNvPr>
          <p:cNvPicPr>
            <a:picLocks noChangeAspect="1"/>
          </p:cNvPicPr>
          <p:nvPr/>
        </p:nvPicPr>
        <p:blipFill>
          <a:blip r:embed="rId3"/>
          <a:stretch>
            <a:fillRect/>
          </a:stretch>
        </p:blipFill>
        <p:spPr>
          <a:xfrm>
            <a:off x="5647152" y="2670780"/>
            <a:ext cx="254569" cy="254569"/>
          </a:xfrm>
          <a:prstGeom prst="rect">
            <a:avLst/>
          </a:prstGeom>
        </p:spPr>
      </p:pic>
      <p:sp>
        <p:nvSpPr>
          <p:cNvPr id="19" name="Text 14"/>
          <p:cNvSpPr/>
          <p:nvPr/>
        </p:nvSpPr>
        <p:spPr>
          <a:xfrm>
            <a:off x="4882896" y="3154680"/>
            <a:ext cx="1783080" cy="320040"/>
          </a:xfrm>
          <a:prstGeom prst="rect">
            <a:avLst/>
          </a:prstGeom>
          <a:noFill/>
          <a:ln/>
        </p:spPr>
        <p:txBody>
          <a:bodyPr wrap="square" lIns="0" tIns="0" rIns="0" bIns="0" rtlCol="0" anchor="ctr"/>
          <a:lstStyle/>
          <a:p>
            <a:pPr algn="ctr" indent="0" marL="0">
              <a:buNone/>
            </a:pPr>
            <a:r>
              <a:rPr lang="en-US" sz="1450" b="1" dirty="0">
                <a:solidFill>
                  <a:srgbClr val="16213A"/>
                </a:solidFill>
                <a:latin typeface="Cambria" pitchFamily="34" charset="0"/>
                <a:ea typeface="Cambria" pitchFamily="34" charset="-122"/>
                <a:cs typeface="Cambria" pitchFamily="34" charset="-120"/>
              </a:rPr>
              <a:t>Researcher</a:t>
            </a:r>
            <a:endParaRPr lang="en-US" sz="1450" dirty="0"/>
          </a:p>
        </p:txBody>
      </p:sp>
      <p:sp>
        <p:nvSpPr>
          <p:cNvPr id="20" name="Text 15"/>
          <p:cNvSpPr/>
          <p:nvPr/>
        </p:nvSpPr>
        <p:spPr>
          <a:xfrm>
            <a:off x="4956048" y="3502152"/>
            <a:ext cx="1636776" cy="685800"/>
          </a:xfrm>
          <a:prstGeom prst="rect">
            <a:avLst/>
          </a:prstGeom>
          <a:noFill/>
          <a:ln/>
        </p:spPr>
        <p:txBody>
          <a:bodyPr wrap="square" lIns="0" tIns="0" rIns="0" bIns="0" rtlCol="0" anchor="ctr"/>
          <a:lstStyle/>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RAG tool-calls,</a:t>
            </a:r>
            <a:endParaRPr lang="en-US" sz="1000" dirty="0"/>
          </a:p>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or JD + resume</a:t>
            </a:r>
            <a:endParaRPr lang="en-US" sz="1000" dirty="0"/>
          </a:p>
        </p:txBody>
      </p:sp>
      <p:sp>
        <p:nvSpPr>
          <p:cNvPr id="21" name="Shape 16"/>
          <p:cNvSpPr/>
          <p:nvPr/>
        </p:nvSpPr>
        <p:spPr>
          <a:xfrm>
            <a:off x="6665976" y="3330702"/>
            <a:ext cx="384048" cy="0"/>
          </a:xfrm>
          <a:prstGeom prst="line">
            <a:avLst/>
          </a:prstGeom>
          <a:noFill/>
          <a:ln w="22225">
            <a:solidFill>
              <a:srgbClr val="6B7A93"/>
            </a:solidFill>
            <a:prstDash val="solid"/>
            <a:tailEnd type="triangle"/>
          </a:ln>
        </p:spPr>
      </p:sp>
      <p:sp>
        <p:nvSpPr>
          <p:cNvPr id="22" name="Shape 17"/>
          <p:cNvSpPr/>
          <p:nvPr/>
        </p:nvSpPr>
        <p:spPr>
          <a:xfrm>
            <a:off x="7050024" y="2331720"/>
            <a:ext cx="1783080" cy="1997964"/>
          </a:xfrm>
          <a:prstGeom prst="roundRect">
            <a:avLst>
              <a:gd name="adj" fmla="val 4615"/>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23" name="Shape 18"/>
          <p:cNvSpPr/>
          <p:nvPr/>
        </p:nvSpPr>
        <p:spPr>
          <a:xfrm>
            <a:off x="7676388" y="2532888"/>
            <a:ext cx="530352" cy="530352"/>
          </a:xfrm>
          <a:prstGeom prst="ellipse">
            <a:avLst/>
          </a:prstGeom>
          <a:solidFill>
            <a:srgbClr val="1B2A4A"/>
          </a:solidFill>
          <a:ln/>
        </p:spPr>
      </p:sp>
      <p:pic>
        <p:nvPicPr>
          <p:cNvPr id="24" name="Image 3" descr="/home/claude/deck_assets/icons/writer.png">    </p:cNvPr>
          <p:cNvPicPr>
            <a:picLocks noChangeAspect="1"/>
          </p:cNvPicPr>
          <p:nvPr/>
        </p:nvPicPr>
        <p:blipFill>
          <a:blip r:embed="rId4"/>
          <a:stretch>
            <a:fillRect/>
          </a:stretch>
        </p:blipFill>
        <p:spPr>
          <a:xfrm>
            <a:off x="7814280" y="2670780"/>
            <a:ext cx="254569" cy="254569"/>
          </a:xfrm>
          <a:prstGeom prst="rect">
            <a:avLst/>
          </a:prstGeom>
        </p:spPr>
      </p:pic>
      <p:sp>
        <p:nvSpPr>
          <p:cNvPr id="25" name="Text 19"/>
          <p:cNvSpPr/>
          <p:nvPr/>
        </p:nvSpPr>
        <p:spPr>
          <a:xfrm>
            <a:off x="7050024" y="3154680"/>
            <a:ext cx="1783080" cy="320040"/>
          </a:xfrm>
          <a:prstGeom prst="rect">
            <a:avLst/>
          </a:prstGeom>
          <a:noFill/>
          <a:ln/>
        </p:spPr>
        <p:txBody>
          <a:bodyPr wrap="square" lIns="0" tIns="0" rIns="0" bIns="0" rtlCol="0" anchor="ctr"/>
          <a:lstStyle/>
          <a:p>
            <a:pPr algn="ctr" indent="0" marL="0">
              <a:buNone/>
            </a:pPr>
            <a:r>
              <a:rPr lang="en-US" sz="1450" b="1" dirty="0">
                <a:solidFill>
                  <a:srgbClr val="16213A"/>
                </a:solidFill>
                <a:latin typeface="Cambria" pitchFamily="34" charset="0"/>
                <a:ea typeface="Cambria" pitchFamily="34" charset="-122"/>
                <a:cs typeface="Cambria" pitchFamily="34" charset="-120"/>
              </a:rPr>
              <a:t>Writer</a:t>
            </a:r>
            <a:endParaRPr lang="en-US" sz="1450" dirty="0"/>
          </a:p>
        </p:txBody>
      </p:sp>
      <p:sp>
        <p:nvSpPr>
          <p:cNvPr id="26" name="Text 20"/>
          <p:cNvSpPr/>
          <p:nvPr/>
        </p:nvSpPr>
        <p:spPr>
          <a:xfrm>
            <a:off x="7123176" y="3502152"/>
            <a:ext cx="1636776" cy="685800"/>
          </a:xfrm>
          <a:prstGeom prst="rect">
            <a:avLst/>
          </a:prstGeom>
          <a:noFill/>
          <a:ln/>
        </p:spPr>
        <p:txBody>
          <a:bodyPr wrap="square" lIns="0" tIns="0" rIns="0" bIns="0" rtlCol="0" anchor="ctr"/>
          <a:lstStyle/>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mode-specific</a:t>
            </a:r>
            <a:endParaRPr lang="en-US" sz="1000" dirty="0"/>
          </a:p>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system prompt</a:t>
            </a:r>
            <a:endParaRPr lang="en-US" sz="1000" dirty="0"/>
          </a:p>
        </p:txBody>
      </p:sp>
      <p:sp>
        <p:nvSpPr>
          <p:cNvPr id="27" name="Shape 21"/>
          <p:cNvSpPr/>
          <p:nvPr/>
        </p:nvSpPr>
        <p:spPr>
          <a:xfrm>
            <a:off x="8833104" y="3330702"/>
            <a:ext cx="384048" cy="0"/>
          </a:xfrm>
          <a:prstGeom prst="line">
            <a:avLst/>
          </a:prstGeom>
          <a:noFill/>
          <a:ln w="22225">
            <a:solidFill>
              <a:srgbClr val="6B7A93"/>
            </a:solidFill>
            <a:prstDash val="solid"/>
            <a:tailEnd type="triangle"/>
          </a:ln>
        </p:spPr>
      </p:sp>
      <p:sp>
        <p:nvSpPr>
          <p:cNvPr id="28" name="Shape 22"/>
          <p:cNvSpPr/>
          <p:nvPr/>
        </p:nvSpPr>
        <p:spPr>
          <a:xfrm>
            <a:off x="9217152" y="2331720"/>
            <a:ext cx="1783080" cy="1997964"/>
          </a:xfrm>
          <a:prstGeom prst="roundRect">
            <a:avLst>
              <a:gd name="adj" fmla="val 4615"/>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29" name="Shape 23"/>
          <p:cNvSpPr/>
          <p:nvPr/>
        </p:nvSpPr>
        <p:spPr>
          <a:xfrm>
            <a:off x="9843516" y="2532888"/>
            <a:ext cx="530352" cy="530352"/>
          </a:xfrm>
          <a:prstGeom prst="ellipse">
            <a:avLst/>
          </a:prstGeom>
          <a:solidFill>
            <a:srgbClr val="1B2A4A"/>
          </a:solidFill>
          <a:ln/>
        </p:spPr>
      </p:sp>
      <p:pic>
        <p:nvPicPr>
          <p:cNvPr id="30" name="Image 4" descr="/home/claude/deck_assets/icons/critic.png">    </p:cNvPr>
          <p:cNvPicPr>
            <a:picLocks noChangeAspect="1"/>
          </p:cNvPicPr>
          <p:nvPr/>
        </p:nvPicPr>
        <p:blipFill>
          <a:blip r:embed="rId5"/>
          <a:stretch>
            <a:fillRect/>
          </a:stretch>
        </p:blipFill>
        <p:spPr>
          <a:xfrm>
            <a:off x="9981408" y="2670780"/>
            <a:ext cx="254569" cy="254569"/>
          </a:xfrm>
          <a:prstGeom prst="rect">
            <a:avLst/>
          </a:prstGeom>
        </p:spPr>
      </p:pic>
      <p:sp>
        <p:nvSpPr>
          <p:cNvPr id="31" name="Text 24"/>
          <p:cNvSpPr/>
          <p:nvPr/>
        </p:nvSpPr>
        <p:spPr>
          <a:xfrm>
            <a:off x="9217152" y="3154680"/>
            <a:ext cx="1783080" cy="320040"/>
          </a:xfrm>
          <a:prstGeom prst="rect">
            <a:avLst/>
          </a:prstGeom>
          <a:noFill/>
          <a:ln/>
        </p:spPr>
        <p:txBody>
          <a:bodyPr wrap="square" lIns="0" tIns="0" rIns="0" bIns="0" rtlCol="0" anchor="ctr"/>
          <a:lstStyle/>
          <a:p>
            <a:pPr algn="ctr" indent="0" marL="0">
              <a:buNone/>
            </a:pPr>
            <a:r>
              <a:rPr lang="en-US" sz="1450" b="1" dirty="0">
                <a:solidFill>
                  <a:srgbClr val="16213A"/>
                </a:solidFill>
                <a:latin typeface="Cambria" pitchFamily="34" charset="0"/>
                <a:ea typeface="Cambria" pitchFamily="34" charset="-122"/>
                <a:cs typeface="Cambria" pitchFamily="34" charset="-120"/>
              </a:rPr>
              <a:t>Critic</a:t>
            </a:r>
            <a:endParaRPr lang="en-US" sz="1450" dirty="0"/>
          </a:p>
        </p:txBody>
      </p:sp>
      <p:sp>
        <p:nvSpPr>
          <p:cNvPr id="32" name="Text 25"/>
          <p:cNvSpPr/>
          <p:nvPr/>
        </p:nvSpPr>
        <p:spPr>
          <a:xfrm>
            <a:off x="9290304" y="3502152"/>
            <a:ext cx="1636776" cy="685800"/>
          </a:xfrm>
          <a:prstGeom prst="rect">
            <a:avLst/>
          </a:prstGeom>
          <a:noFill/>
          <a:ln/>
        </p:spPr>
        <p:txBody>
          <a:bodyPr wrap="square" lIns="0" tIns="0" rIns="0" bIns="0" rtlCol="0" anchor="ctr"/>
          <a:lstStyle/>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grounds every</a:t>
            </a:r>
            <a:endParaRPr lang="en-US" sz="1000" dirty="0"/>
          </a:p>
          <a:p>
            <a:pPr algn="ctr" indent="0" marL="0">
              <a:lnSpc>
                <a:spcPct val="115000"/>
              </a:lnSpc>
              <a:buNone/>
            </a:pPr>
            <a:r>
              <a:rPr lang="en-US" sz="1000" dirty="0">
                <a:solidFill>
                  <a:srgbClr val="6B7A93"/>
                </a:solidFill>
                <a:latin typeface="Calibri" pitchFamily="34" charset="0"/>
                <a:ea typeface="Calibri" pitchFamily="34" charset="-122"/>
                <a:cs typeface="Calibri" pitchFamily="34" charset="-120"/>
              </a:rPr>
              <a:t>claim, or REVISE</a:t>
            </a:r>
            <a:endParaRPr lang="en-US" sz="1000" dirty="0"/>
          </a:p>
        </p:txBody>
      </p:sp>
      <p:sp>
        <p:nvSpPr>
          <p:cNvPr id="33" name="Shape 26"/>
          <p:cNvSpPr/>
          <p:nvPr/>
        </p:nvSpPr>
        <p:spPr>
          <a:xfrm flipV="1">
            <a:off x="7370064" y="4494276"/>
            <a:ext cx="1847088" cy="457200"/>
          </a:xfrm>
          <a:prstGeom prst="bentConnector2">
            <a:avLst/>
          </a:prstGeom>
          <a:noFill/>
          <a:ln w="19050">
            <a:solidFill>
              <a:srgbClr val="C97A20"/>
            </a:solidFill>
            <a:prstDash val="dash"/>
            <a:tailEnd type="triangle"/>
          </a:ln>
        </p:spPr>
      </p:sp>
      <p:sp>
        <p:nvSpPr>
          <p:cNvPr id="34" name="Text 27"/>
          <p:cNvSpPr/>
          <p:nvPr/>
        </p:nvSpPr>
        <p:spPr>
          <a:xfrm>
            <a:off x="7050024" y="4896612"/>
            <a:ext cx="2715768" cy="411480"/>
          </a:xfrm>
          <a:prstGeom prst="rect">
            <a:avLst/>
          </a:prstGeom>
          <a:noFill/>
          <a:ln/>
        </p:spPr>
        <p:txBody>
          <a:bodyPr wrap="square" lIns="0" tIns="0" rIns="0" bIns="0" rtlCol="0" anchor="ctr"/>
          <a:lstStyle/>
          <a:p>
            <a:pPr indent="0" marL="0">
              <a:lnSpc>
                <a:spcPct val="115000"/>
              </a:lnSpc>
              <a:buNone/>
            </a:pPr>
            <a:r>
              <a:rPr lang="en-US" sz="950" i="1" dirty="0">
                <a:solidFill>
                  <a:srgbClr val="C97A20"/>
                </a:solidFill>
                <a:latin typeface="Calibri" pitchFamily="34" charset="0"/>
                <a:ea typeface="Calibri" pitchFamily="34" charset="-122"/>
                <a:cs typeface="Calibri" pitchFamily="34" charset="-120"/>
              </a:rPr>
              <a:t>REVISE — up to a per-mode cap, then best draft ships</a:t>
            </a:r>
            <a:endParaRPr lang="en-US" sz="950" dirty="0"/>
          </a:p>
        </p:txBody>
      </p:sp>
      <p:sp>
        <p:nvSpPr>
          <p:cNvPr id="35" name="Shape 28"/>
          <p:cNvSpPr/>
          <p:nvPr/>
        </p:nvSpPr>
        <p:spPr>
          <a:xfrm>
            <a:off x="548640" y="5257800"/>
            <a:ext cx="10607040" cy="914400"/>
          </a:xfrm>
          <a:prstGeom prst="roundRect">
            <a:avLst>
              <a:gd name="adj" fmla="val 9000"/>
            </a:avLst>
          </a:prstGeom>
          <a:solidFill>
            <a:srgbClr val="E7EEFB"/>
          </a:solidFill>
          <a:ln w="12700">
            <a:solidFill>
              <a:srgbClr val="D7E0EE"/>
            </a:solidFill>
            <a:prstDash val="solid"/>
          </a:ln>
        </p:spPr>
      </p:sp>
      <p:sp>
        <p:nvSpPr>
          <p:cNvPr id="36" name="Text 29"/>
          <p:cNvSpPr/>
          <p:nvPr/>
        </p:nvSpPr>
        <p:spPr>
          <a:xfrm>
            <a:off x="822960" y="5257800"/>
            <a:ext cx="10058400" cy="914400"/>
          </a:xfrm>
          <a:prstGeom prst="rect">
            <a:avLst/>
          </a:prstGeom>
          <a:noFill/>
          <a:ln/>
        </p:spPr>
        <p:txBody>
          <a:bodyPr wrap="square" lIns="0" tIns="0" rIns="0" bIns="0" rtlCol="0" anchor="ctr"/>
          <a:lstStyle/>
          <a:p>
            <a:pPr indent="0" marL="0">
              <a:lnSpc>
                <a:spcPct val="125000"/>
              </a:lnSpc>
              <a:buNone/>
            </a:pPr>
            <a:r>
              <a:rPr lang="en-US" sz="1300" b="1" dirty="0">
                <a:solidFill>
                  <a:srgbClr val="1B2A4A"/>
                </a:solidFill>
                <a:latin typeface="Calibri" pitchFamily="34" charset="0"/>
                <a:ea typeface="Calibri" pitchFamily="34" charset="-122"/>
                <a:cs typeface="Calibri" pitchFamily="34" charset="-120"/>
              </a:rPr>
              <a:t>Design intent: </a:t>
            </a:r>
            <a:pPr indent="0" marL="0">
              <a:lnSpc>
                <a:spcPct val="125000"/>
              </a:lnSpc>
              <a:buNone/>
            </a:pPr>
            <a:r>
              <a:rPr lang="en-US" sz="1300" dirty="0">
                <a:solidFill>
                  <a:srgbClr val="33415A"/>
                </a:solidFill>
                <a:latin typeface="Calibri" pitchFamily="34" charset="0"/>
                <a:ea typeface="Calibri" pitchFamily="34" charset="-122"/>
                <a:cs typeface="Calibri" pitchFamily="34" charset="-120"/>
              </a:rPr>
              <a:t>every agent is a plain function — state in, state out. That's exactly LangGraph's node signature, so a future migration is a wiring change, not a rewrite.</a:t>
            </a:r>
            <a:endParaRPr lang="en-US" sz="1300" dirty="0"/>
          </a:p>
        </p:txBody>
      </p:sp>
      <p:sp>
        <p:nvSpPr>
          <p:cNvPr id="37" name="Text 30"/>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06</a:t>
            </a:r>
            <a:endParaRPr lang="en-US" sz="1000" dirty="0"/>
          </a:p>
        </p:txBody>
      </p:sp>
      <p:sp>
        <p:nvSpPr>
          <p:cNvPr id="38" name="Text 31"/>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713232"/>
            <a:ext cx="106070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One chain, four honest jobs</a:t>
            </a:r>
            <a:endParaRPr lang="en-US" sz="3200" dirty="0"/>
          </a:p>
        </p:txBody>
      </p:sp>
      <p:sp>
        <p:nvSpPr>
          <p:cNvPr id="4" name="Shape 2"/>
          <p:cNvSpPr/>
          <p:nvPr/>
        </p:nvSpPr>
        <p:spPr>
          <a:xfrm>
            <a:off x="548640" y="1874520"/>
            <a:ext cx="530352" cy="530352"/>
          </a:xfrm>
          <a:prstGeom prst="ellipse">
            <a:avLst/>
          </a:prstGeom>
          <a:solidFill>
            <a:srgbClr val="1B2A4A"/>
          </a:solidFill>
          <a:ln/>
        </p:spPr>
      </p:sp>
      <p:pic>
        <p:nvPicPr>
          <p:cNvPr id="5" name="Image 0" descr="/home/claude/deck_assets/icons/planner.png">    </p:cNvPr>
          <p:cNvPicPr>
            <a:picLocks noChangeAspect="1"/>
          </p:cNvPicPr>
          <p:nvPr/>
        </p:nvPicPr>
        <p:blipFill>
          <a:blip r:embed="rId1"/>
          <a:stretch>
            <a:fillRect/>
          </a:stretch>
        </p:blipFill>
        <p:spPr>
          <a:xfrm>
            <a:off x="686532" y="2012412"/>
            <a:ext cx="254569" cy="254569"/>
          </a:xfrm>
          <a:prstGeom prst="rect">
            <a:avLst/>
          </a:prstGeom>
        </p:spPr>
      </p:pic>
      <p:sp>
        <p:nvSpPr>
          <p:cNvPr id="6" name="Text 3"/>
          <p:cNvSpPr/>
          <p:nvPr/>
        </p:nvSpPr>
        <p:spPr>
          <a:xfrm>
            <a:off x="1325880" y="1856232"/>
            <a:ext cx="2011680" cy="365760"/>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Planner</a:t>
            </a:r>
            <a:endParaRPr lang="en-US" sz="1600" dirty="0"/>
          </a:p>
        </p:txBody>
      </p:sp>
      <p:sp>
        <p:nvSpPr>
          <p:cNvPr id="7" name="Text 4"/>
          <p:cNvSpPr/>
          <p:nvPr/>
        </p:nvSpPr>
        <p:spPr>
          <a:xfrm>
            <a:off x="1325880" y="2203704"/>
            <a:ext cx="6766560" cy="594360"/>
          </a:xfrm>
          <a:prstGeom prst="rect">
            <a:avLst/>
          </a:prstGeom>
          <a:noFill/>
          <a:ln/>
        </p:spPr>
        <p:txBody>
          <a:bodyPr wrap="square" lIns="0" tIns="0" rIns="0" bIns="0" rtlCol="0" anchor="t"/>
          <a:lstStyle/>
          <a:p>
            <a:pPr indent="0" marL="0">
              <a:lnSpc>
                <a:spcPct val="125000"/>
              </a:lnSpc>
              <a:buNone/>
            </a:pPr>
            <a:r>
              <a:rPr lang="en-US" sz="1200" dirty="0">
                <a:solidFill>
                  <a:srgbClr val="6B7A93"/>
                </a:solidFill>
                <a:latin typeface="Calibri" pitchFamily="34" charset="0"/>
                <a:ea typeface="Calibri" pitchFamily="34" charset="-122"/>
                <a:cs typeface="Calibri" pitchFamily="34" charset="-120"/>
              </a:rPr>
              <a:t>Breaks the raw request into a short numbered research plan.</a:t>
            </a:r>
            <a:endParaRPr lang="en-US" sz="1200" dirty="0"/>
          </a:p>
        </p:txBody>
      </p:sp>
      <p:sp>
        <p:nvSpPr>
          <p:cNvPr id="8" name="Shape 5"/>
          <p:cNvSpPr/>
          <p:nvPr/>
        </p:nvSpPr>
        <p:spPr>
          <a:xfrm>
            <a:off x="9738360" y="1947672"/>
            <a:ext cx="1417320" cy="384048"/>
          </a:xfrm>
          <a:prstGeom prst="roundRect">
            <a:avLst>
              <a:gd name="adj" fmla="val 50000"/>
            </a:avLst>
          </a:prstGeom>
          <a:solidFill>
            <a:srgbClr val="E7EEFB"/>
          </a:solidFill>
          <a:ln/>
        </p:spPr>
      </p:sp>
      <p:sp>
        <p:nvSpPr>
          <p:cNvPr id="9" name="Text 6"/>
          <p:cNvSpPr/>
          <p:nvPr/>
        </p:nvSpPr>
        <p:spPr>
          <a:xfrm>
            <a:off x="9738360" y="1947672"/>
            <a:ext cx="1417320" cy="384048"/>
          </a:xfrm>
          <a:prstGeom prst="rect">
            <a:avLst/>
          </a:prstGeom>
          <a:noFill/>
          <a:ln/>
        </p:spPr>
        <p:txBody>
          <a:bodyPr wrap="square" lIns="0" tIns="0" rIns="0" bIns="0" rtlCol="0" anchor="ctr"/>
          <a:lstStyle/>
          <a:p>
            <a:pPr algn="ctr" indent="0" marL="0">
              <a:buNone/>
            </a:pPr>
            <a:r>
              <a:rPr lang="en-US" sz="850" b="1" dirty="0">
                <a:solidFill>
                  <a:srgbClr val="1B2A4A"/>
                </a:solidFill>
                <a:latin typeface="Calibri" pitchFamily="34" charset="0"/>
                <a:ea typeface="Calibri" pitchFamily="34" charset="-122"/>
                <a:cs typeface="Calibri" pitchFamily="34" charset="-120"/>
              </a:rPr>
              <a:t>Same for all 3 modes</a:t>
            </a:r>
            <a:endParaRPr lang="en-US" sz="850" dirty="0"/>
          </a:p>
        </p:txBody>
      </p:sp>
      <p:sp>
        <p:nvSpPr>
          <p:cNvPr id="10" name="Shape 7"/>
          <p:cNvSpPr/>
          <p:nvPr/>
        </p:nvSpPr>
        <p:spPr>
          <a:xfrm>
            <a:off x="548640" y="2770632"/>
            <a:ext cx="10744200" cy="0"/>
          </a:xfrm>
          <a:prstGeom prst="line">
            <a:avLst/>
          </a:prstGeom>
          <a:noFill/>
          <a:ln w="12700">
            <a:solidFill>
              <a:srgbClr val="D7E0EE"/>
            </a:solidFill>
            <a:prstDash val="solid"/>
          </a:ln>
        </p:spPr>
      </p:sp>
      <p:sp>
        <p:nvSpPr>
          <p:cNvPr id="11" name="Shape 8"/>
          <p:cNvSpPr/>
          <p:nvPr/>
        </p:nvSpPr>
        <p:spPr>
          <a:xfrm>
            <a:off x="548640" y="2898648"/>
            <a:ext cx="530352" cy="530352"/>
          </a:xfrm>
          <a:prstGeom prst="ellipse">
            <a:avLst/>
          </a:prstGeom>
          <a:solidFill>
            <a:srgbClr val="1B2A4A"/>
          </a:solidFill>
          <a:ln/>
        </p:spPr>
      </p:sp>
      <p:pic>
        <p:nvPicPr>
          <p:cNvPr id="12" name="Image 1" descr="/home/claude/deck_assets/icons/research.png">    </p:cNvPr>
          <p:cNvPicPr>
            <a:picLocks noChangeAspect="1"/>
          </p:cNvPicPr>
          <p:nvPr/>
        </p:nvPicPr>
        <p:blipFill>
          <a:blip r:embed="rId2"/>
          <a:stretch>
            <a:fillRect/>
          </a:stretch>
        </p:blipFill>
        <p:spPr>
          <a:xfrm>
            <a:off x="686532" y="3036540"/>
            <a:ext cx="254569" cy="254569"/>
          </a:xfrm>
          <a:prstGeom prst="rect">
            <a:avLst/>
          </a:prstGeom>
        </p:spPr>
      </p:pic>
      <p:sp>
        <p:nvSpPr>
          <p:cNvPr id="13" name="Text 9"/>
          <p:cNvSpPr/>
          <p:nvPr/>
        </p:nvSpPr>
        <p:spPr>
          <a:xfrm>
            <a:off x="1325880" y="2880360"/>
            <a:ext cx="2011680" cy="365760"/>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Researcher</a:t>
            </a:r>
            <a:endParaRPr lang="en-US" sz="1600" dirty="0"/>
          </a:p>
        </p:txBody>
      </p:sp>
      <p:sp>
        <p:nvSpPr>
          <p:cNvPr id="14" name="Text 10"/>
          <p:cNvSpPr/>
          <p:nvPr/>
        </p:nvSpPr>
        <p:spPr>
          <a:xfrm>
            <a:off x="1325880" y="3227832"/>
            <a:ext cx="6766560" cy="594360"/>
          </a:xfrm>
          <a:prstGeom prst="rect">
            <a:avLst/>
          </a:prstGeom>
          <a:noFill/>
          <a:ln/>
        </p:spPr>
        <p:txBody>
          <a:bodyPr wrap="square" lIns="0" tIns="0" rIns="0" bIns="0" rtlCol="0" anchor="t"/>
          <a:lstStyle/>
          <a:p>
            <a:pPr indent="0" marL="0">
              <a:lnSpc>
                <a:spcPct val="125000"/>
              </a:lnSpc>
              <a:buNone/>
            </a:pPr>
            <a:r>
              <a:rPr lang="en-US" sz="1200" dirty="0">
                <a:solidFill>
                  <a:srgbClr val="6B7A93"/>
                </a:solidFill>
                <a:latin typeface="Calibri" pitchFamily="34" charset="0"/>
                <a:ea typeface="Calibri" pitchFamily="34" charset="-122"/>
                <a:cs typeface="Calibri" pitchFamily="34" charset="-120"/>
              </a:rPr>
              <a:t>Apply mode reads the JD + resume directly; Interview/Learn call real search tools against a corpus.</a:t>
            </a:r>
            <a:endParaRPr lang="en-US" sz="1200" dirty="0"/>
          </a:p>
        </p:txBody>
      </p:sp>
      <p:sp>
        <p:nvSpPr>
          <p:cNvPr id="15" name="Shape 11"/>
          <p:cNvSpPr/>
          <p:nvPr/>
        </p:nvSpPr>
        <p:spPr>
          <a:xfrm>
            <a:off x="9738360" y="2971800"/>
            <a:ext cx="1417320" cy="384048"/>
          </a:xfrm>
          <a:prstGeom prst="roundRect">
            <a:avLst>
              <a:gd name="adj" fmla="val 50000"/>
            </a:avLst>
          </a:prstGeom>
          <a:solidFill>
            <a:srgbClr val="E7EEFB"/>
          </a:solidFill>
          <a:ln/>
        </p:spPr>
      </p:sp>
      <p:sp>
        <p:nvSpPr>
          <p:cNvPr id="16" name="Text 12"/>
          <p:cNvSpPr/>
          <p:nvPr/>
        </p:nvSpPr>
        <p:spPr>
          <a:xfrm>
            <a:off x="9738360" y="2971800"/>
            <a:ext cx="1417320" cy="384048"/>
          </a:xfrm>
          <a:prstGeom prst="rect">
            <a:avLst/>
          </a:prstGeom>
          <a:noFill/>
          <a:ln/>
        </p:spPr>
        <p:txBody>
          <a:bodyPr wrap="square" lIns="0" tIns="0" rIns="0" bIns="0" rtlCol="0" anchor="ctr"/>
          <a:lstStyle/>
          <a:p>
            <a:pPr algn="ctr" indent="0" marL="0">
              <a:buNone/>
            </a:pPr>
            <a:r>
              <a:rPr lang="en-US" sz="850" b="1" dirty="0">
                <a:solidFill>
                  <a:srgbClr val="1B2A4A"/>
                </a:solidFill>
                <a:latin typeface="Calibri" pitchFamily="34" charset="0"/>
                <a:ea typeface="Calibri" pitchFamily="34" charset="-122"/>
                <a:cs typeface="Calibri" pitchFamily="34" charset="-120"/>
              </a:rPr>
              <a:t>Only mode-branching agent</a:t>
            </a:r>
            <a:endParaRPr lang="en-US" sz="850" dirty="0"/>
          </a:p>
        </p:txBody>
      </p:sp>
      <p:sp>
        <p:nvSpPr>
          <p:cNvPr id="17" name="Shape 13"/>
          <p:cNvSpPr/>
          <p:nvPr/>
        </p:nvSpPr>
        <p:spPr>
          <a:xfrm>
            <a:off x="548640" y="3794760"/>
            <a:ext cx="10744200" cy="0"/>
          </a:xfrm>
          <a:prstGeom prst="line">
            <a:avLst/>
          </a:prstGeom>
          <a:noFill/>
          <a:ln w="12700">
            <a:solidFill>
              <a:srgbClr val="D7E0EE"/>
            </a:solidFill>
            <a:prstDash val="solid"/>
          </a:ln>
        </p:spPr>
      </p:sp>
      <p:sp>
        <p:nvSpPr>
          <p:cNvPr id="18" name="Shape 14"/>
          <p:cNvSpPr/>
          <p:nvPr/>
        </p:nvSpPr>
        <p:spPr>
          <a:xfrm>
            <a:off x="548640" y="3922776"/>
            <a:ext cx="530352" cy="530352"/>
          </a:xfrm>
          <a:prstGeom prst="ellipse">
            <a:avLst/>
          </a:prstGeom>
          <a:solidFill>
            <a:srgbClr val="1B2A4A"/>
          </a:solidFill>
          <a:ln/>
        </p:spPr>
      </p:sp>
      <p:pic>
        <p:nvPicPr>
          <p:cNvPr id="19" name="Image 2" descr="/home/claude/deck_assets/icons/writer.png">    </p:cNvPr>
          <p:cNvPicPr>
            <a:picLocks noChangeAspect="1"/>
          </p:cNvPicPr>
          <p:nvPr/>
        </p:nvPicPr>
        <p:blipFill>
          <a:blip r:embed="rId3"/>
          <a:stretch>
            <a:fillRect/>
          </a:stretch>
        </p:blipFill>
        <p:spPr>
          <a:xfrm>
            <a:off x="686532" y="4060668"/>
            <a:ext cx="254569" cy="254569"/>
          </a:xfrm>
          <a:prstGeom prst="rect">
            <a:avLst/>
          </a:prstGeom>
        </p:spPr>
      </p:pic>
      <p:sp>
        <p:nvSpPr>
          <p:cNvPr id="20" name="Text 15"/>
          <p:cNvSpPr/>
          <p:nvPr/>
        </p:nvSpPr>
        <p:spPr>
          <a:xfrm>
            <a:off x="1325880" y="3904488"/>
            <a:ext cx="2011680" cy="365760"/>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Writer</a:t>
            </a:r>
            <a:endParaRPr lang="en-US" sz="1600" dirty="0"/>
          </a:p>
        </p:txBody>
      </p:sp>
      <p:sp>
        <p:nvSpPr>
          <p:cNvPr id="21" name="Text 16"/>
          <p:cNvSpPr/>
          <p:nvPr/>
        </p:nvSpPr>
        <p:spPr>
          <a:xfrm>
            <a:off x="1325880" y="4251960"/>
            <a:ext cx="6766560" cy="594360"/>
          </a:xfrm>
          <a:prstGeom prst="rect">
            <a:avLst/>
          </a:prstGeom>
          <a:noFill/>
          <a:ln/>
        </p:spPr>
        <p:txBody>
          <a:bodyPr wrap="square" lIns="0" tIns="0" rIns="0" bIns="0" rtlCol="0" anchor="t"/>
          <a:lstStyle/>
          <a:p>
            <a:pPr indent="0" marL="0">
              <a:lnSpc>
                <a:spcPct val="125000"/>
              </a:lnSpc>
              <a:buNone/>
            </a:pPr>
            <a:r>
              <a:rPr lang="en-US" sz="1200" dirty="0">
                <a:solidFill>
                  <a:srgbClr val="6B7A93"/>
                </a:solidFill>
                <a:latin typeface="Calibri" pitchFamily="34" charset="0"/>
                <a:ea typeface="Calibri" pitchFamily="34" charset="-122"/>
                <a:cs typeface="Calibri" pitchFamily="34" charset="-120"/>
              </a:rPr>
              <a:t>Drafts the response from mode-specific instructions — grounded strictly in what the Researcher returned.</a:t>
            </a:r>
            <a:endParaRPr lang="en-US" sz="1200" dirty="0"/>
          </a:p>
        </p:txBody>
      </p:sp>
      <p:sp>
        <p:nvSpPr>
          <p:cNvPr id="22" name="Shape 17"/>
          <p:cNvSpPr/>
          <p:nvPr/>
        </p:nvSpPr>
        <p:spPr>
          <a:xfrm>
            <a:off x="9738360" y="3995928"/>
            <a:ext cx="1417320" cy="384048"/>
          </a:xfrm>
          <a:prstGeom prst="roundRect">
            <a:avLst>
              <a:gd name="adj" fmla="val 50000"/>
            </a:avLst>
          </a:prstGeom>
          <a:solidFill>
            <a:srgbClr val="E7EEFB"/>
          </a:solidFill>
          <a:ln/>
        </p:spPr>
      </p:sp>
      <p:sp>
        <p:nvSpPr>
          <p:cNvPr id="23" name="Text 18"/>
          <p:cNvSpPr/>
          <p:nvPr/>
        </p:nvSpPr>
        <p:spPr>
          <a:xfrm>
            <a:off x="9738360" y="3995928"/>
            <a:ext cx="1417320" cy="384048"/>
          </a:xfrm>
          <a:prstGeom prst="rect">
            <a:avLst/>
          </a:prstGeom>
          <a:noFill/>
          <a:ln/>
        </p:spPr>
        <p:txBody>
          <a:bodyPr wrap="square" lIns="0" tIns="0" rIns="0" bIns="0" rtlCol="0" anchor="ctr"/>
          <a:lstStyle/>
          <a:p>
            <a:pPr algn="ctr" indent="0" marL="0">
              <a:buNone/>
            </a:pPr>
            <a:r>
              <a:rPr lang="en-US" sz="850" b="1" dirty="0">
                <a:solidFill>
                  <a:srgbClr val="1B2A4A"/>
                </a:solidFill>
                <a:latin typeface="Calibri" pitchFamily="34" charset="0"/>
                <a:ea typeface="Calibri" pitchFamily="34" charset="-122"/>
                <a:cs typeface="Calibri" pitchFamily="34" charset="-120"/>
              </a:rPr>
              <a:t>Prompt swaps per mode</a:t>
            </a:r>
            <a:endParaRPr lang="en-US" sz="850" dirty="0"/>
          </a:p>
        </p:txBody>
      </p:sp>
      <p:sp>
        <p:nvSpPr>
          <p:cNvPr id="24" name="Shape 19"/>
          <p:cNvSpPr/>
          <p:nvPr/>
        </p:nvSpPr>
        <p:spPr>
          <a:xfrm>
            <a:off x="548640" y="4818888"/>
            <a:ext cx="10744200" cy="0"/>
          </a:xfrm>
          <a:prstGeom prst="line">
            <a:avLst/>
          </a:prstGeom>
          <a:noFill/>
          <a:ln w="12700">
            <a:solidFill>
              <a:srgbClr val="D7E0EE"/>
            </a:solidFill>
            <a:prstDash val="solid"/>
          </a:ln>
        </p:spPr>
      </p:sp>
      <p:sp>
        <p:nvSpPr>
          <p:cNvPr id="25" name="Shape 20"/>
          <p:cNvSpPr/>
          <p:nvPr/>
        </p:nvSpPr>
        <p:spPr>
          <a:xfrm>
            <a:off x="548640" y="4946904"/>
            <a:ext cx="530352" cy="530352"/>
          </a:xfrm>
          <a:prstGeom prst="ellipse">
            <a:avLst/>
          </a:prstGeom>
          <a:solidFill>
            <a:srgbClr val="1B2A4A"/>
          </a:solidFill>
          <a:ln/>
        </p:spPr>
      </p:sp>
      <p:pic>
        <p:nvPicPr>
          <p:cNvPr id="26" name="Image 3" descr="/home/claude/deck_assets/icons/critic.png">    </p:cNvPr>
          <p:cNvPicPr>
            <a:picLocks noChangeAspect="1"/>
          </p:cNvPicPr>
          <p:nvPr/>
        </p:nvPicPr>
        <p:blipFill>
          <a:blip r:embed="rId4"/>
          <a:stretch>
            <a:fillRect/>
          </a:stretch>
        </p:blipFill>
        <p:spPr>
          <a:xfrm>
            <a:off x="686532" y="5084796"/>
            <a:ext cx="254569" cy="254569"/>
          </a:xfrm>
          <a:prstGeom prst="rect">
            <a:avLst/>
          </a:prstGeom>
        </p:spPr>
      </p:pic>
      <p:sp>
        <p:nvSpPr>
          <p:cNvPr id="27" name="Text 21"/>
          <p:cNvSpPr/>
          <p:nvPr/>
        </p:nvSpPr>
        <p:spPr>
          <a:xfrm>
            <a:off x="1325880" y="4928616"/>
            <a:ext cx="2011680" cy="365760"/>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Critic</a:t>
            </a:r>
            <a:endParaRPr lang="en-US" sz="1600" dirty="0"/>
          </a:p>
        </p:txBody>
      </p:sp>
      <p:sp>
        <p:nvSpPr>
          <p:cNvPr id="28" name="Text 22"/>
          <p:cNvSpPr/>
          <p:nvPr/>
        </p:nvSpPr>
        <p:spPr>
          <a:xfrm>
            <a:off x="1325880" y="5276088"/>
            <a:ext cx="6766560" cy="594360"/>
          </a:xfrm>
          <a:prstGeom prst="rect">
            <a:avLst/>
          </a:prstGeom>
          <a:noFill/>
          <a:ln/>
        </p:spPr>
        <p:txBody>
          <a:bodyPr wrap="square" lIns="0" tIns="0" rIns="0" bIns="0" rtlCol="0" anchor="t"/>
          <a:lstStyle/>
          <a:p>
            <a:pPr indent="0" marL="0">
              <a:lnSpc>
                <a:spcPct val="125000"/>
              </a:lnSpc>
              <a:buNone/>
            </a:pPr>
            <a:r>
              <a:rPr lang="en-US" sz="1200" dirty="0">
                <a:solidFill>
                  <a:srgbClr val="6B7A93"/>
                </a:solidFill>
                <a:latin typeface="Calibri" pitchFamily="34" charset="0"/>
                <a:ea typeface="Calibri" pitchFamily="34" charset="-122"/>
                <a:cs typeface="Calibri" pitchFamily="34" charset="-120"/>
              </a:rPr>
              <a:t>Checks the draft against the research and returns APPROVED or REVISE with concrete feedback.</a:t>
            </a:r>
            <a:endParaRPr lang="en-US" sz="1200" dirty="0"/>
          </a:p>
        </p:txBody>
      </p:sp>
      <p:sp>
        <p:nvSpPr>
          <p:cNvPr id="29" name="Shape 23"/>
          <p:cNvSpPr/>
          <p:nvPr/>
        </p:nvSpPr>
        <p:spPr>
          <a:xfrm>
            <a:off x="9738360" y="5020056"/>
            <a:ext cx="1417320" cy="384048"/>
          </a:xfrm>
          <a:prstGeom prst="roundRect">
            <a:avLst>
              <a:gd name="adj" fmla="val 50000"/>
            </a:avLst>
          </a:prstGeom>
          <a:solidFill>
            <a:srgbClr val="E7EEFB"/>
          </a:solidFill>
          <a:ln/>
        </p:spPr>
      </p:sp>
      <p:sp>
        <p:nvSpPr>
          <p:cNvPr id="30" name="Text 24"/>
          <p:cNvSpPr/>
          <p:nvPr/>
        </p:nvSpPr>
        <p:spPr>
          <a:xfrm>
            <a:off x="9738360" y="5020056"/>
            <a:ext cx="1417320" cy="384048"/>
          </a:xfrm>
          <a:prstGeom prst="rect">
            <a:avLst/>
          </a:prstGeom>
          <a:noFill/>
          <a:ln/>
        </p:spPr>
        <p:txBody>
          <a:bodyPr wrap="square" lIns="0" tIns="0" rIns="0" bIns="0" rtlCol="0" anchor="ctr"/>
          <a:lstStyle/>
          <a:p>
            <a:pPr algn="ctr" indent="0" marL="0">
              <a:buNone/>
            </a:pPr>
            <a:r>
              <a:rPr lang="en-US" sz="850" b="1" dirty="0">
                <a:solidFill>
                  <a:srgbClr val="1B2A4A"/>
                </a:solidFill>
                <a:latin typeface="Calibri" pitchFamily="34" charset="0"/>
                <a:ea typeface="Calibri" pitchFamily="34" charset="-122"/>
                <a:cs typeface="Calibri" pitchFamily="34" charset="-120"/>
              </a:rPr>
              <a:t>Apply mode splits this in two</a:t>
            </a:r>
            <a:endParaRPr lang="en-US" sz="850" dirty="0"/>
          </a:p>
        </p:txBody>
      </p:sp>
      <p:sp>
        <p:nvSpPr>
          <p:cNvPr id="31" name="Text 25"/>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07</a:t>
            </a:r>
            <a:endParaRPr lang="en-US" sz="1000" dirty="0"/>
          </a:p>
        </p:txBody>
      </p:sp>
      <p:sp>
        <p:nvSpPr>
          <p:cNvPr id="32" name="Text 26"/>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THE THREE MODES</a:t>
            </a:r>
            <a:endParaRPr lang="en-US" sz="1100" dirty="0"/>
          </a:p>
        </p:txBody>
      </p:sp>
      <p:sp>
        <p:nvSpPr>
          <p:cNvPr id="3" name="Text 1"/>
          <p:cNvSpPr/>
          <p:nvPr/>
        </p:nvSpPr>
        <p:spPr>
          <a:xfrm>
            <a:off x="548640" y="713232"/>
            <a:ext cx="106070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Same chain, different job</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0744200" cy="4114800"/>
        </p:xfrm>
        <a:graphic>
          <a:graphicData uri="http://schemas.openxmlformats.org/drawingml/2006/table">
            <a:tbl>
              <a:tblPr/>
              <a:tblGrid>
                <a:gridCol w="1920240"/>
                <a:gridCol w="2944368"/>
                <a:gridCol w="2944368"/>
                <a:gridCol w="2935224"/>
              </a:tblGrid>
              <a:tr h="822960">
                <a:tc>
                  <a:txBody>
                    <a:bodyPr/>
                    <a:lstStyle/>
                    <a:p>
                      <a:pPr indent="0" marL="0">
                        <a:buNone/>
                      </a:pP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Apply</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Interview</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Learn</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1B2A4A"/>
                    </a:solidFill>
                  </a:tcPr>
                </a:tc>
              </a:tr>
              <a:tr h="822960">
                <a:tc>
                  <a:txBody>
                    <a:bodyPr/>
                    <a:lstStyle/>
                    <a:p>
                      <a:pPr indent="0" marL="0">
                        <a:buNone/>
                      </a:pPr>
                      <a:r>
                        <a:rPr lang="en-US" sz="1150" b="1" dirty="0">
                          <a:solidFill>
                            <a:srgbClr val="16213A"/>
                          </a:solidFill>
                          <a:latin typeface="Calibri" pitchFamily="34" charset="0"/>
                          <a:ea typeface="Calibri" pitchFamily="34" charset="-122"/>
                          <a:cs typeface="Calibri" pitchFamily="34" charset="-120"/>
                        </a:rPr>
                        <a:t>Corpus</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F4F7FC"/>
                    </a:solidFill>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None — JD + resume</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mjphayes ML Q&amp;A (Chroma)</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Own reference notebooks (Chroma)</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r>
              <a:tr h="822960">
                <a:tc>
                  <a:txBody>
                    <a:bodyPr/>
                    <a:lstStyle/>
                    <a:p>
                      <a:pPr indent="0" marL="0">
                        <a:buNone/>
                      </a:pPr>
                      <a:r>
                        <a:rPr lang="en-US" sz="1150" b="1" dirty="0">
                          <a:solidFill>
                            <a:srgbClr val="16213A"/>
                          </a:solidFill>
                          <a:latin typeface="Calibri" pitchFamily="34" charset="0"/>
                          <a:ea typeface="Calibri" pitchFamily="34" charset="-122"/>
                          <a:cs typeface="Calibri" pitchFamily="34" charset="-120"/>
                        </a:rPr>
                        <a:t>Output format</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F4F7FC"/>
                    </a:solidFill>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Fit Assessment + tailored bullets</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Delimited ===Q===/===A=== quiz</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Explanation + short quiz</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r>
              <a:tr h="822960">
                <a:tc>
                  <a:txBody>
                    <a:bodyPr/>
                    <a:lstStyle/>
                    <a:p>
                      <a:pPr indent="0" marL="0">
                        <a:buNone/>
                      </a:pPr>
                      <a:r>
                        <a:rPr lang="en-US" sz="1150" b="1" dirty="0">
                          <a:solidFill>
                            <a:srgbClr val="16213A"/>
                          </a:solidFill>
                          <a:latin typeface="Calibri" pitchFamily="34" charset="0"/>
                          <a:ea typeface="Calibri" pitchFamily="34" charset="-122"/>
                          <a:cs typeface="Calibri" pitchFamily="34" charset="-120"/>
                        </a:rPr>
                        <a:t>Critic focus</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F4F7FC"/>
                    </a:solidFill>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Fit accuracy + number fabrication</a:t>
                      </a:r>
                      <a:endParaRPr lang="en-US" sz="1150" dirty="0">
                        <a:latin typeface="Calibri" charset="0"/>
                        <a:ea typeface="Calibri" charset="0"/>
                        <a:cs typeface="Calibri" charset="0"/>
                      </a:endParaRPr>
                    </a:p>
                    <a:p>
                      <a:pPr indent="0" marL="0">
                        <a:buNone/>
                      </a:pPr>
                      <a:r>
                        <a:rPr lang="en-US" sz="1150" dirty="0">
                          <a:solidFill>
                            <a:srgbClr val="33415A"/>
                          </a:solidFill>
                          <a:latin typeface="Calibri" pitchFamily="34" charset="0"/>
                          <a:ea typeface="Calibri" pitchFamily="34" charset="-122"/>
                          <a:cs typeface="Calibri" pitchFamily="34" charset="-120"/>
                        </a:rPr>
                        <a:t>(2 parallel checks)</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Fabrication vs. standard reasoning</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Grounding of facts, formulas, code</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r>
              <a:tr h="822960">
                <a:tc>
                  <a:txBody>
                    <a:bodyPr/>
                    <a:lstStyle/>
                    <a:p>
                      <a:pPr indent="0" marL="0">
                        <a:buNone/>
                      </a:pPr>
                      <a:r>
                        <a:rPr lang="en-US" sz="1150" b="1" dirty="0">
                          <a:solidFill>
                            <a:srgbClr val="16213A"/>
                          </a:solidFill>
                          <a:latin typeface="Calibri" pitchFamily="34" charset="0"/>
                          <a:ea typeface="Calibri" pitchFamily="34" charset="-122"/>
                          <a:cs typeface="Calibri" pitchFamily="34" charset="-120"/>
                        </a:rPr>
                        <a:t>Revision cap</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solidFill>
                      <a:srgbClr val="F4F7FC"/>
                    </a:solidFill>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2 rounds</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2 rounds</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c>
                  <a:txBody>
                    <a:bodyPr/>
                    <a:lstStyle/>
                    <a:p>
                      <a:pPr indent="0" marL="0">
                        <a:buNone/>
                      </a:pPr>
                      <a:r>
                        <a:rPr lang="en-US" sz="1150" dirty="0">
                          <a:solidFill>
                            <a:srgbClr val="33415A"/>
                          </a:solidFill>
                          <a:latin typeface="Calibri" pitchFamily="34" charset="0"/>
                          <a:ea typeface="Calibri" pitchFamily="34" charset="-122"/>
                          <a:cs typeface="Calibri" pitchFamily="34" charset="-120"/>
                        </a:rPr>
                        <a:t>1 round — speed over depth</a:t>
                      </a:r>
                      <a:endParaRPr lang="en-US" sz="1150" dirty="0">
                        <a:latin typeface="Calibri" charset="0"/>
                        <a:ea typeface="Calibri" charset="0"/>
                        <a:cs typeface="Calibri" charset="0"/>
                      </a:endParaRPr>
                    </a:p>
                  </a:txBody>
                  <a:tcPr marL="101600" marR="101600" marT="50800" marB="50800" anchor="ctr">
                    <a:lnL w="9525" cap="flat" cmpd="sng" algn="ctr">
                      <a:solidFill>
                        <a:srgbClr val="D7E0EE"/>
                      </a:solidFill>
                      <a:prstDash val="solid"/>
                      <a:round/>
                      <a:headEnd type="none" w="med" len="med"/>
                      <a:tailEnd type="none" w="med" len="med"/>
                    </a:lnL>
                    <a:lnR w="9525" cap="flat" cmpd="sng" algn="ctr">
                      <a:solidFill>
                        <a:srgbClr val="D7E0EE"/>
                      </a:solidFill>
                      <a:prstDash val="solid"/>
                      <a:round/>
                      <a:headEnd type="none" w="med" len="med"/>
                      <a:tailEnd type="none" w="med" len="med"/>
                    </a:lnR>
                    <a:lnT w="9525" cap="flat" cmpd="sng" algn="ctr">
                      <a:solidFill>
                        <a:srgbClr val="D7E0EE"/>
                      </a:solidFill>
                      <a:prstDash val="solid"/>
                      <a:round/>
                      <a:headEnd type="none" w="med" len="med"/>
                      <a:tailEnd type="none" w="med" len="med"/>
                    </a:lnT>
                    <a:lnB w="9525" cap="flat" cmpd="sng" algn="ctr">
                      <a:solidFill>
                        <a:srgbClr val="D7E0EE"/>
                      </a:solidFill>
                      <a:prstDash val="solid"/>
                      <a:round/>
                      <a:headEnd type="none" w="med" len="med"/>
                      <a:tailEnd type="none" w="med" len="med"/>
                    </a:lnB>
                  </a:tcPr>
                </a:tc>
              </a:tr>
            </a:tbl>
          </a:graphicData>
        </a:graphic>
      </p:graphicFrame>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08</a:t>
            </a:r>
            <a:endParaRPr lang="en-US" sz="10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RETRIEVAL</a:t>
            </a:r>
            <a:endParaRPr lang="en-US" sz="1100" dirty="0"/>
          </a:p>
        </p:txBody>
      </p:sp>
      <p:sp>
        <p:nvSpPr>
          <p:cNvPr id="3" name="Text 1"/>
          <p:cNvSpPr/>
          <p:nvPr/>
        </p:nvSpPr>
        <p:spPr>
          <a:xfrm>
            <a:off x="548640" y="713232"/>
            <a:ext cx="914400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Two corpora, two search strategies</a:t>
            </a:r>
            <a:endParaRPr lang="en-US" sz="3200" dirty="0"/>
          </a:p>
        </p:txBody>
      </p:sp>
      <p:sp>
        <p:nvSpPr>
          <p:cNvPr id="4" name="Text 2"/>
          <p:cNvSpPr/>
          <p:nvPr/>
        </p:nvSpPr>
        <p:spPr>
          <a:xfrm>
            <a:off x="548640" y="1536192"/>
            <a:ext cx="10424160" cy="365760"/>
          </a:xfrm>
          <a:prstGeom prst="rect">
            <a:avLst/>
          </a:prstGeom>
          <a:noFill/>
          <a:ln/>
        </p:spPr>
        <p:txBody>
          <a:bodyPr wrap="square" lIns="0" tIns="0" rIns="0" bIns="0" rtlCol="0" anchor="ctr"/>
          <a:lstStyle/>
          <a:p>
            <a:pPr indent="0" marL="0">
              <a:buNone/>
            </a:pPr>
            <a:r>
              <a:rPr lang="en-US" sz="1400" dirty="0">
                <a:solidFill>
                  <a:srgbClr val="6B7A93"/>
                </a:solidFill>
                <a:latin typeface="Calibri" pitchFamily="34" charset="0"/>
                <a:ea typeface="Calibri" pitchFamily="34" charset="-122"/>
                <a:cs typeface="Calibri" pitchFamily="34" charset="-120"/>
              </a:rPr>
              <a:t>Only the modes that actually retrieve get a corpus — Apply reads the posting and resume directly.</a:t>
            </a:r>
            <a:endParaRPr lang="en-US" sz="1400" dirty="0"/>
          </a:p>
        </p:txBody>
      </p:sp>
      <p:sp>
        <p:nvSpPr>
          <p:cNvPr id="5" name="Shape 3"/>
          <p:cNvSpPr/>
          <p:nvPr/>
        </p:nvSpPr>
        <p:spPr>
          <a:xfrm>
            <a:off x="548640" y="2148840"/>
            <a:ext cx="5120640" cy="2148840"/>
          </a:xfrm>
          <a:prstGeom prst="roundRect">
            <a:avLst>
              <a:gd name="adj" fmla="val 3830"/>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6" name="Shape 4"/>
          <p:cNvSpPr/>
          <p:nvPr/>
        </p:nvSpPr>
        <p:spPr>
          <a:xfrm>
            <a:off x="841248" y="2423160"/>
            <a:ext cx="512064" cy="512064"/>
          </a:xfrm>
          <a:prstGeom prst="ellipse">
            <a:avLst/>
          </a:prstGeom>
          <a:solidFill>
            <a:srgbClr val="1B2A4A"/>
          </a:solidFill>
          <a:ln/>
        </p:spPr>
      </p:sp>
      <p:pic>
        <p:nvPicPr>
          <p:cNvPr id="7" name="Image 0" descr="/home/claude/deck_assets/icons/comments.png">    </p:cNvPr>
          <p:cNvPicPr>
            <a:picLocks noChangeAspect="1"/>
          </p:cNvPicPr>
          <p:nvPr/>
        </p:nvPicPr>
        <p:blipFill>
          <a:blip r:embed="rId1"/>
          <a:stretch>
            <a:fillRect/>
          </a:stretch>
        </p:blipFill>
        <p:spPr>
          <a:xfrm>
            <a:off x="974385" y="2556297"/>
            <a:ext cx="245791" cy="245791"/>
          </a:xfrm>
          <a:prstGeom prst="rect">
            <a:avLst/>
          </a:prstGeom>
        </p:spPr>
      </p:pic>
      <p:sp>
        <p:nvSpPr>
          <p:cNvPr id="8" name="Text 5"/>
          <p:cNvSpPr/>
          <p:nvPr/>
        </p:nvSpPr>
        <p:spPr>
          <a:xfrm>
            <a:off x="1508760" y="2404872"/>
            <a:ext cx="3931920" cy="347472"/>
          </a:xfrm>
          <a:prstGeom prst="rect">
            <a:avLst/>
          </a:prstGeom>
          <a:noFill/>
          <a:ln/>
        </p:spPr>
        <p:txBody>
          <a:bodyPr wrap="square" lIns="0" tIns="0" rIns="0" bIns="0" rtlCol="0" anchor="ctr"/>
          <a:lstStyle/>
          <a:p>
            <a:pPr indent="0" marL="0">
              <a:buNone/>
            </a:pPr>
            <a:r>
              <a:rPr lang="en-US" sz="1500" b="1" dirty="0">
                <a:solidFill>
                  <a:srgbClr val="16213A"/>
                </a:solidFill>
                <a:latin typeface="Consolas" pitchFamily="34" charset="0"/>
                <a:ea typeface="Consolas" pitchFamily="34" charset="-122"/>
                <a:cs typeface="Consolas" pitchFamily="34" charset="-120"/>
              </a:rPr>
              <a:t>interview_qa</a:t>
            </a:r>
            <a:endParaRPr lang="en-US" sz="1500" dirty="0"/>
          </a:p>
        </p:txBody>
      </p:sp>
      <p:sp>
        <p:nvSpPr>
          <p:cNvPr id="9" name="Text 6"/>
          <p:cNvSpPr/>
          <p:nvPr/>
        </p:nvSpPr>
        <p:spPr>
          <a:xfrm>
            <a:off x="1508760" y="2734056"/>
            <a:ext cx="3931920" cy="274320"/>
          </a:xfrm>
          <a:prstGeom prst="rect">
            <a:avLst/>
          </a:prstGeom>
          <a:noFill/>
          <a:ln/>
        </p:spPr>
        <p:txBody>
          <a:bodyPr wrap="square" lIns="0" tIns="0" rIns="0" bIns="0" rtlCol="0" anchor="ctr"/>
          <a:lstStyle/>
          <a:p>
            <a:pPr indent="0" marL="0">
              <a:buNone/>
            </a:pPr>
            <a:r>
              <a:rPr lang="en-US" sz="1100" b="1" spc="100" kern="0" dirty="0">
                <a:solidFill>
                  <a:srgbClr val="1B2A4A"/>
                </a:solidFill>
                <a:latin typeface="Calibri" pitchFamily="34" charset="0"/>
                <a:ea typeface="Calibri" pitchFamily="34" charset="-122"/>
                <a:cs typeface="Calibri" pitchFamily="34" charset="-120"/>
              </a:rPr>
              <a:t>Interview mode</a:t>
            </a:r>
            <a:endParaRPr lang="en-US" sz="1100" dirty="0"/>
          </a:p>
        </p:txBody>
      </p:sp>
      <p:sp>
        <p:nvSpPr>
          <p:cNvPr id="10" name="Text 7"/>
          <p:cNvSpPr/>
          <p:nvPr/>
        </p:nvSpPr>
        <p:spPr>
          <a:xfrm>
            <a:off x="841248" y="3200400"/>
            <a:ext cx="4535424" cy="914400"/>
          </a:xfrm>
          <a:prstGeom prst="rect">
            <a:avLst/>
          </a:prstGeom>
          <a:noFill/>
          <a:ln/>
        </p:spPr>
        <p:txBody>
          <a:bodyPr wrap="square" lIns="0" tIns="0" rIns="0" bIns="0" rtlCol="0" anchor="ctr"/>
          <a:lstStyle/>
          <a:p>
            <a:pPr indent="0" marL="0">
              <a:lnSpc>
                <a:spcPct val="130000"/>
              </a:lnSpc>
              <a:buNone/>
            </a:pPr>
            <a:r>
              <a:rPr lang="en-US" sz="1250" dirty="0">
                <a:solidFill>
                  <a:srgbClr val="6B7A93"/>
                </a:solidFill>
                <a:latin typeface="Calibri" pitchFamily="34" charset="0"/>
                <a:ea typeface="Calibri" pitchFamily="34" charset="-122"/>
                <a:cs typeface="Calibri" pitchFamily="34" charset="-120"/>
              </a:rPr>
              <a:t>mjphayes/machine_learning_questions — 508 embedded Q&amp;A pairs</a:t>
            </a:r>
            <a:endParaRPr lang="en-US" sz="1250" dirty="0"/>
          </a:p>
        </p:txBody>
      </p:sp>
      <p:sp>
        <p:nvSpPr>
          <p:cNvPr id="11" name="Shape 8"/>
          <p:cNvSpPr/>
          <p:nvPr/>
        </p:nvSpPr>
        <p:spPr>
          <a:xfrm>
            <a:off x="6035040" y="2148840"/>
            <a:ext cx="5120640" cy="2148840"/>
          </a:xfrm>
          <a:prstGeom prst="roundRect">
            <a:avLst>
              <a:gd name="adj" fmla="val 3830"/>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2" name="Shape 9"/>
          <p:cNvSpPr/>
          <p:nvPr/>
        </p:nvSpPr>
        <p:spPr>
          <a:xfrm>
            <a:off x="6327648" y="2423160"/>
            <a:ext cx="512064" cy="512064"/>
          </a:xfrm>
          <a:prstGeom prst="ellipse">
            <a:avLst/>
          </a:prstGeom>
          <a:solidFill>
            <a:srgbClr val="1B2A4A"/>
          </a:solidFill>
          <a:ln/>
        </p:spPr>
      </p:sp>
      <p:pic>
        <p:nvPicPr>
          <p:cNvPr id="13" name="Image 1" descr="/home/claude/deck_assets/icons/book.png">    </p:cNvPr>
          <p:cNvPicPr>
            <a:picLocks noChangeAspect="1"/>
          </p:cNvPicPr>
          <p:nvPr/>
        </p:nvPicPr>
        <p:blipFill>
          <a:blip r:embed="rId2"/>
          <a:stretch>
            <a:fillRect/>
          </a:stretch>
        </p:blipFill>
        <p:spPr>
          <a:xfrm>
            <a:off x="6460785" y="2556297"/>
            <a:ext cx="245791" cy="245791"/>
          </a:xfrm>
          <a:prstGeom prst="rect">
            <a:avLst/>
          </a:prstGeom>
        </p:spPr>
      </p:pic>
      <p:sp>
        <p:nvSpPr>
          <p:cNvPr id="14" name="Text 10"/>
          <p:cNvSpPr/>
          <p:nvPr/>
        </p:nvSpPr>
        <p:spPr>
          <a:xfrm>
            <a:off x="6995160" y="2404872"/>
            <a:ext cx="3931920" cy="347472"/>
          </a:xfrm>
          <a:prstGeom prst="rect">
            <a:avLst/>
          </a:prstGeom>
          <a:noFill/>
          <a:ln/>
        </p:spPr>
        <p:txBody>
          <a:bodyPr wrap="square" lIns="0" tIns="0" rIns="0" bIns="0" rtlCol="0" anchor="ctr"/>
          <a:lstStyle/>
          <a:p>
            <a:pPr indent="0" marL="0">
              <a:buNone/>
            </a:pPr>
            <a:r>
              <a:rPr lang="en-US" sz="1500" b="1" dirty="0">
                <a:solidFill>
                  <a:srgbClr val="16213A"/>
                </a:solidFill>
                <a:latin typeface="Consolas" pitchFamily="34" charset="0"/>
                <a:ea typeface="Consolas" pitchFamily="34" charset="-122"/>
                <a:cs typeface="Consolas" pitchFamily="34" charset="-120"/>
              </a:rPr>
              <a:t>class_notes</a:t>
            </a:r>
            <a:endParaRPr lang="en-US" sz="1500" dirty="0"/>
          </a:p>
        </p:txBody>
      </p:sp>
      <p:sp>
        <p:nvSpPr>
          <p:cNvPr id="15" name="Text 11"/>
          <p:cNvSpPr/>
          <p:nvPr/>
        </p:nvSpPr>
        <p:spPr>
          <a:xfrm>
            <a:off x="6995160" y="2734056"/>
            <a:ext cx="3931920" cy="274320"/>
          </a:xfrm>
          <a:prstGeom prst="rect">
            <a:avLst/>
          </a:prstGeom>
          <a:noFill/>
          <a:ln/>
        </p:spPr>
        <p:txBody>
          <a:bodyPr wrap="square" lIns="0" tIns="0" rIns="0" bIns="0" rtlCol="0" anchor="ctr"/>
          <a:lstStyle/>
          <a:p>
            <a:pPr indent="0" marL="0">
              <a:buNone/>
            </a:pPr>
            <a:r>
              <a:rPr lang="en-US" sz="1100" b="1" spc="100" kern="0" dirty="0">
                <a:solidFill>
                  <a:srgbClr val="1B2A4A"/>
                </a:solidFill>
                <a:latin typeface="Calibri" pitchFamily="34" charset="0"/>
                <a:ea typeface="Calibri" pitchFamily="34" charset="-122"/>
                <a:cs typeface="Calibri" pitchFamily="34" charset="-120"/>
              </a:rPr>
              <a:t>Learn mode</a:t>
            </a:r>
            <a:endParaRPr lang="en-US" sz="1100" dirty="0"/>
          </a:p>
        </p:txBody>
      </p:sp>
      <p:sp>
        <p:nvSpPr>
          <p:cNvPr id="16" name="Text 12"/>
          <p:cNvSpPr/>
          <p:nvPr/>
        </p:nvSpPr>
        <p:spPr>
          <a:xfrm>
            <a:off x="6327648" y="3200400"/>
            <a:ext cx="4535424" cy="914400"/>
          </a:xfrm>
          <a:prstGeom prst="rect">
            <a:avLst/>
          </a:prstGeom>
          <a:noFill/>
          <a:ln/>
        </p:spPr>
        <p:txBody>
          <a:bodyPr wrap="square" lIns="0" tIns="0" rIns="0" bIns="0" rtlCol="0" anchor="ctr"/>
          <a:lstStyle/>
          <a:p>
            <a:pPr indent="0" marL="0">
              <a:lnSpc>
                <a:spcPct val="130000"/>
              </a:lnSpc>
              <a:buNone/>
            </a:pPr>
            <a:r>
              <a:rPr lang="en-US" sz="1250" dirty="0">
                <a:solidFill>
                  <a:srgbClr val="6B7A93"/>
                </a:solidFill>
                <a:latin typeface="Calibri" pitchFamily="34" charset="0"/>
                <a:ea typeface="Calibri" pitchFamily="34" charset="-122"/>
                <a:cs typeface="Calibri" pitchFamily="34" charset="-120"/>
              </a:rPr>
              <a:t>Own .ipynb notebooks, chunked by markdown header — 131 embedded chunks</a:t>
            </a:r>
            <a:endParaRPr lang="en-US" sz="1250" dirty="0"/>
          </a:p>
        </p:txBody>
      </p:sp>
      <p:sp>
        <p:nvSpPr>
          <p:cNvPr id="17" name="Shape 13"/>
          <p:cNvSpPr/>
          <p:nvPr/>
        </p:nvSpPr>
        <p:spPr>
          <a:xfrm>
            <a:off x="548640" y="4572000"/>
            <a:ext cx="5120640" cy="1417320"/>
          </a:xfrm>
          <a:prstGeom prst="roundRect">
            <a:avLst>
              <a:gd name="adj" fmla="val 5806"/>
            </a:avLst>
          </a:prstGeom>
          <a:solidFill>
            <a:srgbClr val="1B2A4A"/>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8" name="Text 14"/>
          <p:cNvSpPr/>
          <p:nvPr/>
        </p:nvSpPr>
        <p:spPr>
          <a:xfrm>
            <a:off x="822960" y="4736592"/>
            <a:ext cx="4572000" cy="32004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semantic_search</a:t>
            </a:r>
            <a:endParaRPr lang="en-US" sz="1300" dirty="0"/>
          </a:p>
        </p:txBody>
      </p:sp>
      <p:sp>
        <p:nvSpPr>
          <p:cNvPr id="19" name="Text 15"/>
          <p:cNvSpPr/>
          <p:nvPr/>
        </p:nvSpPr>
        <p:spPr>
          <a:xfrm>
            <a:off x="822960" y="5074920"/>
            <a:ext cx="4572000" cy="822960"/>
          </a:xfrm>
          <a:prstGeom prst="rect">
            <a:avLst/>
          </a:prstGeom>
          <a:noFill/>
          <a:ln/>
        </p:spPr>
        <p:txBody>
          <a:bodyPr wrap="square" lIns="0" tIns="0" rIns="0" bIns="0" rtlCol="0" anchor="ctr"/>
          <a:lstStyle/>
          <a:p>
            <a:pPr indent="0" marL="0">
              <a:lnSpc>
                <a:spcPct val="128000"/>
              </a:lnSpc>
              <a:buNone/>
            </a:pPr>
            <a:r>
              <a:rPr lang="en-US" sz="1100" dirty="0">
                <a:solidFill>
                  <a:srgbClr val="D7E0EE"/>
                </a:solidFill>
                <a:latin typeface="Calibri" pitchFamily="34" charset="0"/>
                <a:ea typeface="Calibri" pitchFamily="34" charset="-122"/>
                <a:cs typeface="Calibri" pitchFamily="34" charset="-120"/>
              </a:rPr>
              <a:t>Chroma vector similarity — persisted to disk, loads instantly on repeat runs. For conceptual, natural-language questions.</a:t>
            </a:r>
            <a:endParaRPr lang="en-US" sz="1100" dirty="0"/>
          </a:p>
        </p:txBody>
      </p:sp>
      <p:sp>
        <p:nvSpPr>
          <p:cNvPr id="20" name="Shape 16"/>
          <p:cNvSpPr/>
          <p:nvPr/>
        </p:nvSpPr>
        <p:spPr>
          <a:xfrm>
            <a:off x="5989320" y="4572000"/>
            <a:ext cx="5120640" cy="1417320"/>
          </a:xfrm>
          <a:prstGeom prst="roundRect">
            <a:avLst>
              <a:gd name="adj" fmla="val 5806"/>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21" name="Text 17"/>
          <p:cNvSpPr/>
          <p:nvPr/>
        </p:nvSpPr>
        <p:spPr>
          <a:xfrm>
            <a:off x="6263640" y="4736592"/>
            <a:ext cx="4572000" cy="320040"/>
          </a:xfrm>
          <a:prstGeom prst="rect">
            <a:avLst/>
          </a:prstGeom>
          <a:noFill/>
          <a:ln/>
        </p:spPr>
        <p:txBody>
          <a:bodyPr wrap="square" lIns="0" tIns="0" rIns="0" bIns="0" rtlCol="0" anchor="ctr"/>
          <a:lstStyle/>
          <a:p>
            <a:pPr indent="0" marL="0">
              <a:buNone/>
            </a:pPr>
            <a:r>
              <a:rPr lang="en-US" sz="1300" b="1" dirty="0">
                <a:solidFill>
                  <a:srgbClr val="16213A"/>
                </a:solidFill>
                <a:latin typeface="Consolas" pitchFamily="34" charset="0"/>
                <a:ea typeface="Consolas" pitchFamily="34" charset="-122"/>
                <a:cs typeface="Consolas" pitchFamily="34" charset="-120"/>
              </a:rPr>
              <a:t>keyword_search</a:t>
            </a:r>
            <a:endParaRPr lang="en-US" sz="1300" dirty="0"/>
          </a:p>
        </p:txBody>
      </p:sp>
      <p:sp>
        <p:nvSpPr>
          <p:cNvPr id="22" name="Text 18"/>
          <p:cNvSpPr/>
          <p:nvPr/>
        </p:nvSpPr>
        <p:spPr>
          <a:xfrm>
            <a:off x="6263640" y="5074920"/>
            <a:ext cx="4572000" cy="822960"/>
          </a:xfrm>
          <a:prstGeom prst="rect">
            <a:avLst/>
          </a:prstGeom>
          <a:noFill/>
          <a:ln/>
        </p:spPr>
        <p:txBody>
          <a:bodyPr wrap="square" lIns="0" tIns="0" rIns="0" bIns="0" rtlCol="0" anchor="ctr"/>
          <a:lstStyle/>
          <a:p>
            <a:pPr indent="0" marL="0">
              <a:lnSpc>
                <a:spcPct val="128000"/>
              </a:lnSpc>
              <a:buNone/>
            </a:pPr>
            <a:r>
              <a:rPr lang="en-US" sz="1100" dirty="0">
                <a:solidFill>
                  <a:srgbClr val="6B7A93"/>
                </a:solidFill>
                <a:latin typeface="Calibri" pitchFamily="34" charset="0"/>
                <a:ea typeface="Calibri" pitchFamily="34" charset="-122"/>
                <a:cs typeface="Calibri" pitchFamily="34" charset="-120"/>
              </a:rPr>
              <a:t>Plain substring match — no embeddings, a genuinely different strategy. For exact terms and names the model chooses to look up.</a:t>
            </a:r>
            <a:endParaRPr lang="en-US" sz="1100" dirty="0"/>
          </a:p>
        </p:txBody>
      </p:sp>
      <p:sp>
        <p:nvSpPr>
          <p:cNvPr id="23" name="Text 19"/>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09</a:t>
            </a:r>
            <a:endParaRPr lang="en-US" sz="1000" dirty="0"/>
          </a:p>
        </p:txBody>
      </p:sp>
      <p:sp>
        <p:nvSpPr>
          <p:cNvPr id="24" name="Text 20"/>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548640" y="2331720"/>
            <a:ext cx="777240" cy="777240"/>
          </a:xfrm>
          <a:prstGeom prst="ellipse">
            <a:avLst/>
          </a:prstGeom>
          <a:solidFill>
            <a:srgbClr val="27395E"/>
          </a:solidFill>
          <a:ln/>
        </p:spPr>
      </p:sp>
      <p:pic>
        <p:nvPicPr>
          <p:cNvPr id="3" name="Image 0" descr="/home/claude/deck_assets/icons/bug.png">    </p:cNvPr>
          <p:cNvPicPr>
            <a:picLocks noChangeAspect="1"/>
          </p:cNvPicPr>
          <p:nvPr/>
        </p:nvPicPr>
        <p:blipFill>
          <a:blip r:embed="rId1"/>
          <a:stretch>
            <a:fillRect/>
          </a:stretch>
        </p:blipFill>
        <p:spPr>
          <a:xfrm>
            <a:off x="750722" y="2533802"/>
            <a:ext cx="373075" cy="373075"/>
          </a:xfrm>
          <a:prstGeom prst="rect">
            <a:avLst/>
          </a:prstGeom>
        </p:spPr>
      </p:pic>
      <p:sp>
        <p:nvSpPr>
          <p:cNvPr id="4" name="Text 1"/>
          <p:cNvSpPr/>
          <p:nvPr/>
        </p:nvSpPr>
        <p:spPr>
          <a:xfrm>
            <a:off x="548640" y="3246120"/>
            <a:ext cx="5486400" cy="320040"/>
          </a:xfrm>
          <a:prstGeom prst="rect">
            <a:avLst/>
          </a:prstGeom>
          <a:noFill/>
          <a:ln/>
        </p:spPr>
        <p:txBody>
          <a:bodyPr wrap="square" lIns="0" tIns="0" rIns="0" bIns="0" rtlCol="0" anchor="ctr"/>
          <a:lstStyle/>
          <a:p>
            <a:pPr indent="0" marL="0">
              <a:buNone/>
            </a:pPr>
            <a:r>
              <a:rPr lang="en-US" sz="1300" b="1" spc="250" kern="0" dirty="0">
                <a:solidFill>
                  <a:srgbClr val="C97A20"/>
                </a:solidFill>
                <a:latin typeface="Calibri" pitchFamily="34" charset="0"/>
                <a:ea typeface="Calibri" pitchFamily="34" charset="-122"/>
                <a:cs typeface="Calibri" pitchFamily="34" charset="-120"/>
              </a:rPr>
              <a:t>PART TWO</a:t>
            </a:r>
            <a:endParaRPr lang="en-US" sz="1300" dirty="0"/>
          </a:p>
        </p:txBody>
      </p:sp>
      <p:sp>
        <p:nvSpPr>
          <p:cNvPr id="5" name="Text 2"/>
          <p:cNvSpPr/>
          <p:nvPr/>
        </p:nvSpPr>
        <p:spPr>
          <a:xfrm>
            <a:off x="548640" y="3566160"/>
            <a:ext cx="960120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debugging journey</a:t>
            </a:r>
            <a:endParaRPr lang="en-US" sz="4200" dirty="0"/>
          </a:p>
        </p:txBody>
      </p:sp>
      <p:sp>
        <p:nvSpPr>
          <p:cNvPr id="6" name="Text 3"/>
          <p:cNvSpPr/>
          <p:nvPr/>
        </p:nvSpPr>
        <p:spPr>
          <a:xfrm>
            <a:off x="548640" y="4617720"/>
            <a:ext cx="8778240" cy="822960"/>
          </a:xfrm>
          <a:prstGeom prst="rect">
            <a:avLst/>
          </a:prstGeom>
          <a:noFill/>
          <a:ln/>
        </p:spPr>
        <p:txBody>
          <a:bodyPr wrap="square" lIns="0" tIns="0" rIns="0" bIns="0" rtlCol="0" anchor="ctr"/>
          <a:lstStyle/>
          <a:p>
            <a:pPr indent="0" marL="0">
              <a:lnSpc>
                <a:spcPct val="135000"/>
              </a:lnSpc>
              <a:buNone/>
            </a:pPr>
            <a:r>
              <a:rPr lang="en-US" sz="1500" i="1" dirty="0">
                <a:solidFill>
                  <a:srgbClr val="9FB0CC"/>
                </a:solidFill>
                <a:latin typeface="Calibri" pitchFamily="34" charset="0"/>
                <a:ea typeface="Calibri" pitchFamily="34" charset="-122"/>
                <a:cs typeface="Calibri" pitchFamily="34" charset="-120"/>
              </a:rPr>
              <a:t>The first live Apply-mode run produced a complete, well-organized draft.</a:t>
            </a:r>
            <a:endParaRPr lang="en-US" sz="1500" dirty="0"/>
          </a:p>
          <a:p>
            <a:pPr indent="0" marL="0">
              <a:lnSpc>
                <a:spcPct val="135000"/>
              </a:lnSpc>
              <a:buNone/>
            </a:pPr>
            <a:r>
              <a:rPr lang="en-US" sz="1500" i="1" dirty="0">
                <a:solidFill>
                  <a:srgbClr val="9FB0CC"/>
                </a:solidFill>
                <a:latin typeface="Calibri" pitchFamily="34" charset="0"/>
                <a:ea typeface="Calibri" pitchFamily="34" charset="-122"/>
                <a:cs typeface="Calibri" pitchFamily="34" charset="-120"/>
              </a:rPr>
              <a:t>The Critic approved it on round one. It looked correct — and it wasn't.</a:t>
            </a:r>
            <a:endParaRPr lang="en-US" sz="1500" dirty="0"/>
          </a:p>
        </p:txBody>
      </p:sp>
      <p:sp>
        <p:nvSpPr>
          <p:cNvPr id="7" name="Text 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9FB0CC"/>
                </a:solidFill>
                <a:latin typeface="Consolas" pitchFamily="34" charset="0"/>
                <a:ea typeface="Consolas" pitchFamily="34" charset="-122"/>
                <a:cs typeface="Consolas" pitchFamily="34" charset="-120"/>
              </a:rPr>
              <a:t>10</a:t>
            </a:r>
            <a:endParaRPr lang="en-US" sz="1000" dirty="0"/>
          </a:p>
        </p:txBody>
      </p:sp>
      <p:sp>
        <p:nvSpPr>
          <p:cNvPr id="8" name="Text 5"/>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9FB0CC"/>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BUG 1 OF 3</a:t>
            </a:r>
            <a:endParaRPr lang="en-US" sz="1100" dirty="0"/>
          </a:p>
        </p:txBody>
      </p:sp>
      <p:sp>
        <p:nvSpPr>
          <p:cNvPr id="3" name="Text 1"/>
          <p:cNvSpPr/>
          <p:nvPr/>
        </p:nvSpPr>
        <p:spPr>
          <a:xfrm>
            <a:off x="548640" y="713232"/>
            <a:ext cx="96926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Bug 1 — the Writer invented performance metrics</a:t>
            </a:r>
            <a:endParaRPr lang="en-US" sz="3200" dirty="0"/>
          </a:p>
        </p:txBody>
      </p:sp>
      <p:sp>
        <p:nvSpPr>
          <p:cNvPr id="4" name="Shape 2"/>
          <p:cNvSpPr/>
          <p:nvPr/>
        </p:nvSpPr>
        <p:spPr>
          <a:xfrm>
            <a:off x="548640" y="1691640"/>
            <a:ext cx="10607040" cy="1417320"/>
          </a:xfrm>
          <a:prstGeom prst="roundRect">
            <a:avLst>
              <a:gd name="adj" fmla="val 5806"/>
            </a:avLst>
          </a:prstGeom>
          <a:solidFill>
            <a:srgbClr val="1B2A4A"/>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5" name="Shape 3"/>
          <p:cNvSpPr/>
          <p:nvPr/>
        </p:nvSpPr>
        <p:spPr>
          <a:xfrm>
            <a:off x="841248" y="1947672"/>
            <a:ext cx="457200" cy="457200"/>
          </a:xfrm>
          <a:prstGeom prst="ellipse">
            <a:avLst/>
          </a:prstGeom>
          <a:solidFill>
            <a:srgbClr val="27395E"/>
          </a:solidFill>
          <a:ln/>
        </p:spPr>
      </p:sp>
      <p:pic>
        <p:nvPicPr>
          <p:cNvPr id="6" name="Image 0" descr="/home/claude/deck_assets/icons/quote.png">    </p:cNvPr>
          <p:cNvPicPr>
            <a:picLocks noChangeAspect="1"/>
          </p:cNvPicPr>
          <p:nvPr/>
        </p:nvPicPr>
        <p:blipFill>
          <a:blip r:embed="rId1"/>
          <a:stretch>
            <a:fillRect/>
          </a:stretch>
        </p:blipFill>
        <p:spPr>
          <a:xfrm>
            <a:off x="960120" y="2066544"/>
            <a:ext cx="219456" cy="219456"/>
          </a:xfrm>
          <a:prstGeom prst="rect">
            <a:avLst/>
          </a:prstGeom>
        </p:spPr>
      </p:pic>
      <p:sp>
        <p:nvSpPr>
          <p:cNvPr id="7" name="Text 4"/>
          <p:cNvSpPr/>
          <p:nvPr/>
        </p:nvSpPr>
        <p:spPr>
          <a:xfrm>
            <a:off x="1463040" y="1828800"/>
            <a:ext cx="9326880" cy="1143000"/>
          </a:xfrm>
          <a:prstGeom prst="rect">
            <a:avLst/>
          </a:prstGeom>
          <a:noFill/>
          <a:ln/>
        </p:spPr>
        <p:txBody>
          <a:bodyPr wrap="square" lIns="0" tIns="0" rIns="0" bIns="0" rtlCol="0" anchor="ctr"/>
          <a:lstStyle/>
          <a:p>
            <a:pPr indent="0" marL="0">
              <a:lnSpc>
                <a:spcPct val="135000"/>
              </a:lnSpc>
              <a:buNone/>
            </a:pPr>
            <a:r>
              <a:rPr lang="en-US" sz="1250" b="1" dirty="0">
                <a:solidFill>
                  <a:srgbClr val="E7EEFB"/>
                </a:solidFill>
                <a:latin typeface="Consolas" pitchFamily="34" charset="0"/>
                <a:ea typeface="Consolas" pitchFamily="34" charset="-122"/>
                <a:cs typeface="Consolas" pitchFamily="34" charset="-120"/>
              </a:rPr>
              <a:t>“A 70% VRAM reduction... a 3× throughput boost... 10k RPS”</a:t>
            </a:r>
            <a:pPr indent="0" marL="0">
              <a:lnSpc>
                <a:spcPct val="135000"/>
              </a:lnSpc>
              <a:buNone/>
            </a:pPr>
            <a:r>
              <a:rPr lang="en-US" sz="1150" i="1" dirty="0">
                <a:solidFill>
                  <a:srgbClr val="9FB0CC"/>
                </a:solidFill>
                <a:latin typeface="Consolas" pitchFamily="34" charset="0"/>
                <a:ea typeface="Consolas" pitchFamily="34" charset="-122"/>
                <a:cs typeface="Consolas" pitchFamily="34" charset="-120"/>
              </a:rPr>
              <a:t>— none of which appear anywhere in the source resume.</a:t>
            </a:r>
            <a:endParaRPr lang="en-US" sz="1250" dirty="0"/>
          </a:p>
        </p:txBody>
      </p:sp>
      <p:sp>
        <p:nvSpPr>
          <p:cNvPr id="8" name="Shape 5"/>
          <p:cNvSpPr/>
          <p:nvPr/>
        </p:nvSpPr>
        <p:spPr>
          <a:xfrm>
            <a:off x="548640" y="3383280"/>
            <a:ext cx="5120640" cy="2331720"/>
          </a:xfrm>
          <a:prstGeom prst="roundRect">
            <a:avLst>
              <a:gd name="adj" fmla="val 3529"/>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9" name="Text 6"/>
          <p:cNvSpPr/>
          <p:nvPr/>
        </p:nvSpPr>
        <p:spPr>
          <a:xfrm>
            <a:off x="841248" y="3611880"/>
            <a:ext cx="4572000" cy="274320"/>
          </a:xfrm>
          <a:prstGeom prst="rect">
            <a:avLst/>
          </a:prstGeom>
          <a:noFill/>
          <a:ln/>
        </p:spPr>
        <p:txBody>
          <a:bodyPr wrap="square" lIns="0" tIns="0" rIns="0" bIns="0" rtlCol="0" anchor="ctr"/>
          <a:lstStyle/>
          <a:p>
            <a:pPr indent="0" marL="0">
              <a:buNone/>
            </a:pPr>
            <a:r>
              <a:rPr lang="en-US" sz="1050" b="1" spc="150" kern="0" dirty="0">
                <a:solidFill>
                  <a:srgbClr val="B3261E"/>
                </a:solidFill>
                <a:latin typeface="Calibri" pitchFamily="34" charset="0"/>
                <a:ea typeface="Calibri" pitchFamily="34" charset="-122"/>
                <a:cs typeface="Calibri" pitchFamily="34" charset="-120"/>
              </a:rPr>
              <a:t>ROOT CAUSE</a:t>
            </a:r>
            <a:endParaRPr lang="en-US" sz="1050" dirty="0"/>
          </a:p>
        </p:txBody>
      </p:sp>
      <p:sp>
        <p:nvSpPr>
          <p:cNvPr id="10" name="Text 7"/>
          <p:cNvSpPr/>
          <p:nvPr/>
        </p:nvSpPr>
        <p:spPr>
          <a:xfrm>
            <a:off x="841248" y="3950208"/>
            <a:ext cx="4535424" cy="1645920"/>
          </a:xfrm>
          <a:prstGeom prst="rect">
            <a:avLst/>
          </a:prstGeom>
          <a:noFill/>
          <a:ln/>
        </p:spPr>
        <p:txBody>
          <a:bodyPr wrap="square" lIns="0" tIns="0" rIns="0" bIns="0" rtlCol="0" anchor="t"/>
          <a:lstStyle/>
          <a:p>
            <a:pPr indent="0" marL="0">
              <a:lnSpc>
                <a:spcPct val="135000"/>
              </a:lnSpc>
              <a:buNone/>
            </a:pPr>
            <a:r>
              <a:rPr lang="en-US" sz="1250" dirty="0">
                <a:solidFill>
                  <a:srgbClr val="33415A"/>
                </a:solidFill>
                <a:latin typeface="Calibri" pitchFamily="34" charset="0"/>
                <a:ea typeface="Calibri" pitchFamily="34" charset="-122"/>
                <a:cs typeface="Calibri" pitchFamily="34" charset="-120"/>
              </a:rPr>
              <a:t>The Critic's prompt only asked it to check “accuracy, clarity, completeness” in the abstract. It had no instruction to verify a single number against anything. The draft read as confident and well-organized — and was approved on round one.</a:t>
            </a:r>
            <a:endParaRPr lang="en-US" sz="1250" dirty="0"/>
          </a:p>
        </p:txBody>
      </p:sp>
      <p:sp>
        <p:nvSpPr>
          <p:cNvPr id="11" name="Shape 8"/>
          <p:cNvSpPr/>
          <p:nvPr/>
        </p:nvSpPr>
        <p:spPr>
          <a:xfrm>
            <a:off x="6035040" y="3383280"/>
            <a:ext cx="5120640" cy="2331720"/>
          </a:xfrm>
          <a:prstGeom prst="roundRect">
            <a:avLst>
              <a:gd name="adj" fmla="val 3529"/>
            </a:avLst>
          </a:prstGeom>
          <a:solidFill>
            <a:srgbClr val="EAF4EE"/>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2" name="Text 9"/>
          <p:cNvSpPr/>
          <p:nvPr/>
        </p:nvSpPr>
        <p:spPr>
          <a:xfrm>
            <a:off x="6327648" y="3611880"/>
            <a:ext cx="4572000" cy="274320"/>
          </a:xfrm>
          <a:prstGeom prst="rect">
            <a:avLst/>
          </a:prstGeom>
          <a:noFill/>
          <a:ln/>
        </p:spPr>
        <p:txBody>
          <a:bodyPr wrap="square" lIns="0" tIns="0" rIns="0" bIns="0" rtlCol="0" anchor="ctr"/>
          <a:lstStyle/>
          <a:p>
            <a:pPr indent="0" marL="0">
              <a:buNone/>
            </a:pPr>
            <a:r>
              <a:rPr lang="en-US" sz="1050" b="1" spc="150" kern="0" dirty="0">
                <a:solidFill>
                  <a:srgbClr val="1E7A4C"/>
                </a:solidFill>
                <a:latin typeface="Calibri" pitchFamily="34" charset="0"/>
                <a:ea typeface="Calibri" pitchFamily="34" charset="-122"/>
                <a:cs typeface="Calibri" pitchFamily="34" charset="-120"/>
              </a:rPr>
              <a:t>FIX</a:t>
            </a:r>
            <a:endParaRPr lang="en-US" sz="1050" dirty="0"/>
          </a:p>
        </p:txBody>
      </p:sp>
      <p:sp>
        <p:nvSpPr>
          <p:cNvPr id="13" name="Text 10"/>
          <p:cNvSpPr/>
          <p:nvPr/>
        </p:nvSpPr>
        <p:spPr>
          <a:xfrm>
            <a:off x="6327648" y="3950208"/>
            <a:ext cx="4535424" cy="1645920"/>
          </a:xfrm>
          <a:prstGeom prst="rect">
            <a:avLst/>
          </a:prstGeom>
          <a:noFill/>
          <a:ln/>
        </p:spPr>
        <p:txBody>
          <a:bodyPr wrap="square" lIns="0" tIns="0" rIns="0" bIns="0" rtlCol="0" anchor="t"/>
          <a:lstStyle/>
          <a:p>
            <a:pPr indent="0" marL="0">
              <a:lnSpc>
                <a:spcPct val="135000"/>
              </a:lnSpc>
              <a:buNone/>
            </a:pPr>
            <a:r>
              <a:rPr lang="en-US" sz="1250" dirty="0">
                <a:solidFill>
                  <a:srgbClr val="33415A"/>
                </a:solidFill>
                <a:latin typeface="Calibri" pitchFamily="34" charset="0"/>
                <a:ea typeface="Calibri" pitchFamily="34" charset="-122"/>
                <a:cs typeface="Calibri" pitchFamily="34" charset="-120"/>
              </a:rPr>
              <a:t>Added mode-specific Writer/Critic prompts. Apply mode's Writer is now told to use a [quantify: ...] placeholder rather than invent a plausible-sounding statistic when the resume has no number for a claim.</a:t>
            </a:r>
            <a:endParaRPr lang="en-US" sz="1250" dirty="0"/>
          </a:p>
        </p:txBody>
      </p:sp>
      <p:sp>
        <p:nvSpPr>
          <p:cNvPr id="14" name="Text 11"/>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11</a:t>
            </a:r>
            <a:endParaRPr lang="en-US" sz="1000" dirty="0"/>
          </a:p>
        </p:txBody>
      </p:sp>
      <p:sp>
        <p:nvSpPr>
          <p:cNvPr id="15" name="Text 12"/>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BUG 2 OF 3</a:t>
            </a:r>
            <a:endParaRPr lang="en-US" sz="1100" dirty="0"/>
          </a:p>
        </p:txBody>
      </p:sp>
      <p:sp>
        <p:nvSpPr>
          <p:cNvPr id="3" name="Text 1"/>
          <p:cNvSpPr/>
          <p:nvPr/>
        </p:nvSpPr>
        <p:spPr>
          <a:xfrm>
            <a:off x="548640" y="713232"/>
            <a:ext cx="96926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Bug 2 — the Critic never saw the research</a:t>
            </a:r>
            <a:endParaRPr lang="en-US" sz="3200" dirty="0"/>
          </a:p>
        </p:txBody>
      </p:sp>
      <p:sp>
        <p:nvSpPr>
          <p:cNvPr id="4" name="Shape 2"/>
          <p:cNvSpPr/>
          <p:nvPr/>
        </p:nvSpPr>
        <p:spPr>
          <a:xfrm>
            <a:off x="548640" y="1691640"/>
            <a:ext cx="10607040" cy="1417320"/>
          </a:xfrm>
          <a:prstGeom prst="roundRect">
            <a:avLst>
              <a:gd name="adj" fmla="val 5806"/>
            </a:avLst>
          </a:prstGeom>
          <a:solidFill>
            <a:srgbClr val="1B2A4A"/>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5" name="Shape 3"/>
          <p:cNvSpPr/>
          <p:nvPr/>
        </p:nvSpPr>
        <p:spPr>
          <a:xfrm>
            <a:off x="841248" y="1947672"/>
            <a:ext cx="457200" cy="457200"/>
          </a:xfrm>
          <a:prstGeom prst="ellipse">
            <a:avLst/>
          </a:prstGeom>
          <a:solidFill>
            <a:srgbClr val="27395E"/>
          </a:solidFill>
          <a:ln/>
        </p:spPr>
      </p:sp>
      <p:pic>
        <p:nvPicPr>
          <p:cNvPr id="6" name="Image 0" descr="/home/claude/deck_assets/icons/quote.png">    </p:cNvPr>
          <p:cNvPicPr>
            <a:picLocks noChangeAspect="1"/>
          </p:cNvPicPr>
          <p:nvPr/>
        </p:nvPicPr>
        <p:blipFill>
          <a:blip r:embed="rId1"/>
          <a:stretch>
            <a:fillRect/>
          </a:stretch>
        </p:blipFill>
        <p:spPr>
          <a:xfrm>
            <a:off x="960120" y="2066544"/>
            <a:ext cx="219456" cy="219456"/>
          </a:xfrm>
          <a:prstGeom prst="rect">
            <a:avLst/>
          </a:prstGeom>
        </p:spPr>
      </p:pic>
      <p:sp>
        <p:nvSpPr>
          <p:cNvPr id="7" name="Text 4"/>
          <p:cNvSpPr/>
          <p:nvPr/>
        </p:nvSpPr>
        <p:spPr>
          <a:xfrm>
            <a:off x="1463040" y="1828800"/>
            <a:ext cx="9326880" cy="1143000"/>
          </a:xfrm>
          <a:prstGeom prst="rect">
            <a:avLst/>
          </a:prstGeom>
          <a:noFill/>
          <a:ln/>
        </p:spPr>
        <p:txBody>
          <a:bodyPr wrap="square" lIns="0" tIns="0" rIns="0" bIns="0" rtlCol="0" anchor="ctr"/>
          <a:lstStyle/>
          <a:p>
            <a:pPr indent="0" marL="0">
              <a:lnSpc>
                <a:spcPct val="135000"/>
              </a:lnSpc>
              <a:buNone/>
            </a:pPr>
            <a:r>
              <a:rPr lang="en-US" sz="1250" dirty="0">
                <a:solidFill>
                  <a:srgbClr val="E7EEFB"/>
                </a:solidFill>
                <a:latin typeface="Consolas" pitchFamily="34" charset="0"/>
                <a:ea typeface="Consolas" pitchFamily="34" charset="-122"/>
                <a:cs typeface="Consolas" pitchFamily="34" charset="-120"/>
              </a:rPr>
              <a:t>user = f"Task: {state['task']}\n\nDraft:\n{state['draft']}"</a:t>
            </a:r>
            <a:endParaRPr lang="en-US" sz="1250" dirty="0"/>
          </a:p>
          <a:p>
            <a:pPr indent="0" marL="0">
              <a:lnSpc>
                <a:spcPct val="135000"/>
              </a:lnSpc>
              <a:buNone/>
            </a:pPr>
            <a:r>
              <a:rPr lang="en-US" sz="1250" b="1" dirty="0">
                <a:solidFill>
                  <a:srgbClr val="F0B27A"/>
                </a:solidFill>
                <a:latin typeface="Consolas" pitchFamily="34" charset="0"/>
                <a:ea typeface="Consolas" pitchFamily="34" charset="-122"/>
                <a:cs typeface="Consolas" pitchFamily="34" charset="-120"/>
              </a:rPr>
              <a:t>state['research'] was never included in the prompt.</a:t>
            </a:r>
            <a:endParaRPr lang="en-US" sz="1250" dirty="0"/>
          </a:p>
        </p:txBody>
      </p:sp>
      <p:sp>
        <p:nvSpPr>
          <p:cNvPr id="8" name="Shape 5"/>
          <p:cNvSpPr/>
          <p:nvPr/>
        </p:nvSpPr>
        <p:spPr>
          <a:xfrm>
            <a:off x="548640" y="3383280"/>
            <a:ext cx="5120640" cy="2331720"/>
          </a:xfrm>
          <a:prstGeom prst="roundRect">
            <a:avLst>
              <a:gd name="adj" fmla="val 3529"/>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9" name="Text 6"/>
          <p:cNvSpPr/>
          <p:nvPr/>
        </p:nvSpPr>
        <p:spPr>
          <a:xfrm>
            <a:off x="841248" y="3611880"/>
            <a:ext cx="4572000" cy="274320"/>
          </a:xfrm>
          <a:prstGeom prst="rect">
            <a:avLst/>
          </a:prstGeom>
          <a:noFill/>
          <a:ln/>
        </p:spPr>
        <p:txBody>
          <a:bodyPr wrap="square" lIns="0" tIns="0" rIns="0" bIns="0" rtlCol="0" anchor="ctr"/>
          <a:lstStyle/>
          <a:p>
            <a:pPr indent="0" marL="0">
              <a:buNone/>
            </a:pPr>
            <a:r>
              <a:rPr lang="en-US" sz="1050" b="1" spc="150" kern="0" dirty="0">
                <a:solidFill>
                  <a:srgbClr val="B3261E"/>
                </a:solidFill>
                <a:latin typeface="Calibri" pitchFamily="34" charset="0"/>
                <a:ea typeface="Calibri" pitchFamily="34" charset="-122"/>
                <a:cs typeface="Calibri" pitchFamily="34" charset="-120"/>
              </a:rPr>
              <a:t>ROOT CAUSE</a:t>
            </a:r>
            <a:endParaRPr lang="en-US" sz="1050" dirty="0"/>
          </a:p>
        </p:txBody>
      </p:sp>
      <p:sp>
        <p:nvSpPr>
          <p:cNvPr id="10" name="Text 7"/>
          <p:cNvSpPr/>
          <p:nvPr/>
        </p:nvSpPr>
        <p:spPr>
          <a:xfrm>
            <a:off x="841248" y="3950208"/>
            <a:ext cx="4535424" cy="1645920"/>
          </a:xfrm>
          <a:prstGeom prst="rect">
            <a:avLst/>
          </a:prstGeom>
          <a:noFill/>
          <a:ln/>
        </p:spPr>
        <p:txBody>
          <a:bodyPr wrap="square" lIns="0" tIns="0" rIns="0" bIns="0" rtlCol="0" anchor="t"/>
          <a:lstStyle/>
          <a:p>
            <a:pPr indent="0" marL="0">
              <a:lnSpc>
                <a:spcPct val="135000"/>
              </a:lnSpc>
              <a:buNone/>
            </a:pPr>
            <a:r>
              <a:rPr lang="en-US" sz="1250" dirty="0">
                <a:solidFill>
                  <a:srgbClr val="33415A"/>
                </a:solidFill>
                <a:latin typeface="Calibri" pitchFamily="34" charset="0"/>
                <a:ea typeface="Calibri" pitchFamily="34" charset="-122"/>
                <a:cs typeface="Calibri" pitchFamily="34" charset="-120"/>
              </a:rPr>
              <a:t>The Critic's own output on the next run stated it outright: “No external research text was provided.” It wasn't hallucinating — it was telling the truth about a real gap that had been there since the original Day-1 scaffold, invisible until Apply mode asked it to check something specific.</a:t>
            </a:r>
            <a:endParaRPr lang="en-US" sz="1250" dirty="0"/>
          </a:p>
        </p:txBody>
      </p:sp>
      <p:sp>
        <p:nvSpPr>
          <p:cNvPr id="11" name="Shape 8"/>
          <p:cNvSpPr/>
          <p:nvPr/>
        </p:nvSpPr>
        <p:spPr>
          <a:xfrm>
            <a:off x="6035040" y="3383280"/>
            <a:ext cx="5120640" cy="2331720"/>
          </a:xfrm>
          <a:prstGeom prst="roundRect">
            <a:avLst>
              <a:gd name="adj" fmla="val 3529"/>
            </a:avLst>
          </a:prstGeom>
          <a:solidFill>
            <a:srgbClr val="EAF4EE"/>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2" name="Text 9"/>
          <p:cNvSpPr/>
          <p:nvPr/>
        </p:nvSpPr>
        <p:spPr>
          <a:xfrm>
            <a:off x="6327648" y="3611880"/>
            <a:ext cx="4572000" cy="274320"/>
          </a:xfrm>
          <a:prstGeom prst="rect">
            <a:avLst/>
          </a:prstGeom>
          <a:noFill/>
          <a:ln/>
        </p:spPr>
        <p:txBody>
          <a:bodyPr wrap="square" lIns="0" tIns="0" rIns="0" bIns="0" rtlCol="0" anchor="ctr"/>
          <a:lstStyle/>
          <a:p>
            <a:pPr indent="0" marL="0">
              <a:buNone/>
            </a:pPr>
            <a:r>
              <a:rPr lang="en-US" sz="1050" b="1" spc="150" kern="0" dirty="0">
                <a:solidFill>
                  <a:srgbClr val="1E7A4C"/>
                </a:solidFill>
                <a:latin typeface="Calibri" pitchFamily="34" charset="0"/>
                <a:ea typeface="Calibri" pitchFamily="34" charset="-122"/>
                <a:cs typeface="Calibri" pitchFamily="34" charset="-120"/>
              </a:rPr>
              <a:t>FIX</a:t>
            </a:r>
            <a:endParaRPr lang="en-US" sz="1050" dirty="0"/>
          </a:p>
        </p:txBody>
      </p:sp>
      <p:sp>
        <p:nvSpPr>
          <p:cNvPr id="13" name="Text 10"/>
          <p:cNvSpPr/>
          <p:nvPr/>
        </p:nvSpPr>
        <p:spPr>
          <a:xfrm>
            <a:off x="6327648" y="3950208"/>
            <a:ext cx="4535424" cy="1645920"/>
          </a:xfrm>
          <a:prstGeom prst="rect">
            <a:avLst/>
          </a:prstGeom>
          <a:noFill/>
          <a:ln/>
        </p:spPr>
        <p:txBody>
          <a:bodyPr wrap="square" lIns="0" tIns="0" rIns="0" bIns="0" rtlCol="0" anchor="t"/>
          <a:lstStyle/>
          <a:p>
            <a:pPr indent="0" marL="0">
              <a:lnSpc>
                <a:spcPct val="135000"/>
              </a:lnSpc>
              <a:buNone/>
            </a:pPr>
            <a:r>
              <a:rPr lang="en-US" sz="1250" dirty="0">
                <a:solidFill>
                  <a:srgbClr val="33415A"/>
                </a:solidFill>
                <a:latin typeface="Calibri" pitchFamily="34" charset="0"/>
                <a:ea typeface="Calibri" pitchFamily="34" charset="-122"/>
                <a:cs typeface="Calibri" pitchFamily="34" charset="-120"/>
              </a:rPr>
              <a:t>Added research to the Critic's context, then restructured its prompt into an explicit 3-step process: list claimed numbers → quote the matching source sentence → end on a parseable verdict line, which the code parses rather than eyeballs.</a:t>
            </a:r>
            <a:endParaRPr lang="en-US" sz="1250" dirty="0"/>
          </a:p>
        </p:txBody>
      </p:sp>
      <p:sp>
        <p:nvSpPr>
          <p:cNvPr id="14" name="Text 11"/>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12</a:t>
            </a:r>
            <a:endParaRPr lang="en-US" sz="1000" dirty="0"/>
          </a:p>
        </p:txBody>
      </p:sp>
      <p:sp>
        <p:nvSpPr>
          <p:cNvPr id="15" name="Text 12"/>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BUG 3 OF 3</a:t>
            </a:r>
            <a:endParaRPr lang="en-US" sz="1100" dirty="0"/>
          </a:p>
        </p:txBody>
      </p:sp>
      <p:sp>
        <p:nvSpPr>
          <p:cNvPr id="3" name="Text 1"/>
          <p:cNvSpPr/>
          <p:nvPr/>
        </p:nvSpPr>
        <p:spPr>
          <a:xfrm>
            <a:off x="548640" y="713232"/>
            <a:ext cx="96926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Bug 3 — the posting's minimum became the candidate's tenure</a:t>
            </a:r>
            <a:endParaRPr lang="en-US" sz="3200" dirty="0"/>
          </a:p>
        </p:txBody>
      </p:sp>
      <p:sp>
        <p:nvSpPr>
          <p:cNvPr id="4" name="Shape 2"/>
          <p:cNvSpPr/>
          <p:nvPr/>
        </p:nvSpPr>
        <p:spPr>
          <a:xfrm>
            <a:off x="548640" y="1691640"/>
            <a:ext cx="10607040" cy="1417320"/>
          </a:xfrm>
          <a:prstGeom prst="roundRect">
            <a:avLst>
              <a:gd name="adj" fmla="val 5806"/>
            </a:avLst>
          </a:prstGeom>
          <a:solidFill>
            <a:srgbClr val="1B2A4A"/>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5" name="Shape 3"/>
          <p:cNvSpPr/>
          <p:nvPr/>
        </p:nvSpPr>
        <p:spPr>
          <a:xfrm>
            <a:off x="841248" y="1947672"/>
            <a:ext cx="457200" cy="457200"/>
          </a:xfrm>
          <a:prstGeom prst="ellipse">
            <a:avLst/>
          </a:prstGeom>
          <a:solidFill>
            <a:srgbClr val="27395E"/>
          </a:solidFill>
          <a:ln/>
        </p:spPr>
      </p:sp>
      <p:pic>
        <p:nvPicPr>
          <p:cNvPr id="6" name="Image 0" descr="/home/claude/deck_assets/icons/quote.png">    </p:cNvPr>
          <p:cNvPicPr>
            <a:picLocks noChangeAspect="1"/>
          </p:cNvPicPr>
          <p:nvPr/>
        </p:nvPicPr>
        <p:blipFill>
          <a:blip r:embed="rId1"/>
          <a:stretch>
            <a:fillRect/>
          </a:stretch>
        </p:blipFill>
        <p:spPr>
          <a:xfrm>
            <a:off x="960120" y="2066544"/>
            <a:ext cx="219456" cy="219456"/>
          </a:xfrm>
          <a:prstGeom prst="rect">
            <a:avLst/>
          </a:prstGeom>
        </p:spPr>
      </p:pic>
      <p:sp>
        <p:nvSpPr>
          <p:cNvPr id="7" name="Text 4"/>
          <p:cNvSpPr/>
          <p:nvPr/>
        </p:nvSpPr>
        <p:spPr>
          <a:xfrm>
            <a:off x="1463040" y="1828800"/>
            <a:ext cx="9326880" cy="1143000"/>
          </a:xfrm>
          <a:prstGeom prst="rect">
            <a:avLst/>
          </a:prstGeom>
          <a:noFill/>
          <a:ln/>
        </p:spPr>
        <p:txBody>
          <a:bodyPr wrap="square" lIns="0" tIns="0" rIns="0" bIns="0" rtlCol="0" anchor="ctr"/>
          <a:lstStyle/>
          <a:p>
            <a:pPr indent="0" marL="0">
              <a:lnSpc>
                <a:spcPct val="135000"/>
              </a:lnSpc>
              <a:buNone/>
            </a:pPr>
            <a:r>
              <a:rPr lang="en-US" sz="1250" dirty="0">
                <a:solidFill>
                  <a:srgbClr val="F0B27A"/>
                </a:solidFill>
                <a:latin typeface="Consolas" pitchFamily="34" charset="0"/>
                <a:ea typeface="Consolas" pitchFamily="34" charset="-122"/>
                <a:cs typeface="Consolas" pitchFamily="34" charset="-120"/>
              </a:rPr>
              <a:t>Draft: “5+ years of experience...”</a:t>
            </a:r>
            <a:endParaRPr lang="en-US" sz="1250" dirty="0"/>
          </a:p>
          <a:p>
            <a:pPr indent="0" marL="0">
              <a:lnSpc>
                <a:spcPct val="135000"/>
              </a:lnSpc>
              <a:buNone/>
            </a:pPr>
            <a:r>
              <a:rPr lang="en-US" sz="1250" dirty="0">
                <a:solidFill>
                  <a:srgbClr val="E7EEFB"/>
                </a:solidFill>
                <a:latin typeface="Consolas" pitchFamily="34" charset="0"/>
                <a:ea typeface="Consolas" pitchFamily="34" charset="-122"/>
                <a:cs typeface="Consolas" pitchFamily="34" charset="-120"/>
              </a:rPr>
              <a:t>Resume: “11+ years of experience...” — the Critic approved the wrong one.</a:t>
            </a:r>
            <a:endParaRPr lang="en-US" sz="1250" dirty="0"/>
          </a:p>
        </p:txBody>
      </p:sp>
      <p:sp>
        <p:nvSpPr>
          <p:cNvPr id="8" name="Shape 5"/>
          <p:cNvSpPr/>
          <p:nvPr/>
        </p:nvSpPr>
        <p:spPr>
          <a:xfrm>
            <a:off x="548640" y="3383280"/>
            <a:ext cx="5120640" cy="2331720"/>
          </a:xfrm>
          <a:prstGeom prst="roundRect">
            <a:avLst>
              <a:gd name="adj" fmla="val 3529"/>
            </a:avLst>
          </a:prstGeom>
          <a:solidFill>
            <a:srgbClr val="F4F7F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9" name="Text 6"/>
          <p:cNvSpPr/>
          <p:nvPr/>
        </p:nvSpPr>
        <p:spPr>
          <a:xfrm>
            <a:off x="841248" y="3611880"/>
            <a:ext cx="4572000" cy="274320"/>
          </a:xfrm>
          <a:prstGeom prst="rect">
            <a:avLst/>
          </a:prstGeom>
          <a:noFill/>
          <a:ln/>
        </p:spPr>
        <p:txBody>
          <a:bodyPr wrap="square" lIns="0" tIns="0" rIns="0" bIns="0" rtlCol="0" anchor="ctr"/>
          <a:lstStyle/>
          <a:p>
            <a:pPr indent="0" marL="0">
              <a:buNone/>
            </a:pPr>
            <a:r>
              <a:rPr lang="en-US" sz="1050" b="1" spc="150" kern="0" dirty="0">
                <a:solidFill>
                  <a:srgbClr val="B3261E"/>
                </a:solidFill>
                <a:latin typeface="Calibri" pitchFamily="34" charset="0"/>
                <a:ea typeface="Calibri" pitchFamily="34" charset="-122"/>
                <a:cs typeface="Calibri" pitchFamily="34" charset="-120"/>
              </a:rPr>
              <a:t>ROOT CAUSE</a:t>
            </a:r>
            <a:endParaRPr lang="en-US" sz="1050" dirty="0"/>
          </a:p>
        </p:txBody>
      </p:sp>
      <p:sp>
        <p:nvSpPr>
          <p:cNvPr id="10" name="Text 7"/>
          <p:cNvSpPr/>
          <p:nvPr/>
        </p:nvSpPr>
        <p:spPr>
          <a:xfrm>
            <a:off x="841248" y="3950208"/>
            <a:ext cx="4535424" cy="1645920"/>
          </a:xfrm>
          <a:prstGeom prst="rect">
            <a:avLst/>
          </a:prstGeom>
          <a:noFill/>
          <a:ln/>
        </p:spPr>
        <p:txBody>
          <a:bodyPr wrap="square" lIns="0" tIns="0" rIns="0" bIns="0" rtlCol="0" anchor="t"/>
          <a:lstStyle/>
          <a:p>
            <a:pPr indent="0" marL="0">
              <a:lnSpc>
                <a:spcPct val="135000"/>
              </a:lnSpc>
              <a:buNone/>
            </a:pPr>
            <a:r>
              <a:rPr lang="en-US" sz="1250" dirty="0">
                <a:solidFill>
                  <a:srgbClr val="33415A"/>
                </a:solidFill>
                <a:latin typeface="Calibri" pitchFamily="34" charset="0"/>
                <a:ea typeface="Calibri" pitchFamily="34" charset="-122"/>
                <a:cs typeface="Calibri" pitchFamily="34" charset="-120"/>
              </a:rPr>
              <a:t>“5+ years” did technically appear in the research text — but in the Job Posting section, not as a fact about the candidate. Neither Writer nor Critic distinguished which of the two sources a matched number came from.</a:t>
            </a:r>
            <a:endParaRPr lang="en-US" sz="1250" dirty="0"/>
          </a:p>
        </p:txBody>
      </p:sp>
      <p:sp>
        <p:nvSpPr>
          <p:cNvPr id="11" name="Shape 8"/>
          <p:cNvSpPr/>
          <p:nvPr/>
        </p:nvSpPr>
        <p:spPr>
          <a:xfrm>
            <a:off x="6035040" y="3383280"/>
            <a:ext cx="5120640" cy="2331720"/>
          </a:xfrm>
          <a:prstGeom prst="roundRect">
            <a:avLst>
              <a:gd name="adj" fmla="val 3529"/>
            </a:avLst>
          </a:prstGeom>
          <a:solidFill>
            <a:srgbClr val="EAF4EE"/>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12" name="Text 9"/>
          <p:cNvSpPr/>
          <p:nvPr/>
        </p:nvSpPr>
        <p:spPr>
          <a:xfrm>
            <a:off x="6327648" y="3611880"/>
            <a:ext cx="4572000" cy="274320"/>
          </a:xfrm>
          <a:prstGeom prst="rect">
            <a:avLst/>
          </a:prstGeom>
          <a:noFill/>
          <a:ln/>
        </p:spPr>
        <p:txBody>
          <a:bodyPr wrap="square" lIns="0" tIns="0" rIns="0" bIns="0" rtlCol="0" anchor="ctr"/>
          <a:lstStyle/>
          <a:p>
            <a:pPr indent="0" marL="0">
              <a:buNone/>
            </a:pPr>
            <a:r>
              <a:rPr lang="en-US" sz="1050" b="1" spc="150" kern="0" dirty="0">
                <a:solidFill>
                  <a:srgbClr val="1E7A4C"/>
                </a:solidFill>
                <a:latin typeface="Calibri" pitchFamily="34" charset="0"/>
                <a:ea typeface="Calibri" pitchFamily="34" charset="-122"/>
                <a:cs typeface="Calibri" pitchFamily="34" charset="-120"/>
              </a:rPr>
              <a:t>FIX</a:t>
            </a:r>
            <a:endParaRPr lang="en-US" sz="1050" dirty="0"/>
          </a:p>
        </p:txBody>
      </p:sp>
      <p:sp>
        <p:nvSpPr>
          <p:cNvPr id="13" name="Text 10"/>
          <p:cNvSpPr/>
          <p:nvPr/>
        </p:nvSpPr>
        <p:spPr>
          <a:xfrm>
            <a:off x="6327648" y="3950208"/>
            <a:ext cx="4535424" cy="1645920"/>
          </a:xfrm>
          <a:prstGeom prst="rect">
            <a:avLst/>
          </a:prstGeom>
          <a:noFill/>
          <a:ln/>
        </p:spPr>
        <p:txBody>
          <a:bodyPr wrap="square" lIns="0" tIns="0" rIns="0" bIns="0" rtlCol="0" anchor="t"/>
          <a:lstStyle/>
          <a:p>
            <a:pPr indent="0" marL="0">
              <a:lnSpc>
                <a:spcPct val="135000"/>
              </a:lnSpc>
              <a:buNone/>
            </a:pPr>
            <a:r>
              <a:rPr lang="en-US" sz="1250" dirty="0">
                <a:solidFill>
                  <a:srgbClr val="33415A"/>
                </a:solidFill>
                <a:latin typeface="Calibri" pitchFamily="34" charset="0"/>
                <a:ea typeface="Calibri" pitchFamily="34" charset="-122"/>
                <a:cs typeface="Calibri" pitchFamily="34" charset="-120"/>
              </a:rPr>
              <a:t>The research already arrives in two labelled sections — “Job posting:” and “Resume:”. What changed is that both prompts are now taught what those labels mean: the posting is the employer's ask, the resume is the candidate's real claims. Only resume-sourced numbers count as facts about the candidate.</a:t>
            </a:r>
            <a:endParaRPr lang="en-US" sz="1250" dirty="0"/>
          </a:p>
        </p:txBody>
      </p:sp>
      <p:sp>
        <p:nvSpPr>
          <p:cNvPr id="14" name="Text 11"/>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13</a:t>
            </a:r>
            <a:endParaRPr lang="en-US" sz="1000" dirty="0"/>
          </a:p>
        </p:txBody>
      </p:sp>
      <p:sp>
        <p:nvSpPr>
          <p:cNvPr id="15" name="Text 12"/>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EVIDENCE · GROUNDING</a:t>
            </a:r>
            <a:endParaRPr lang="en-US" sz="1100" dirty="0"/>
          </a:p>
        </p:txBody>
      </p:sp>
      <p:sp>
        <p:nvSpPr>
          <p:cNvPr id="3" name="Text 1"/>
          <p:cNvSpPr/>
          <p:nvPr/>
        </p:nvSpPr>
        <p:spPr>
          <a:xfrm>
            <a:off x="548640" y="713232"/>
            <a:ext cx="10424160" cy="868680"/>
          </a:xfrm>
          <a:prstGeom prst="rect">
            <a:avLst/>
          </a:prstGeom>
          <a:noFill/>
          <a:ln/>
        </p:spPr>
        <p:txBody>
          <a:bodyPr wrap="square" lIns="0" tIns="0" rIns="0" bIns="0" rtlCol="0" anchor="ctr"/>
          <a:lstStyle/>
          <a:p>
            <a:pPr indent="0" marL="0">
              <a:lnSpc>
                <a:spcPct val="102000"/>
              </a:lnSpc>
              <a:buNone/>
            </a:pPr>
            <a:r>
              <a:rPr lang="en-US" sz="2700" b="1" dirty="0">
                <a:solidFill>
                  <a:srgbClr val="16213A"/>
                </a:solidFill>
                <a:latin typeface="Cambria" pitchFamily="34" charset="0"/>
                <a:ea typeface="Cambria" pitchFamily="34" charset="-122"/>
                <a:cs typeface="Cambria" pitchFamily="34" charset="-120"/>
              </a:rPr>
              <a:t>It refuses to fabricate what isn't there</a:t>
            </a:r>
            <a:endParaRPr lang="en-US" sz="2700" dirty="0"/>
          </a:p>
        </p:txBody>
      </p:sp>
      <p:sp>
        <p:nvSpPr>
          <p:cNvPr id="4" name="Shape 2"/>
          <p:cNvSpPr/>
          <p:nvPr/>
        </p:nvSpPr>
        <p:spPr>
          <a:xfrm>
            <a:off x="548640" y="1737360"/>
            <a:ext cx="6903720" cy="4434840"/>
          </a:xfrm>
          <a:prstGeom prst="roundRect">
            <a:avLst>
              <a:gd name="adj" fmla="val 1856"/>
            </a:avLst>
          </a:prstGeom>
          <a:solidFill>
            <a:srgbClr val="0D1522"/>
          </a:solidFill>
          <a:ln w="12700">
            <a:solidFill>
              <a:srgbClr val="0D1522"/>
            </a:solidFill>
            <a:prstDash val="solid"/>
          </a:ln>
          <a:effectLst>
            <a:outerShdw sx="100000" sy="100000" kx="0" ky="0" algn="bl" rotWithShape="0" blurRad="127000" dist="38100" dir="5400000">
              <a:srgbClr val="0B1220">
                <a:alpha val="12000"/>
              </a:srgbClr>
            </a:outerShdw>
          </a:effectLst>
        </p:spPr>
      </p:sp>
      <p:pic>
        <p:nvPicPr>
          <p:cNvPr id="5" name="Image 0" descr="/home/claude/deck_assets/evidence_refusal.png">    </p:cNvPr>
          <p:cNvPicPr>
            <a:picLocks noChangeAspect="1"/>
          </p:cNvPicPr>
          <p:nvPr/>
        </p:nvPicPr>
        <p:blipFill>
          <a:blip r:embed="rId1"/>
          <a:stretch>
            <a:fillRect/>
          </a:stretch>
        </p:blipFill>
        <p:spPr>
          <a:xfrm>
            <a:off x="548640" y="2511806"/>
            <a:ext cx="6903720" cy="2885947"/>
          </a:xfrm>
          <a:prstGeom prst="rect">
            <a:avLst/>
          </a:prstGeom>
        </p:spPr>
      </p:pic>
      <p:sp>
        <p:nvSpPr>
          <p:cNvPr id="6" name="Text 3"/>
          <p:cNvSpPr/>
          <p:nvPr/>
        </p:nvSpPr>
        <p:spPr>
          <a:xfrm>
            <a:off x="548640" y="6245352"/>
            <a:ext cx="6903720" cy="256032"/>
          </a:xfrm>
          <a:prstGeom prst="rect">
            <a:avLst/>
          </a:prstGeom>
          <a:noFill/>
          <a:ln/>
        </p:spPr>
        <p:txBody>
          <a:bodyPr wrap="square" lIns="0" tIns="0" rIns="0" bIns="0" rtlCol="0" anchor="ctr"/>
          <a:lstStyle/>
          <a:p>
            <a:pPr indent="0" marL="0">
              <a:buNone/>
            </a:pPr>
            <a:r>
              <a:rPr lang="en-US" sz="950" i="1" dirty="0">
                <a:solidFill>
                  <a:srgbClr val="6B7A93"/>
                </a:solidFill>
                <a:latin typeface="Calibri" pitchFamily="34" charset="0"/>
                <a:ea typeface="Calibri" pitchFamily="34" charset="-122"/>
                <a:cs typeface="Calibri" pitchFamily="34" charset="-120"/>
              </a:rPr>
              <a:t>Live terminal output, this session</a:t>
            </a:r>
            <a:endParaRPr lang="en-US" sz="950" dirty="0"/>
          </a:p>
        </p:txBody>
      </p:sp>
      <p:sp>
        <p:nvSpPr>
          <p:cNvPr id="7" name="Shape 4"/>
          <p:cNvSpPr/>
          <p:nvPr/>
        </p:nvSpPr>
        <p:spPr>
          <a:xfrm>
            <a:off x="7818120" y="1737360"/>
            <a:ext cx="3337560" cy="4434840"/>
          </a:xfrm>
          <a:prstGeom prst="roundRect">
            <a:avLst>
              <a:gd name="adj" fmla="val 2466"/>
            </a:avLst>
          </a:prstGeom>
          <a:solidFill>
            <a:srgbClr val="1B2A4A"/>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8" name="Shape 5"/>
          <p:cNvSpPr/>
          <p:nvPr/>
        </p:nvSpPr>
        <p:spPr>
          <a:xfrm>
            <a:off x="8110728" y="2029968"/>
            <a:ext cx="457200" cy="457200"/>
          </a:xfrm>
          <a:prstGeom prst="ellipse">
            <a:avLst/>
          </a:prstGeom>
          <a:solidFill>
            <a:srgbClr val="FFFFFF"/>
          </a:solidFill>
          <a:ln/>
        </p:spPr>
      </p:sp>
      <p:pic>
        <p:nvPicPr>
          <p:cNvPr id="9" name="Image 1" descr="/home/claude/deck_assets/icons/check.png">    </p:cNvPr>
          <p:cNvPicPr>
            <a:picLocks noChangeAspect="1"/>
          </p:cNvPicPr>
          <p:nvPr/>
        </p:nvPicPr>
        <p:blipFill>
          <a:blip r:embed="rId2"/>
          <a:stretch>
            <a:fillRect/>
          </a:stretch>
        </p:blipFill>
        <p:spPr>
          <a:xfrm>
            <a:off x="8229600" y="2148840"/>
            <a:ext cx="219456" cy="219456"/>
          </a:xfrm>
          <a:prstGeom prst="rect">
            <a:avLst/>
          </a:prstGeom>
        </p:spPr>
      </p:pic>
      <p:sp>
        <p:nvSpPr>
          <p:cNvPr id="10" name="Text 6"/>
          <p:cNvSpPr/>
          <p:nvPr/>
        </p:nvSpPr>
        <p:spPr>
          <a:xfrm>
            <a:off x="8110728" y="2633472"/>
            <a:ext cx="2752344" cy="777240"/>
          </a:xfrm>
          <a:prstGeom prst="rect">
            <a:avLst/>
          </a:prstGeom>
          <a:noFill/>
          <a:ln/>
        </p:spPr>
        <p:txBody>
          <a:bodyPr wrap="square" lIns="0" tIns="0" rIns="0" bIns="0" rtlCol="0" anchor="t"/>
          <a:lstStyle/>
          <a:p>
            <a:pPr indent="0" marL="0">
              <a:lnSpc>
                <a:spcPct val="112000"/>
              </a:lnSpc>
              <a:buNone/>
            </a:pPr>
            <a:r>
              <a:rPr lang="en-US" sz="1700" b="1" dirty="0">
                <a:solidFill>
                  <a:srgbClr val="FFFFFF"/>
                </a:solidFill>
                <a:latin typeface="Cambria" pitchFamily="34" charset="0"/>
                <a:ea typeface="Cambria" pitchFamily="34" charset="-122"/>
                <a:cs typeface="Cambria" pitchFamily="34" charset="-120"/>
              </a:rPr>
              <a:t>Blockchain consensus —</a:t>
            </a:r>
            <a:endParaRPr lang="en-US" sz="1700" dirty="0"/>
          </a:p>
          <a:p>
            <a:pPr indent="0" marL="0">
              <a:lnSpc>
                <a:spcPct val="112000"/>
              </a:lnSpc>
              <a:buNone/>
            </a:pPr>
            <a:r>
              <a:rPr lang="en-US" sz="1700" b="1" dirty="0">
                <a:solidFill>
                  <a:srgbClr val="FFFFFF"/>
                </a:solidFill>
                <a:latin typeface="Cambria" pitchFamily="34" charset="0"/>
                <a:ea typeface="Cambria" pitchFamily="34" charset="-122"/>
                <a:cs typeface="Cambria" pitchFamily="34" charset="-120"/>
              </a:rPr>
              <a:t>not in the corpus.</a:t>
            </a:r>
            <a:endParaRPr lang="en-US" sz="1700" dirty="0"/>
          </a:p>
        </p:txBody>
      </p:sp>
      <p:sp>
        <p:nvSpPr>
          <p:cNvPr id="11" name="Text 7"/>
          <p:cNvSpPr/>
          <p:nvPr/>
        </p:nvSpPr>
        <p:spPr>
          <a:xfrm>
            <a:off x="8110728" y="3364992"/>
            <a:ext cx="2752344" cy="2578608"/>
          </a:xfrm>
          <a:prstGeom prst="rect">
            <a:avLst/>
          </a:prstGeom>
          <a:noFill/>
          <a:ln/>
        </p:spPr>
        <p:txBody>
          <a:bodyPr wrap="square" lIns="0" tIns="0" rIns="0" bIns="0" rtlCol="0" anchor="t"/>
          <a:lstStyle/>
          <a:p>
            <a:pPr indent="0" marL="0">
              <a:lnSpc>
                <a:spcPct val="132000"/>
              </a:lnSpc>
              <a:buNone/>
            </a:pPr>
            <a:r>
              <a:rPr lang="en-US" sz="1150" dirty="0">
                <a:solidFill>
                  <a:srgbClr val="EDF2FA"/>
                </a:solidFill>
                <a:latin typeface="Calibri" pitchFamily="34" charset="0"/>
                <a:ea typeface="Calibri" pitchFamily="34" charset="-122"/>
                <a:cs typeface="Calibri" pitchFamily="34" charset="-120"/>
              </a:rPr>
              <a:t>keyword_search returns “No results found.” Rather than answer from general training knowledge, the Writer states plainly what the research does and doesn't cover — then offers a quiz built only from what's actually indexed.</a:t>
            </a:r>
            <a:endParaRPr lang="en-US" sz="1150" dirty="0"/>
          </a:p>
          <a:p>
            <a:pPr indent="0" marL="0">
              <a:lnSpc>
                <a:spcPct val="132000"/>
              </a:lnSpc>
              <a:buNone/>
            </a:pPr>
            <a:endParaRPr lang="en-US" sz="1150" dirty="0"/>
          </a:p>
          <a:p>
            <a:pPr indent="0" marL="0">
              <a:lnSpc>
                <a:spcPct val="132000"/>
              </a:lnSpc>
              <a:buNone/>
            </a:pPr>
            <a:r>
              <a:rPr lang="en-US" sz="1150" dirty="0">
                <a:solidFill>
                  <a:srgbClr val="EDF2FA"/>
                </a:solidFill>
                <a:latin typeface="Calibri" pitchFamily="34" charset="0"/>
                <a:ea typeface="Calibri" pitchFamily="34" charset="-122"/>
                <a:cs typeface="Calibri" pitchFamily="34" charset="-120"/>
              </a:rPr>
              <a:t>This is the fix from Bug 2, working as intended under a case the debugging session never explicitly tested.</a:t>
            </a:r>
            <a:endParaRPr lang="en-US" sz="1150" dirty="0"/>
          </a:p>
        </p:txBody>
      </p:sp>
      <p:sp>
        <p:nvSpPr>
          <p:cNvPr id="12" name="Text 8"/>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14</a:t>
            </a:r>
            <a:endParaRPr lang="en-US" sz="1000" dirty="0"/>
          </a:p>
        </p:txBody>
      </p:sp>
      <p:sp>
        <p:nvSpPr>
          <p:cNvPr id="13" name="Text 9"/>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EVIDENCE · CRITIC</a:t>
            </a:r>
            <a:endParaRPr lang="en-US" sz="1100" dirty="0"/>
          </a:p>
        </p:txBody>
      </p:sp>
      <p:sp>
        <p:nvSpPr>
          <p:cNvPr id="3" name="Text 1"/>
          <p:cNvSpPr/>
          <p:nvPr/>
        </p:nvSpPr>
        <p:spPr>
          <a:xfrm>
            <a:off x="548640" y="713232"/>
            <a:ext cx="10424160" cy="868680"/>
          </a:xfrm>
          <a:prstGeom prst="rect">
            <a:avLst/>
          </a:prstGeom>
          <a:noFill/>
          <a:ln/>
        </p:spPr>
        <p:txBody>
          <a:bodyPr wrap="square" lIns="0" tIns="0" rIns="0" bIns="0" rtlCol="0" anchor="ctr"/>
          <a:lstStyle/>
          <a:p>
            <a:pPr indent="0" marL="0">
              <a:lnSpc>
                <a:spcPct val="102000"/>
              </a:lnSpc>
              <a:buNone/>
            </a:pPr>
            <a:r>
              <a:rPr lang="en-US" sz="2700" b="1" dirty="0">
                <a:solidFill>
                  <a:srgbClr val="16213A"/>
                </a:solidFill>
                <a:latin typeface="Cambria" pitchFamily="34" charset="0"/>
                <a:ea typeface="Cambria" pitchFamily="34" charset="-122"/>
                <a:cs typeface="Cambria" pitchFamily="34" charset="-120"/>
              </a:rPr>
              <a:t>The Critic isn't a rubber stamp</a:t>
            </a:r>
            <a:endParaRPr lang="en-US" sz="2700" dirty="0"/>
          </a:p>
        </p:txBody>
      </p:sp>
      <p:sp>
        <p:nvSpPr>
          <p:cNvPr id="4" name="Shape 2"/>
          <p:cNvSpPr/>
          <p:nvPr/>
        </p:nvSpPr>
        <p:spPr>
          <a:xfrm>
            <a:off x="548640" y="1737360"/>
            <a:ext cx="6903720" cy="4434840"/>
          </a:xfrm>
          <a:prstGeom prst="roundRect">
            <a:avLst>
              <a:gd name="adj" fmla="val 1856"/>
            </a:avLst>
          </a:prstGeom>
          <a:solidFill>
            <a:srgbClr val="0D1522"/>
          </a:solidFill>
          <a:ln w="12700">
            <a:solidFill>
              <a:srgbClr val="0D1522"/>
            </a:solidFill>
            <a:prstDash val="solid"/>
          </a:ln>
          <a:effectLst>
            <a:outerShdw sx="100000" sy="100000" kx="0" ky="0" algn="bl" rotWithShape="0" blurRad="127000" dist="38100" dir="5400000">
              <a:srgbClr val="0B1220">
                <a:alpha val="12000"/>
              </a:srgbClr>
            </a:outerShdw>
          </a:effectLst>
        </p:spPr>
      </p:sp>
      <p:pic>
        <p:nvPicPr>
          <p:cNvPr id="5" name="Image 0" descr="/home/claude/deck_assets/evidence_revise.png">    </p:cNvPr>
          <p:cNvPicPr>
            <a:picLocks noChangeAspect="1"/>
          </p:cNvPicPr>
          <p:nvPr/>
        </p:nvPicPr>
        <p:blipFill>
          <a:blip r:embed="rId1"/>
          <a:stretch>
            <a:fillRect/>
          </a:stretch>
        </p:blipFill>
        <p:spPr>
          <a:xfrm>
            <a:off x="548640" y="2453809"/>
            <a:ext cx="6903720" cy="3001942"/>
          </a:xfrm>
          <a:prstGeom prst="rect">
            <a:avLst/>
          </a:prstGeom>
        </p:spPr>
      </p:pic>
      <p:sp>
        <p:nvSpPr>
          <p:cNvPr id="6" name="Text 3"/>
          <p:cNvSpPr/>
          <p:nvPr/>
        </p:nvSpPr>
        <p:spPr>
          <a:xfrm>
            <a:off x="548640" y="6245352"/>
            <a:ext cx="6903720" cy="256032"/>
          </a:xfrm>
          <a:prstGeom prst="rect">
            <a:avLst/>
          </a:prstGeom>
          <a:noFill/>
          <a:ln/>
        </p:spPr>
        <p:txBody>
          <a:bodyPr wrap="square" lIns="0" tIns="0" rIns="0" bIns="0" rtlCol="0" anchor="ctr"/>
          <a:lstStyle/>
          <a:p>
            <a:pPr indent="0" marL="0">
              <a:buNone/>
            </a:pPr>
            <a:r>
              <a:rPr lang="en-US" sz="950" i="1" dirty="0">
                <a:solidFill>
                  <a:srgbClr val="6B7A93"/>
                </a:solidFill>
                <a:latin typeface="Calibri" pitchFamily="34" charset="0"/>
                <a:ea typeface="Calibri" pitchFamily="34" charset="-122"/>
                <a:cs typeface="Calibri" pitchFamily="34" charset="-120"/>
              </a:rPr>
              <a:t>Live terminal output, this session</a:t>
            </a:r>
            <a:endParaRPr lang="en-US" sz="950" dirty="0"/>
          </a:p>
        </p:txBody>
      </p:sp>
      <p:sp>
        <p:nvSpPr>
          <p:cNvPr id="7" name="Shape 4"/>
          <p:cNvSpPr/>
          <p:nvPr/>
        </p:nvSpPr>
        <p:spPr>
          <a:xfrm>
            <a:off x="7818120" y="1737360"/>
            <a:ext cx="3337560" cy="4434840"/>
          </a:xfrm>
          <a:prstGeom prst="roundRect">
            <a:avLst>
              <a:gd name="adj" fmla="val 2466"/>
            </a:avLst>
          </a:prstGeom>
          <a:solidFill>
            <a:srgbClr val="2B3E62"/>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8" name="Shape 5"/>
          <p:cNvSpPr/>
          <p:nvPr/>
        </p:nvSpPr>
        <p:spPr>
          <a:xfrm>
            <a:off x="8110728" y="2029968"/>
            <a:ext cx="457200" cy="457200"/>
          </a:xfrm>
          <a:prstGeom prst="ellipse">
            <a:avLst/>
          </a:prstGeom>
          <a:solidFill>
            <a:srgbClr val="FFFFFF"/>
          </a:solidFill>
          <a:ln/>
        </p:spPr>
      </p:sp>
      <p:pic>
        <p:nvPicPr>
          <p:cNvPr id="9" name="Image 1" descr="/home/claude/deck_assets/icons/check.png">    </p:cNvPr>
          <p:cNvPicPr>
            <a:picLocks noChangeAspect="1"/>
          </p:cNvPicPr>
          <p:nvPr/>
        </p:nvPicPr>
        <p:blipFill>
          <a:blip r:embed="rId2"/>
          <a:stretch>
            <a:fillRect/>
          </a:stretch>
        </p:blipFill>
        <p:spPr>
          <a:xfrm>
            <a:off x="8229600" y="2148840"/>
            <a:ext cx="219456" cy="219456"/>
          </a:xfrm>
          <a:prstGeom prst="rect">
            <a:avLst/>
          </a:prstGeom>
        </p:spPr>
      </p:pic>
      <p:sp>
        <p:nvSpPr>
          <p:cNvPr id="10" name="Text 6"/>
          <p:cNvSpPr/>
          <p:nvPr/>
        </p:nvSpPr>
        <p:spPr>
          <a:xfrm>
            <a:off x="8110728" y="2633472"/>
            <a:ext cx="2752344" cy="777240"/>
          </a:xfrm>
          <a:prstGeom prst="rect">
            <a:avLst/>
          </a:prstGeom>
          <a:noFill/>
          <a:ln/>
        </p:spPr>
        <p:txBody>
          <a:bodyPr wrap="square" lIns="0" tIns="0" rIns="0" bIns="0" rtlCol="0" anchor="t"/>
          <a:lstStyle/>
          <a:p>
            <a:pPr indent="0" marL="0">
              <a:lnSpc>
                <a:spcPct val="112000"/>
              </a:lnSpc>
              <a:buNone/>
            </a:pPr>
            <a:r>
              <a:rPr lang="en-US" sz="1700" b="1" dirty="0">
                <a:solidFill>
                  <a:srgbClr val="FFFFFF"/>
                </a:solidFill>
                <a:latin typeface="Cambria" pitchFamily="34" charset="0"/>
                <a:ea typeface="Cambria" pitchFamily="34" charset="-122"/>
                <a:cs typeface="Cambria" pitchFamily="34" charset="-120"/>
              </a:rPr>
              <a:t>A REVISE verdict with six</a:t>
            </a:r>
            <a:endParaRPr lang="en-US" sz="1700" dirty="0"/>
          </a:p>
          <a:p>
            <a:pPr indent="0" marL="0">
              <a:lnSpc>
                <a:spcPct val="112000"/>
              </a:lnSpc>
              <a:buNone/>
            </a:pPr>
            <a:r>
              <a:rPr lang="en-US" sz="1700" b="1" dirty="0">
                <a:solidFill>
                  <a:srgbClr val="FFFFFF"/>
                </a:solidFill>
                <a:latin typeface="Cambria" pitchFamily="34" charset="0"/>
                <a:ea typeface="Cambria" pitchFamily="34" charset="-122"/>
                <a:cs typeface="Cambria" pitchFamily="34" charset="-120"/>
              </a:rPr>
              <a:t>concrete, actionable notes.</a:t>
            </a:r>
            <a:endParaRPr lang="en-US" sz="1700" dirty="0"/>
          </a:p>
        </p:txBody>
      </p:sp>
      <p:sp>
        <p:nvSpPr>
          <p:cNvPr id="11" name="Text 7"/>
          <p:cNvSpPr/>
          <p:nvPr/>
        </p:nvSpPr>
        <p:spPr>
          <a:xfrm>
            <a:off x="8110728" y="3364992"/>
            <a:ext cx="2752344" cy="2578608"/>
          </a:xfrm>
          <a:prstGeom prst="rect">
            <a:avLst/>
          </a:prstGeom>
          <a:noFill/>
          <a:ln/>
        </p:spPr>
        <p:txBody>
          <a:bodyPr wrap="square" lIns="0" tIns="0" rIns="0" bIns="0" rtlCol="0" anchor="t"/>
          <a:lstStyle/>
          <a:p>
            <a:pPr indent="0" marL="0">
              <a:lnSpc>
                <a:spcPct val="132000"/>
              </a:lnSpc>
              <a:buNone/>
            </a:pPr>
            <a:r>
              <a:rPr lang="en-US" sz="1150" dirty="0">
                <a:solidFill>
                  <a:srgbClr val="EDF2FA"/>
                </a:solidFill>
                <a:latin typeface="Calibri" pitchFamily="34" charset="0"/>
                <a:ea typeface="Calibri" pitchFamily="34" charset="-122"/>
                <a:cs typeface="Calibri" pitchFamily="34" charset="-120"/>
              </a:rPr>
              <a:t>On a TF-IDF explanation, the Critic caught a missing normalization variant, an unstated log base, corpus-dependent numeric ranges presented as fact, and an incomplete pitfalls table — each with a specific fix, not a vague “improve clarity.”</a:t>
            </a:r>
            <a:endParaRPr lang="en-US" sz="1150" dirty="0"/>
          </a:p>
          <a:p>
            <a:pPr indent="0" marL="0">
              <a:lnSpc>
                <a:spcPct val="132000"/>
              </a:lnSpc>
              <a:buNone/>
            </a:pPr>
            <a:endParaRPr lang="en-US" sz="1150" dirty="0"/>
          </a:p>
          <a:p>
            <a:pPr indent="0" marL="0">
              <a:lnSpc>
                <a:spcPct val="132000"/>
              </a:lnSpc>
              <a:buNone/>
            </a:pPr>
            <a:r>
              <a:rPr lang="en-US" sz="1150" dirty="0">
                <a:solidFill>
                  <a:srgbClr val="EDF2FA"/>
                </a:solidFill>
                <a:latin typeface="Calibri" pitchFamily="34" charset="0"/>
                <a:ea typeface="Calibri" pitchFamily="34" charset="-122"/>
                <a:cs typeface="Calibri" pitchFamily="34" charset="-120"/>
              </a:rPr>
              <a:t>This is what “grounded” actually buys: substantive review, not approval theater.</a:t>
            </a:r>
            <a:endParaRPr lang="en-US" sz="1150" dirty="0"/>
          </a:p>
        </p:txBody>
      </p:sp>
      <p:sp>
        <p:nvSpPr>
          <p:cNvPr id="12" name="Text 8"/>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15</a:t>
            </a:r>
            <a:endParaRPr lang="en-US" sz="1000" dirty="0"/>
          </a:p>
        </p:txBody>
      </p:sp>
      <p:sp>
        <p:nvSpPr>
          <p:cNvPr id="13" name="Text 9"/>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EVIDENCE · HONESTY UNDER PRESSURE</a:t>
            </a:r>
            <a:endParaRPr lang="en-US" sz="1100" dirty="0"/>
          </a:p>
        </p:txBody>
      </p:sp>
      <p:sp>
        <p:nvSpPr>
          <p:cNvPr id="3" name="Text 1"/>
          <p:cNvSpPr/>
          <p:nvPr/>
        </p:nvSpPr>
        <p:spPr>
          <a:xfrm>
            <a:off x="548640" y="713232"/>
            <a:ext cx="10424160" cy="868680"/>
          </a:xfrm>
          <a:prstGeom prst="rect">
            <a:avLst/>
          </a:prstGeom>
          <a:noFill/>
          <a:ln/>
        </p:spPr>
        <p:txBody>
          <a:bodyPr wrap="square" lIns="0" tIns="0" rIns="0" bIns="0" rtlCol="0" anchor="ctr"/>
          <a:lstStyle/>
          <a:p>
            <a:pPr indent="0" marL="0">
              <a:lnSpc>
                <a:spcPct val="102000"/>
              </a:lnSpc>
              <a:buNone/>
            </a:pPr>
            <a:r>
              <a:rPr lang="en-US" sz="2700" b="1" dirty="0">
                <a:solidFill>
                  <a:srgbClr val="16213A"/>
                </a:solidFill>
                <a:latin typeface="Cambria" pitchFamily="34" charset="0"/>
                <a:ea typeface="Cambria" pitchFamily="34" charset="-122"/>
                <a:cs typeface="Cambria" pitchFamily="34" charset="-120"/>
              </a:rPr>
              <a:t>A 0-of-4 match, and it still won't fabricate</a:t>
            </a:r>
            <a:endParaRPr lang="en-US" sz="2700" dirty="0"/>
          </a:p>
        </p:txBody>
      </p:sp>
      <p:sp>
        <p:nvSpPr>
          <p:cNvPr id="4" name="Shape 2"/>
          <p:cNvSpPr/>
          <p:nvPr/>
        </p:nvSpPr>
        <p:spPr>
          <a:xfrm>
            <a:off x="548640" y="1737360"/>
            <a:ext cx="6903720" cy="4434840"/>
          </a:xfrm>
          <a:prstGeom prst="roundRect">
            <a:avLst>
              <a:gd name="adj" fmla="val 1856"/>
            </a:avLst>
          </a:prstGeom>
          <a:solidFill>
            <a:srgbClr val="0D1522"/>
          </a:solidFill>
          <a:ln w="12700">
            <a:solidFill>
              <a:srgbClr val="0D1522"/>
            </a:solidFill>
            <a:prstDash val="solid"/>
          </a:ln>
          <a:effectLst>
            <a:outerShdw sx="100000" sy="100000" kx="0" ky="0" algn="bl" rotWithShape="0" blurRad="127000" dist="38100" dir="5400000">
              <a:srgbClr val="0B1220">
                <a:alpha val="12000"/>
              </a:srgbClr>
            </a:outerShdw>
          </a:effectLst>
        </p:spPr>
      </p:sp>
      <p:pic>
        <p:nvPicPr>
          <p:cNvPr id="5" name="Image 0" descr="/home/claude/deck_assets/evidence_weakmatch.png">    </p:cNvPr>
          <p:cNvPicPr>
            <a:picLocks noChangeAspect="1"/>
          </p:cNvPicPr>
          <p:nvPr/>
        </p:nvPicPr>
        <p:blipFill>
          <a:blip r:embed="rId1"/>
          <a:stretch>
            <a:fillRect/>
          </a:stretch>
        </p:blipFill>
        <p:spPr>
          <a:xfrm>
            <a:off x="548640" y="2283046"/>
            <a:ext cx="6903720" cy="3343468"/>
          </a:xfrm>
          <a:prstGeom prst="rect">
            <a:avLst/>
          </a:prstGeom>
        </p:spPr>
      </p:pic>
      <p:sp>
        <p:nvSpPr>
          <p:cNvPr id="6" name="Text 3"/>
          <p:cNvSpPr/>
          <p:nvPr/>
        </p:nvSpPr>
        <p:spPr>
          <a:xfrm>
            <a:off x="548640" y="6245352"/>
            <a:ext cx="6903720" cy="256032"/>
          </a:xfrm>
          <a:prstGeom prst="rect">
            <a:avLst/>
          </a:prstGeom>
          <a:noFill/>
          <a:ln/>
        </p:spPr>
        <p:txBody>
          <a:bodyPr wrap="square" lIns="0" tIns="0" rIns="0" bIns="0" rtlCol="0" anchor="ctr"/>
          <a:lstStyle/>
          <a:p>
            <a:pPr indent="0" marL="0">
              <a:buNone/>
            </a:pPr>
            <a:r>
              <a:rPr lang="en-US" sz="950" i="1" dirty="0">
                <a:solidFill>
                  <a:srgbClr val="6B7A93"/>
                </a:solidFill>
                <a:latin typeface="Calibri" pitchFamily="34" charset="0"/>
                <a:ea typeface="Calibri" pitchFamily="34" charset="-122"/>
                <a:cs typeface="Calibri" pitchFamily="34" charset="-120"/>
              </a:rPr>
              <a:t>Live terminal output, this session</a:t>
            </a:r>
            <a:endParaRPr lang="en-US" sz="950" dirty="0"/>
          </a:p>
        </p:txBody>
      </p:sp>
      <p:sp>
        <p:nvSpPr>
          <p:cNvPr id="7" name="Shape 4"/>
          <p:cNvSpPr/>
          <p:nvPr/>
        </p:nvSpPr>
        <p:spPr>
          <a:xfrm>
            <a:off x="7818120" y="1737360"/>
            <a:ext cx="3337560" cy="4434840"/>
          </a:xfrm>
          <a:prstGeom prst="roundRect">
            <a:avLst>
              <a:gd name="adj" fmla="val 2466"/>
            </a:avLst>
          </a:prstGeom>
          <a:solidFill>
            <a:srgbClr val="1E7A4C"/>
          </a:solidFill>
          <a:ln w="12700">
            <a:solidFill>
              <a:srgbClr val="D7E0EE"/>
            </a:solidFill>
            <a:prstDash val="solid"/>
          </a:ln>
          <a:effectLst>
            <a:outerShdw sx="100000" sy="100000" kx="0" ky="0" algn="bl" rotWithShape="0" blurRad="127000" dist="38100" dir="5400000">
              <a:srgbClr val="0B1220">
                <a:alpha val="12000"/>
              </a:srgbClr>
            </a:outerShdw>
          </a:effectLst>
        </p:spPr>
      </p:sp>
      <p:sp>
        <p:nvSpPr>
          <p:cNvPr id="8" name="Shape 5"/>
          <p:cNvSpPr/>
          <p:nvPr/>
        </p:nvSpPr>
        <p:spPr>
          <a:xfrm>
            <a:off x="8110728" y="2029968"/>
            <a:ext cx="457200" cy="457200"/>
          </a:xfrm>
          <a:prstGeom prst="ellipse">
            <a:avLst/>
          </a:prstGeom>
          <a:solidFill>
            <a:srgbClr val="FFFFFF"/>
          </a:solidFill>
          <a:ln/>
        </p:spPr>
      </p:sp>
      <p:pic>
        <p:nvPicPr>
          <p:cNvPr id="9" name="Image 1" descr="/home/claude/deck_assets/icons/check.png">    </p:cNvPr>
          <p:cNvPicPr>
            <a:picLocks noChangeAspect="1"/>
          </p:cNvPicPr>
          <p:nvPr/>
        </p:nvPicPr>
        <p:blipFill>
          <a:blip r:embed="rId2"/>
          <a:stretch>
            <a:fillRect/>
          </a:stretch>
        </p:blipFill>
        <p:spPr>
          <a:xfrm>
            <a:off x="8229600" y="2148840"/>
            <a:ext cx="219456" cy="219456"/>
          </a:xfrm>
          <a:prstGeom prst="rect">
            <a:avLst/>
          </a:prstGeom>
        </p:spPr>
      </p:pic>
      <p:sp>
        <p:nvSpPr>
          <p:cNvPr id="10" name="Text 6"/>
          <p:cNvSpPr/>
          <p:nvPr/>
        </p:nvSpPr>
        <p:spPr>
          <a:xfrm>
            <a:off x="8110728" y="2633472"/>
            <a:ext cx="2752344" cy="777240"/>
          </a:xfrm>
          <a:prstGeom prst="rect">
            <a:avLst/>
          </a:prstGeom>
          <a:noFill/>
          <a:ln/>
        </p:spPr>
        <p:txBody>
          <a:bodyPr wrap="square" lIns="0" tIns="0" rIns="0" bIns="0" rtlCol="0" anchor="t"/>
          <a:lstStyle/>
          <a:p>
            <a:pPr indent="0" marL="0">
              <a:lnSpc>
                <a:spcPct val="112000"/>
              </a:lnSpc>
              <a:buNone/>
            </a:pPr>
            <a:r>
              <a:rPr lang="en-US" sz="1700" b="1" dirty="0">
                <a:solidFill>
                  <a:srgbClr val="FFFFFF"/>
                </a:solidFill>
                <a:latin typeface="Cambria" pitchFamily="34" charset="0"/>
                <a:ea typeface="Cambria" pitchFamily="34" charset="-122"/>
                <a:cs typeface="Cambria" pitchFamily="34" charset="-120"/>
              </a:rPr>
              <a:t>An embedded-systems JD,</a:t>
            </a:r>
            <a:endParaRPr lang="en-US" sz="1700" dirty="0"/>
          </a:p>
          <a:p>
            <a:pPr indent="0" marL="0">
              <a:lnSpc>
                <a:spcPct val="112000"/>
              </a:lnSpc>
              <a:buNone/>
            </a:pPr>
            <a:r>
              <a:rPr lang="en-US" sz="1700" b="1" dirty="0">
                <a:solidFill>
                  <a:srgbClr val="FFFFFF"/>
                </a:solidFill>
                <a:latin typeface="Cambria" pitchFamily="34" charset="0"/>
                <a:ea typeface="Cambria" pitchFamily="34" charset="-122"/>
                <a:cs typeface="Cambria" pitchFamily="34" charset="-120"/>
              </a:rPr>
              <a:t>deliberately mismatched.</a:t>
            </a:r>
            <a:endParaRPr lang="en-US" sz="1700" dirty="0"/>
          </a:p>
        </p:txBody>
      </p:sp>
      <p:sp>
        <p:nvSpPr>
          <p:cNvPr id="11" name="Text 7"/>
          <p:cNvSpPr/>
          <p:nvPr/>
        </p:nvSpPr>
        <p:spPr>
          <a:xfrm>
            <a:off x="8110728" y="3364992"/>
            <a:ext cx="2752344" cy="2578608"/>
          </a:xfrm>
          <a:prstGeom prst="rect">
            <a:avLst/>
          </a:prstGeom>
          <a:noFill/>
          <a:ln/>
        </p:spPr>
        <p:txBody>
          <a:bodyPr wrap="square" lIns="0" tIns="0" rIns="0" bIns="0" rtlCol="0" anchor="t"/>
          <a:lstStyle/>
          <a:p>
            <a:pPr indent="0" marL="0">
              <a:lnSpc>
                <a:spcPct val="132000"/>
              </a:lnSpc>
              <a:buNone/>
            </a:pPr>
            <a:r>
              <a:rPr lang="en-US" sz="1150" dirty="0">
                <a:solidFill>
                  <a:srgbClr val="EDF2FA"/>
                </a:solidFill>
                <a:latin typeface="Calibri" pitchFamily="34" charset="0"/>
                <a:ea typeface="Calibri" pitchFamily="34" charset="-122"/>
                <a:cs typeface="Calibri" pitchFamily="34" charset="-120"/>
              </a:rPr>
              <a:t>Every core requirement (C/C++, RTOS, JTAG, ARM drivers) is honestly marked NOT MET, with a direct “Weak match” recommendation — no softening.</a:t>
            </a:r>
            <a:endParaRPr lang="en-US" sz="1150" dirty="0"/>
          </a:p>
          <a:p>
            <a:pPr indent="0" marL="0">
              <a:lnSpc>
                <a:spcPct val="132000"/>
              </a:lnSpc>
              <a:buNone/>
            </a:pPr>
            <a:endParaRPr lang="en-US" sz="1150" dirty="0"/>
          </a:p>
          <a:p>
            <a:pPr indent="0" marL="0">
              <a:lnSpc>
                <a:spcPct val="132000"/>
              </a:lnSpc>
              <a:buNone/>
            </a:pPr>
            <a:r>
              <a:rPr lang="en-US" sz="1150" dirty="0">
                <a:solidFill>
                  <a:srgbClr val="EDF2FA"/>
                </a:solidFill>
                <a:latin typeface="Calibri" pitchFamily="34" charset="0"/>
                <a:ea typeface="Calibri" pitchFamily="34" charset="-122"/>
                <a:cs typeface="Calibri" pitchFamily="34" charset="-120"/>
              </a:rPr>
              <a:t>The resume bullets that follow still draw only from real experience, framing Rust and Kubernetes work as adjacent skill, never as embedded-systems experience the candidate doesn't have.</a:t>
            </a:r>
            <a:endParaRPr lang="en-US" sz="1150" dirty="0"/>
          </a:p>
        </p:txBody>
      </p:sp>
      <p:sp>
        <p:nvSpPr>
          <p:cNvPr id="12" name="Text 8"/>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16</a:t>
            </a:r>
            <a:endParaRPr lang="en-US" sz="1000" dirty="0"/>
          </a:p>
        </p:txBody>
      </p:sp>
      <p:sp>
        <p:nvSpPr>
          <p:cNvPr id="13" name="Text 9"/>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6B7A93"/>
                </a:solidFill>
                <a:latin typeface="Calibri" pitchFamily="34" charset="0"/>
                <a:ea typeface="Calibri" pitchFamily="34" charset="-122"/>
                <a:cs typeface="Calibri" pitchFamily="34" charset="-120"/>
              </a:rPr>
              <a:t>UNDER THE HOOD</a:t>
            </a:r>
            <a:endParaRPr lang="en-US" sz="1100" dirty="0"/>
          </a:p>
        </p:txBody>
      </p:sp>
      <p:sp>
        <p:nvSpPr>
          <p:cNvPr id="3" name="Text 1"/>
          <p:cNvSpPr/>
          <p:nvPr/>
        </p:nvSpPr>
        <p:spPr>
          <a:xfrm>
            <a:off x="548640" y="713232"/>
            <a:ext cx="10607040" cy="868680"/>
          </a:xfrm>
          <a:prstGeom prst="rect">
            <a:avLst/>
          </a:prstGeom>
          <a:noFill/>
          <a:ln/>
        </p:spPr>
        <p:txBody>
          <a:bodyPr wrap="square" lIns="0" tIns="0" rIns="0" bIns="0" rtlCol="0" anchor="ctr"/>
          <a:lstStyle/>
          <a:p>
            <a:pPr indent="0" marL="0">
              <a:lnSpc>
                <a:spcPct val="102000"/>
              </a:lnSpc>
              <a:buNone/>
            </a:pPr>
            <a:r>
              <a:rPr lang="en-US" sz="3200" b="1" dirty="0">
                <a:solidFill>
                  <a:srgbClr val="16213A"/>
                </a:solidFill>
                <a:latin typeface="Cambria" pitchFamily="34" charset="0"/>
                <a:ea typeface="Cambria" pitchFamily="34" charset="-122"/>
                <a:cs typeface="Cambria" pitchFamily="34" charset="-120"/>
              </a:rPr>
              <a:t>Hardening beyond the happy path</a:t>
            </a:r>
            <a:endParaRPr lang="en-US" sz="3200" dirty="0"/>
          </a:p>
        </p:txBody>
      </p:sp>
      <p:sp>
        <p:nvSpPr>
          <p:cNvPr id="4" name="Shape 2"/>
          <p:cNvSpPr/>
          <p:nvPr/>
        </p:nvSpPr>
        <p:spPr>
          <a:xfrm>
            <a:off x="548640" y="1874520"/>
            <a:ext cx="512064" cy="512064"/>
          </a:xfrm>
          <a:prstGeom prst="ellipse">
            <a:avLst/>
          </a:prstGeom>
          <a:solidFill>
            <a:srgbClr val="1B2A4A"/>
          </a:solidFill>
          <a:ln/>
        </p:spPr>
      </p:sp>
      <p:pic>
        <p:nvPicPr>
          <p:cNvPr id="5" name="Image 0" descr="/home/claude/deck_assets/icons/gears.png">    </p:cNvPr>
          <p:cNvPicPr>
            <a:picLocks noChangeAspect="1"/>
          </p:cNvPicPr>
          <p:nvPr/>
        </p:nvPicPr>
        <p:blipFill>
          <a:blip r:embed="rId1"/>
          <a:stretch>
            <a:fillRect/>
          </a:stretch>
        </p:blipFill>
        <p:spPr>
          <a:xfrm>
            <a:off x="681777" y="2007657"/>
            <a:ext cx="245791" cy="245791"/>
          </a:xfrm>
          <a:prstGeom prst="rect">
            <a:avLst/>
          </a:prstGeom>
        </p:spPr>
      </p:pic>
      <p:sp>
        <p:nvSpPr>
          <p:cNvPr id="6" name="Text 3"/>
          <p:cNvSpPr/>
          <p:nvPr/>
        </p:nvSpPr>
        <p:spPr>
          <a:xfrm>
            <a:off x="1325880" y="1847088"/>
            <a:ext cx="3246120" cy="777240"/>
          </a:xfrm>
          <a:prstGeom prst="rect">
            <a:avLst/>
          </a:prstGeom>
          <a:noFill/>
          <a:ln/>
        </p:spPr>
        <p:txBody>
          <a:bodyPr wrap="square" lIns="0" tIns="0" rIns="0" bIns="0" rtlCol="0" anchor="t"/>
          <a:lstStyle/>
          <a:p>
            <a:pPr indent="0" marL="0">
              <a:lnSpc>
                <a:spcPct val="115000"/>
              </a:lnSpc>
              <a:buNone/>
            </a:pPr>
            <a:r>
              <a:rPr lang="en-US" sz="1400" b="1" dirty="0">
                <a:solidFill>
                  <a:srgbClr val="16213A"/>
                </a:solidFill>
                <a:latin typeface="Cambria" pitchFamily="34" charset="0"/>
                <a:ea typeface="Cambria" pitchFamily="34" charset="-122"/>
                <a:cs typeface="Cambria" pitchFamily="34" charset="-120"/>
              </a:rPr>
              <a:t>Adaptive retry-with-backoff</a:t>
            </a:r>
            <a:endParaRPr lang="en-US" sz="1400" dirty="0"/>
          </a:p>
        </p:txBody>
      </p:sp>
      <p:sp>
        <p:nvSpPr>
          <p:cNvPr id="7" name="Text 4"/>
          <p:cNvSpPr/>
          <p:nvPr/>
        </p:nvSpPr>
        <p:spPr>
          <a:xfrm>
            <a:off x="4754880" y="1847088"/>
            <a:ext cx="6400800" cy="868680"/>
          </a:xfrm>
          <a:prstGeom prst="rect">
            <a:avLst/>
          </a:prstGeom>
          <a:noFill/>
          <a:ln/>
        </p:spPr>
        <p:txBody>
          <a:bodyPr wrap="square" lIns="0" tIns="0" rIns="0" bIns="0" rtlCol="0" anchor="t"/>
          <a:lstStyle/>
          <a:p>
            <a:pPr indent="0" marL="0">
              <a:lnSpc>
                <a:spcPct val="128000"/>
              </a:lnSpc>
              <a:buNone/>
            </a:pPr>
            <a:r>
              <a:rPr lang="en-US" sz="1150" dirty="0">
                <a:solidFill>
                  <a:srgbClr val="6B7A93"/>
                </a:solidFill>
                <a:latin typeface="Calibri" pitchFamily="34" charset="0"/>
                <a:ea typeface="Calibri" pitchFamily="34" charset="-122"/>
                <a:cs typeface="Calibri" pitchFamily="34" charset="-120"/>
              </a:rPr>
              <a:t>Groq's rate-limit errors carry a suggested wait time in the message text (“382ms” or “1h1m34s”). Parsed and honored automatically — waits over 60s fail fast with a clear “this is the daily quota” message instead of blocking silently.</a:t>
            </a:r>
            <a:endParaRPr lang="en-US" sz="1150" dirty="0"/>
          </a:p>
        </p:txBody>
      </p:sp>
      <p:sp>
        <p:nvSpPr>
          <p:cNvPr id="8" name="Shape 5"/>
          <p:cNvSpPr/>
          <p:nvPr/>
        </p:nvSpPr>
        <p:spPr>
          <a:xfrm>
            <a:off x="548640" y="2770632"/>
            <a:ext cx="10744200" cy="0"/>
          </a:xfrm>
          <a:prstGeom prst="line">
            <a:avLst/>
          </a:prstGeom>
          <a:noFill/>
          <a:ln w="12700">
            <a:solidFill>
              <a:srgbClr val="D7E0EE"/>
            </a:solidFill>
            <a:prstDash val="solid"/>
          </a:ln>
        </p:spPr>
      </p:sp>
      <p:sp>
        <p:nvSpPr>
          <p:cNvPr id="9" name="Shape 6"/>
          <p:cNvSpPr/>
          <p:nvPr/>
        </p:nvSpPr>
        <p:spPr>
          <a:xfrm>
            <a:off x="548640" y="2916936"/>
            <a:ext cx="512064" cy="512064"/>
          </a:xfrm>
          <a:prstGeom prst="ellipse">
            <a:avLst/>
          </a:prstGeom>
          <a:solidFill>
            <a:srgbClr val="1B2A4A"/>
          </a:solidFill>
          <a:ln/>
        </p:spPr>
      </p:sp>
      <p:pic>
        <p:nvPicPr>
          <p:cNvPr id="10" name="Image 1" descr="/home/claude/deck_assets/icons/route.png">    </p:cNvPr>
          <p:cNvPicPr>
            <a:picLocks noChangeAspect="1"/>
          </p:cNvPicPr>
          <p:nvPr/>
        </p:nvPicPr>
        <p:blipFill>
          <a:blip r:embed="rId2"/>
          <a:stretch>
            <a:fillRect/>
          </a:stretch>
        </p:blipFill>
        <p:spPr>
          <a:xfrm>
            <a:off x="681777" y="3050073"/>
            <a:ext cx="245791" cy="245791"/>
          </a:xfrm>
          <a:prstGeom prst="rect">
            <a:avLst/>
          </a:prstGeom>
        </p:spPr>
      </p:pic>
      <p:sp>
        <p:nvSpPr>
          <p:cNvPr id="11" name="Text 7"/>
          <p:cNvSpPr/>
          <p:nvPr/>
        </p:nvSpPr>
        <p:spPr>
          <a:xfrm>
            <a:off x="1325880" y="2889504"/>
            <a:ext cx="3246120" cy="777240"/>
          </a:xfrm>
          <a:prstGeom prst="rect">
            <a:avLst/>
          </a:prstGeom>
          <a:noFill/>
          <a:ln/>
        </p:spPr>
        <p:txBody>
          <a:bodyPr wrap="square" lIns="0" tIns="0" rIns="0" bIns="0" rtlCol="0" anchor="t"/>
          <a:lstStyle/>
          <a:p>
            <a:pPr indent="0" marL="0">
              <a:lnSpc>
                <a:spcPct val="115000"/>
              </a:lnSpc>
              <a:buNone/>
            </a:pPr>
            <a:r>
              <a:rPr lang="en-US" sz="1400" b="1" dirty="0">
                <a:solidFill>
                  <a:srgbClr val="16213A"/>
                </a:solidFill>
                <a:latin typeface="Cambria" pitchFamily="34" charset="0"/>
                <a:ea typeface="Cambria" pitchFamily="34" charset="-122"/>
                <a:cs typeface="Cambria" pitchFamily="34" charset="-120"/>
              </a:rPr>
              <a:t>Router + Planner run concurrently</a:t>
            </a:r>
            <a:endParaRPr lang="en-US" sz="1400" dirty="0"/>
          </a:p>
        </p:txBody>
      </p:sp>
      <p:sp>
        <p:nvSpPr>
          <p:cNvPr id="12" name="Text 8"/>
          <p:cNvSpPr/>
          <p:nvPr/>
        </p:nvSpPr>
        <p:spPr>
          <a:xfrm>
            <a:off x="4754880" y="2889504"/>
            <a:ext cx="6400800" cy="868680"/>
          </a:xfrm>
          <a:prstGeom prst="rect">
            <a:avLst/>
          </a:prstGeom>
          <a:noFill/>
          <a:ln/>
        </p:spPr>
        <p:txBody>
          <a:bodyPr wrap="square" lIns="0" tIns="0" rIns="0" bIns="0" rtlCol="0" anchor="t"/>
          <a:lstStyle/>
          <a:p>
            <a:pPr indent="0" marL="0">
              <a:lnSpc>
                <a:spcPct val="128000"/>
              </a:lnSpc>
              <a:buNone/>
            </a:pPr>
            <a:r>
              <a:rPr lang="en-US" sz="1150" dirty="0">
                <a:solidFill>
                  <a:srgbClr val="6B7A93"/>
                </a:solidFill>
                <a:latin typeface="Calibri" pitchFamily="34" charset="0"/>
                <a:ea typeface="Calibri" pitchFamily="34" charset="-122"/>
                <a:cs typeface="Calibri" pitchFamily="34" charset="-120"/>
              </a:rPr>
              <a:t>Neither depends on the other's output, so both fire in a shared ThreadPoolExecutor — one full network round-trip saved per request, zero logic changes.</a:t>
            </a:r>
            <a:endParaRPr lang="en-US" sz="1150" dirty="0"/>
          </a:p>
        </p:txBody>
      </p:sp>
      <p:sp>
        <p:nvSpPr>
          <p:cNvPr id="13" name="Shape 9"/>
          <p:cNvSpPr/>
          <p:nvPr/>
        </p:nvSpPr>
        <p:spPr>
          <a:xfrm>
            <a:off x="548640" y="3813048"/>
            <a:ext cx="10744200" cy="0"/>
          </a:xfrm>
          <a:prstGeom prst="line">
            <a:avLst/>
          </a:prstGeom>
          <a:noFill/>
          <a:ln w="12700">
            <a:solidFill>
              <a:srgbClr val="D7E0EE"/>
            </a:solidFill>
            <a:prstDash val="solid"/>
          </a:ln>
        </p:spPr>
      </p:sp>
      <p:sp>
        <p:nvSpPr>
          <p:cNvPr id="14" name="Shape 10"/>
          <p:cNvSpPr/>
          <p:nvPr/>
        </p:nvSpPr>
        <p:spPr>
          <a:xfrm>
            <a:off x="548640" y="3959352"/>
            <a:ext cx="512064" cy="512064"/>
          </a:xfrm>
          <a:prstGeom prst="ellipse">
            <a:avLst/>
          </a:prstGeom>
          <a:solidFill>
            <a:srgbClr val="1B2A4A"/>
          </a:solidFill>
          <a:ln/>
        </p:spPr>
      </p:sp>
      <p:pic>
        <p:nvPicPr>
          <p:cNvPr id="15" name="Image 2" descr="/home/claude/deck_assets/icons/critic.png">    </p:cNvPr>
          <p:cNvPicPr>
            <a:picLocks noChangeAspect="1"/>
          </p:cNvPicPr>
          <p:nvPr/>
        </p:nvPicPr>
        <p:blipFill>
          <a:blip r:embed="rId3"/>
          <a:stretch>
            <a:fillRect/>
          </a:stretch>
        </p:blipFill>
        <p:spPr>
          <a:xfrm>
            <a:off x="681777" y="4092489"/>
            <a:ext cx="245791" cy="245791"/>
          </a:xfrm>
          <a:prstGeom prst="rect">
            <a:avLst/>
          </a:prstGeom>
        </p:spPr>
      </p:pic>
      <p:sp>
        <p:nvSpPr>
          <p:cNvPr id="16" name="Text 11"/>
          <p:cNvSpPr/>
          <p:nvPr/>
        </p:nvSpPr>
        <p:spPr>
          <a:xfrm>
            <a:off x="1325880" y="3931920"/>
            <a:ext cx="3246120" cy="777240"/>
          </a:xfrm>
          <a:prstGeom prst="rect">
            <a:avLst/>
          </a:prstGeom>
          <a:noFill/>
          <a:ln/>
        </p:spPr>
        <p:txBody>
          <a:bodyPr wrap="square" lIns="0" tIns="0" rIns="0" bIns="0" rtlCol="0" anchor="t"/>
          <a:lstStyle/>
          <a:p>
            <a:pPr indent="0" marL="0">
              <a:lnSpc>
                <a:spcPct val="115000"/>
              </a:lnSpc>
              <a:buNone/>
            </a:pPr>
            <a:r>
              <a:rPr lang="en-US" sz="1400" b="1" dirty="0">
                <a:solidFill>
                  <a:srgbClr val="16213A"/>
                </a:solidFill>
                <a:latin typeface="Cambria" pitchFamily="34" charset="0"/>
                <a:ea typeface="Cambria" pitchFamily="34" charset="-122"/>
                <a:cs typeface="Cambria" pitchFamily="34" charset="-120"/>
              </a:rPr>
              <a:t>Apply's Critic split into two parallel checks</a:t>
            </a:r>
            <a:endParaRPr lang="en-US" sz="1400" dirty="0"/>
          </a:p>
        </p:txBody>
      </p:sp>
      <p:sp>
        <p:nvSpPr>
          <p:cNvPr id="17" name="Text 12"/>
          <p:cNvSpPr/>
          <p:nvPr/>
        </p:nvSpPr>
        <p:spPr>
          <a:xfrm>
            <a:off x="4754880" y="3931920"/>
            <a:ext cx="6400800" cy="868680"/>
          </a:xfrm>
          <a:prstGeom prst="rect">
            <a:avLst/>
          </a:prstGeom>
          <a:noFill/>
          <a:ln/>
        </p:spPr>
        <p:txBody>
          <a:bodyPr wrap="square" lIns="0" tIns="0" rIns="0" bIns="0" rtlCol="0" anchor="t"/>
          <a:lstStyle/>
          <a:p>
            <a:pPr indent="0" marL="0">
              <a:lnSpc>
                <a:spcPct val="128000"/>
              </a:lnSpc>
              <a:buNone/>
            </a:pPr>
            <a:r>
              <a:rPr lang="en-US" sz="1150" dirty="0">
                <a:solidFill>
                  <a:srgbClr val="6B7A93"/>
                </a:solidFill>
                <a:latin typeface="Calibri" pitchFamily="34" charset="0"/>
                <a:ea typeface="Calibri" pitchFamily="34" charset="-122"/>
                <a:cs typeface="Calibri" pitchFamily="34" charset="-120"/>
              </a:rPr>
              <a:t>A combined Fit + Claims check needed reduced reasoning effort to fit the token budget — and missed a real error. Now two calls, 1,400 / 1,800 tokens (raised from an under-sized 700/1,000), each running full reasoning concurrently.</a:t>
            </a:r>
            <a:endParaRPr lang="en-US" sz="1150" dirty="0"/>
          </a:p>
        </p:txBody>
      </p:sp>
      <p:sp>
        <p:nvSpPr>
          <p:cNvPr id="18" name="Shape 13"/>
          <p:cNvSpPr/>
          <p:nvPr/>
        </p:nvSpPr>
        <p:spPr>
          <a:xfrm>
            <a:off x="548640" y="4855464"/>
            <a:ext cx="10744200" cy="0"/>
          </a:xfrm>
          <a:prstGeom prst="line">
            <a:avLst/>
          </a:prstGeom>
          <a:noFill/>
          <a:ln w="12700">
            <a:solidFill>
              <a:srgbClr val="D7E0EE"/>
            </a:solidFill>
            <a:prstDash val="solid"/>
          </a:ln>
        </p:spPr>
      </p:sp>
      <p:sp>
        <p:nvSpPr>
          <p:cNvPr id="19" name="Shape 14"/>
          <p:cNvSpPr/>
          <p:nvPr/>
        </p:nvSpPr>
        <p:spPr>
          <a:xfrm>
            <a:off x="548640" y="5001768"/>
            <a:ext cx="512064" cy="512064"/>
          </a:xfrm>
          <a:prstGeom prst="ellipse">
            <a:avLst/>
          </a:prstGeom>
          <a:solidFill>
            <a:srgbClr val="1B2A4A"/>
          </a:solidFill>
          <a:ln/>
        </p:spPr>
      </p:sp>
      <p:pic>
        <p:nvPicPr>
          <p:cNvPr id="20" name="Image 3" descr="/home/claude/deck_assets/icons/target.png">    </p:cNvPr>
          <p:cNvPicPr>
            <a:picLocks noChangeAspect="1"/>
          </p:cNvPicPr>
          <p:nvPr/>
        </p:nvPicPr>
        <p:blipFill>
          <a:blip r:embed="rId4"/>
          <a:stretch>
            <a:fillRect/>
          </a:stretch>
        </p:blipFill>
        <p:spPr>
          <a:xfrm>
            <a:off x="681777" y="5134905"/>
            <a:ext cx="245791" cy="245791"/>
          </a:xfrm>
          <a:prstGeom prst="rect">
            <a:avLst/>
          </a:prstGeom>
        </p:spPr>
      </p:pic>
      <p:sp>
        <p:nvSpPr>
          <p:cNvPr id="21" name="Text 15"/>
          <p:cNvSpPr/>
          <p:nvPr/>
        </p:nvSpPr>
        <p:spPr>
          <a:xfrm>
            <a:off x="1325880" y="4974336"/>
            <a:ext cx="3246120" cy="777240"/>
          </a:xfrm>
          <a:prstGeom prst="rect">
            <a:avLst/>
          </a:prstGeom>
          <a:noFill/>
          <a:ln/>
        </p:spPr>
        <p:txBody>
          <a:bodyPr wrap="square" lIns="0" tIns="0" rIns="0" bIns="0" rtlCol="0" anchor="t"/>
          <a:lstStyle/>
          <a:p>
            <a:pPr indent="0" marL="0">
              <a:lnSpc>
                <a:spcPct val="115000"/>
              </a:lnSpc>
              <a:buNone/>
            </a:pPr>
            <a:r>
              <a:rPr lang="en-US" sz="1400" b="1" dirty="0">
                <a:solidFill>
                  <a:srgbClr val="16213A"/>
                </a:solidFill>
                <a:latin typeface="Cambria" pitchFamily="34" charset="0"/>
                <a:ea typeface="Cambria" pitchFamily="34" charset="-122"/>
                <a:cs typeface="Cambria" pitchFamily="34" charset="-120"/>
              </a:rPr>
              <a:t>Per-mode, input-scaled token budgets</a:t>
            </a:r>
            <a:endParaRPr lang="en-US" sz="1400" dirty="0"/>
          </a:p>
        </p:txBody>
      </p:sp>
      <p:sp>
        <p:nvSpPr>
          <p:cNvPr id="22" name="Text 16"/>
          <p:cNvSpPr/>
          <p:nvPr/>
        </p:nvSpPr>
        <p:spPr>
          <a:xfrm>
            <a:off x="4754880" y="4974336"/>
            <a:ext cx="6400800" cy="868680"/>
          </a:xfrm>
          <a:prstGeom prst="rect">
            <a:avLst/>
          </a:prstGeom>
          <a:noFill/>
          <a:ln/>
        </p:spPr>
        <p:txBody>
          <a:bodyPr wrap="square" lIns="0" tIns="0" rIns="0" bIns="0" rtlCol="0" anchor="t"/>
          <a:lstStyle/>
          <a:p>
            <a:pPr indent="0" marL="0">
              <a:lnSpc>
                <a:spcPct val="128000"/>
              </a:lnSpc>
              <a:buNone/>
            </a:pPr>
            <a:r>
              <a:rPr lang="en-US" sz="1150" dirty="0">
                <a:solidFill>
                  <a:srgbClr val="6B7A93"/>
                </a:solidFill>
                <a:latin typeface="Calibri" pitchFamily="34" charset="0"/>
                <a:ea typeface="Calibri" pitchFamily="34" charset="-122"/>
                <a:cs typeface="Calibri" pitchFamily="34" charset="-120"/>
              </a:rPr>
              <a:t>Router's output budget scales with input length (512–8,000 tokens, ~2 tokens/word) instead of a flat guess, so a full JD doesn't truncate mid-JSON. Writer's ceiling is mode-aware too — 2,500 tokens for Apply's dense input, 4,096 for Interview/Learn.</a:t>
            </a:r>
            <a:endParaRPr lang="en-US" sz="1150" dirty="0"/>
          </a:p>
        </p:txBody>
      </p:sp>
      <p:sp>
        <p:nvSpPr>
          <p:cNvPr id="23" name="Text 17"/>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B7A93"/>
                </a:solidFill>
                <a:latin typeface="Consolas" pitchFamily="34" charset="0"/>
                <a:ea typeface="Consolas" pitchFamily="34" charset="-122"/>
                <a:cs typeface="Consolas" pitchFamily="34" charset="-120"/>
              </a:rPr>
              <a:t>17</a:t>
            </a:r>
            <a:endParaRPr lang="en-US" sz="1000" dirty="0"/>
          </a:p>
        </p:txBody>
      </p:sp>
      <p:sp>
        <p:nvSpPr>
          <p:cNvPr id="24" name="Text 18"/>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6B7A93"/>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C33"/>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100" b="1" spc="200" kern="0" dirty="0">
                <a:solidFill>
                  <a:srgbClr val="9FB0CC"/>
                </a:solidFill>
                <a:latin typeface="Calibri" pitchFamily="34" charset="0"/>
                <a:ea typeface="Calibri" pitchFamily="34" charset="-122"/>
                <a:cs typeface="Calibri" pitchFamily="34" charset="-120"/>
              </a:rPr>
              <a:t>WHERE THIS STANDS</a:t>
            </a:r>
            <a:endParaRPr lang="en-US" sz="1100" dirty="0"/>
          </a:p>
        </p:txBody>
      </p:sp>
      <p:sp>
        <p:nvSpPr>
          <p:cNvPr id="3" name="Text 1"/>
          <p:cNvSpPr/>
          <p:nvPr/>
        </p:nvSpPr>
        <p:spPr>
          <a:xfrm>
            <a:off x="548640" y="713232"/>
            <a:ext cx="10058400" cy="868680"/>
          </a:xfrm>
          <a:prstGeom prst="rect">
            <a:avLst/>
          </a:prstGeom>
          <a:noFill/>
          <a:ln/>
        </p:spPr>
        <p:txBody>
          <a:bodyPr wrap="square" lIns="0" tIns="0" rIns="0" bIns="0" rtlCol="0" anchor="ctr"/>
          <a:lstStyle/>
          <a:p>
            <a:pPr indent="0" marL="0">
              <a:lnSpc>
                <a:spcPct val="102000"/>
              </a:lnSpc>
              <a:buNone/>
            </a:pPr>
            <a:r>
              <a:rPr lang="en-US" sz="3200" b="1" dirty="0">
                <a:solidFill>
                  <a:srgbClr val="FFFFFF"/>
                </a:solidFill>
                <a:latin typeface="Cambria" pitchFamily="34" charset="0"/>
                <a:ea typeface="Cambria" pitchFamily="34" charset="-122"/>
                <a:cs typeface="Cambria" pitchFamily="34" charset="-120"/>
              </a:rPr>
              <a:t>Current state, and the one lesson that mattered</a:t>
            </a:r>
            <a:endParaRPr lang="en-US" sz="3200" dirty="0"/>
          </a:p>
        </p:txBody>
      </p:sp>
      <p:sp>
        <p:nvSpPr>
          <p:cNvPr id="4" name="Shape 2"/>
          <p:cNvSpPr/>
          <p:nvPr/>
        </p:nvSpPr>
        <p:spPr>
          <a:xfrm>
            <a:off x="548640" y="1783080"/>
            <a:ext cx="5120640" cy="3977640"/>
          </a:xfrm>
          <a:prstGeom prst="roundRect">
            <a:avLst>
              <a:gd name="adj" fmla="val 2069"/>
            </a:avLst>
          </a:prstGeom>
          <a:solidFill>
            <a:srgbClr val="27395E"/>
          </a:solidFill>
          <a:ln w="12700">
            <a:solidFill>
              <a:srgbClr val="32456B"/>
            </a:solidFill>
            <a:prstDash val="solid"/>
          </a:ln>
          <a:effectLst>
            <a:outerShdw sx="100000" sy="100000" kx="0" ky="0" algn="bl" rotWithShape="0" blurRad="127000" dist="38100" dir="5400000">
              <a:srgbClr val="0B1220">
                <a:alpha val="12000"/>
              </a:srgbClr>
            </a:outerShdw>
          </a:effectLst>
        </p:spPr>
      </p:sp>
      <p:sp>
        <p:nvSpPr>
          <p:cNvPr id="5" name="Text 3"/>
          <p:cNvSpPr/>
          <p:nvPr/>
        </p:nvSpPr>
        <p:spPr>
          <a:xfrm>
            <a:off x="841248" y="2011680"/>
            <a:ext cx="3657600" cy="274320"/>
          </a:xfrm>
          <a:prstGeom prst="rect">
            <a:avLst/>
          </a:prstGeom>
          <a:noFill/>
          <a:ln/>
        </p:spPr>
        <p:txBody>
          <a:bodyPr wrap="square" lIns="0" tIns="0" rIns="0" bIns="0" rtlCol="0" anchor="ctr"/>
          <a:lstStyle/>
          <a:p>
            <a:pPr indent="0" marL="0">
              <a:buNone/>
            </a:pPr>
            <a:r>
              <a:rPr lang="en-US" sz="1050" b="1" spc="150" kern="0" dirty="0">
                <a:solidFill>
                  <a:srgbClr val="C97A20"/>
                </a:solidFill>
                <a:latin typeface="Calibri" pitchFamily="34" charset="0"/>
                <a:ea typeface="Calibri" pitchFamily="34" charset="-122"/>
                <a:cs typeface="Calibri" pitchFamily="34" charset="-120"/>
              </a:rPr>
              <a:t>VERIFIED</a:t>
            </a:r>
            <a:endParaRPr lang="en-US" sz="1050" dirty="0"/>
          </a:p>
        </p:txBody>
      </p:sp>
      <p:sp>
        <p:nvSpPr>
          <p:cNvPr id="6" name="Shape 4"/>
          <p:cNvSpPr/>
          <p:nvPr/>
        </p:nvSpPr>
        <p:spPr>
          <a:xfrm>
            <a:off x="841248" y="2423160"/>
            <a:ext cx="310896" cy="310896"/>
          </a:xfrm>
          <a:prstGeom prst="ellipse">
            <a:avLst/>
          </a:prstGeom>
          <a:solidFill>
            <a:srgbClr val="1E7A4C"/>
          </a:solidFill>
          <a:ln/>
        </p:spPr>
      </p:sp>
      <p:pic>
        <p:nvPicPr>
          <p:cNvPr id="7" name="Image 0" descr="/home/claude/deck_assets/icons/check.png">    </p:cNvPr>
          <p:cNvPicPr>
            <a:picLocks noChangeAspect="1"/>
          </p:cNvPicPr>
          <p:nvPr/>
        </p:nvPicPr>
        <p:blipFill>
          <a:blip r:embed="rId1"/>
          <a:stretch>
            <a:fillRect/>
          </a:stretch>
        </p:blipFill>
        <p:spPr>
          <a:xfrm>
            <a:off x="922081" y="2503993"/>
            <a:ext cx="149230" cy="149230"/>
          </a:xfrm>
          <a:prstGeom prst="rect">
            <a:avLst/>
          </a:prstGeom>
        </p:spPr>
      </p:pic>
      <p:sp>
        <p:nvSpPr>
          <p:cNvPr id="8" name="Text 5"/>
          <p:cNvSpPr/>
          <p:nvPr/>
        </p:nvSpPr>
        <p:spPr>
          <a:xfrm>
            <a:off x="1280160" y="2377440"/>
            <a:ext cx="4023360" cy="548640"/>
          </a:xfrm>
          <a:prstGeom prst="rect">
            <a:avLst/>
          </a:prstGeom>
          <a:noFill/>
          <a:ln/>
        </p:spPr>
        <p:txBody>
          <a:bodyPr wrap="square" lIns="0" tIns="0" rIns="0" bIns="0" rtlCol="0" anchor="ctr"/>
          <a:lstStyle/>
          <a:p>
            <a:pPr indent="0" marL="0">
              <a:lnSpc>
                <a:spcPct val="120000"/>
              </a:lnSpc>
              <a:buNone/>
            </a:pPr>
            <a:r>
              <a:rPr lang="en-US" sz="1150" dirty="0">
                <a:solidFill>
                  <a:srgbClr val="E7EEFB"/>
                </a:solidFill>
                <a:latin typeface="Calibri" pitchFamily="34" charset="0"/>
                <a:ea typeface="Calibri" pitchFamily="34" charset="-122"/>
                <a:cs typeface="Calibri" pitchFamily="34" charset="-120"/>
              </a:rPr>
              <a:t>All three modes tested end-to-end, including adversarial cases</a:t>
            </a:r>
            <a:endParaRPr lang="en-US" sz="1150" dirty="0"/>
          </a:p>
        </p:txBody>
      </p:sp>
      <p:sp>
        <p:nvSpPr>
          <p:cNvPr id="9" name="Shape 6"/>
          <p:cNvSpPr/>
          <p:nvPr/>
        </p:nvSpPr>
        <p:spPr>
          <a:xfrm>
            <a:off x="841248" y="3026664"/>
            <a:ext cx="310896" cy="310896"/>
          </a:xfrm>
          <a:prstGeom prst="ellipse">
            <a:avLst/>
          </a:prstGeom>
          <a:solidFill>
            <a:srgbClr val="1E7A4C"/>
          </a:solidFill>
          <a:ln/>
        </p:spPr>
      </p:sp>
      <p:pic>
        <p:nvPicPr>
          <p:cNvPr id="10" name="Image 1" descr="/home/claude/deck_assets/icons/check.png">    </p:cNvPr>
          <p:cNvPicPr>
            <a:picLocks noChangeAspect="1"/>
          </p:cNvPicPr>
          <p:nvPr/>
        </p:nvPicPr>
        <p:blipFill>
          <a:blip r:embed="rId2"/>
          <a:stretch>
            <a:fillRect/>
          </a:stretch>
        </p:blipFill>
        <p:spPr>
          <a:xfrm>
            <a:off x="922081" y="3107497"/>
            <a:ext cx="149230" cy="149230"/>
          </a:xfrm>
          <a:prstGeom prst="rect">
            <a:avLst/>
          </a:prstGeom>
        </p:spPr>
      </p:pic>
      <p:sp>
        <p:nvSpPr>
          <p:cNvPr id="11" name="Text 7"/>
          <p:cNvSpPr/>
          <p:nvPr/>
        </p:nvSpPr>
        <p:spPr>
          <a:xfrm>
            <a:off x="1280160" y="2980944"/>
            <a:ext cx="4023360" cy="548640"/>
          </a:xfrm>
          <a:prstGeom prst="rect">
            <a:avLst/>
          </a:prstGeom>
          <a:noFill/>
          <a:ln/>
        </p:spPr>
        <p:txBody>
          <a:bodyPr wrap="square" lIns="0" tIns="0" rIns="0" bIns="0" rtlCol="0" anchor="ctr"/>
          <a:lstStyle/>
          <a:p>
            <a:pPr indent="0" marL="0">
              <a:lnSpc>
                <a:spcPct val="120000"/>
              </a:lnSpc>
              <a:buNone/>
            </a:pPr>
            <a:r>
              <a:rPr lang="en-US" sz="1150" dirty="0">
                <a:solidFill>
                  <a:srgbClr val="E7EEFB"/>
                </a:solidFill>
                <a:latin typeface="Calibri" pitchFamily="34" charset="0"/>
                <a:ea typeface="Calibri" pitchFamily="34" charset="-122"/>
                <a:cs typeface="Calibri" pitchFamily="34" charset="-120"/>
              </a:rPr>
              <a:t>Zero corpus coverage → honest refusal, not fabrication</a:t>
            </a:r>
            <a:endParaRPr lang="en-US" sz="1150" dirty="0"/>
          </a:p>
        </p:txBody>
      </p:sp>
      <p:sp>
        <p:nvSpPr>
          <p:cNvPr id="12" name="Shape 8"/>
          <p:cNvSpPr/>
          <p:nvPr/>
        </p:nvSpPr>
        <p:spPr>
          <a:xfrm>
            <a:off x="841248" y="3630168"/>
            <a:ext cx="310896" cy="310896"/>
          </a:xfrm>
          <a:prstGeom prst="ellipse">
            <a:avLst/>
          </a:prstGeom>
          <a:solidFill>
            <a:srgbClr val="1E7A4C"/>
          </a:solidFill>
          <a:ln/>
        </p:spPr>
      </p:sp>
      <p:pic>
        <p:nvPicPr>
          <p:cNvPr id="13" name="Image 2" descr="/home/claude/deck_assets/icons/check.png">    </p:cNvPr>
          <p:cNvPicPr>
            <a:picLocks noChangeAspect="1"/>
          </p:cNvPicPr>
          <p:nvPr/>
        </p:nvPicPr>
        <p:blipFill>
          <a:blip r:embed="rId3"/>
          <a:stretch>
            <a:fillRect/>
          </a:stretch>
        </p:blipFill>
        <p:spPr>
          <a:xfrm>
            <a:off x="922081" y="3711001"/>
            <a:ext cx="149230" cy="149230"/>
          </a:xfrm>
          <a:prstGeom prst="rect">
            <a:avLst/>
          </a:prstGeom>
        </p:spPr>
      </p:pic>
      <p:sp>
        <p:nvSpPr>
          <p:cNvPr id="14" name="Text 9"/>
          <p:cNvSpPr/>
          <p:nvPr/>
        </p:nvSpPr>
        <p:spPr>
          <a:xfrm>
            <a:off x="1280160" y="3584448"/>
            <a:ext cx="4023360" cy="548640"/>
          </a:xfrm>
          <a:prstGeom prst="rect">
            <a:avLst/>
          </a:prstGeom>
          <a:noFill/>
          <a:ln/>
        </p:spPr>
        <p:txBody>
          <a:bodyPr wrap="square" lIns="0" tIns="0" rIns="0" bIns="0" rtlCol="0" anchor="ctr"/>
          <a:lstStyle/>
          <a:p>
            <a:pPr indent="0" marL="0">
              <a:lnSpc>
                <a:spcPct val="120000"/>
              </a:lnSpc>
              <a:buNone/>
            </a:pPr>
            <a:r>
              <a:rPr lang="en-US" sz="1150" dirty="0">
                <a:solidFill>
                  <a:srgbClr val="E7EEFB"/>
                </a:solidFill>
                <a:latin typeface="Calibri" pitchFamily="34" charset="0"/>
                <a:ea typeface="Calibri" pitchFamily="34" charset="-122"/>
                <a:cs typeface="Calibri" pitchFamily="34" charset="-120"/>
              </a:rPr>
              <a:t>Severe resume/JD mismatch → honest weak-match verdict</a:t>
            </a:r>
            <a:endParaRPr lang="en-US" sz="1150" dirty="0"/>
          </a:p>
        </p:txBody>
      </p:sp>
      <p:sp>
        <p:nvSpPr>
          <p:cNvPr id="15" name="Shape 10"/>
          <p:cNvSpPr/>
          <p:nvPr/>
        </p:nvSpPr>
        <p:spPr>
          <a:xfrm>
            <a:off x="841248" y="4233672"/>
            <a:ext cx="310896" cy="310896"/>
          </a:xfrm>
          <a:prstGeom prst="ellipse">
            <a:avLst/>
          </a:prstGeom>
          <a:solidFill>
            <a:srgbClr val="1E7A4C"/>
          </a:solidFill>
          <a:ln/>
        </p:spPr>
      </p:sp>
      <p:pic>
        <p:nvPicPr>
          <p:cNvPr id="16" name="Image 3" descr="/home/claude/deck_assets/icons/check.png">    </p:cNvPr>
          <p:cNvPicPr>
            <a:picLocks noChangeAspect="1"/>
          </p:cNvPicPr>
          <p:nvPr/>
        </p:nvPicPr>
        <p:blipFill>
          <a:blip r:embed="rId4"/>
          <a:stretch>
            <a:fillRect/>
          </a:stretch>
        </p:blipFill>
        <p:spPr>
          <a:xfrm>
            <a:off x="922081" y="4314505"/>
            <a:ext cx="149230" cy="149230"/>
          </a:xfrm>
          <a:prstGeom prst="rect">
            <a:avLst/>
          </a:prstGeom>
        </p:spPr>
      </p:pic>
      <p:sp>
        <p:nvSpPr>
          <p:cNvPr id="17" name="Text 11"/>
          <p:cNvSpPr/>
          <p:nvPr/>
        </p:nvSpPr>
        <p:spPr>
          <a:xfrm>
            <a:off x="1280160" y="4187952"/>
            <a:ext cx="4023360" cy="548640"/>
          </a:xfrm>
          <a:prstGeom prst="rect">
            <a:avLst/>
          </a:prstGeom>
          <a:noFill/>
          <a:ln/>
        </p:spPr>
        <p:txBody>
          <a:bodyPr wrap="square" lIns="0" tIns="0" rIns="0" bIns="0" rtlCol="0" anchor="ctr"/>
          <a:lstStyle/>
          <a:p>
            <a:pPr indent="0" marL="0">
              <a:lnSpc>
                <a:spcPct val="120000"/>
              </a:lnSpc>
              <a:buNone/>
            </a:pPr>
            <a:r>
              <a:rPr lang="en-US" sz="1150" dirty="0">
                <a:solidFill>
                  <a:srgbClr val="E7EEFB"/>
                </a:solidFill>
                <a:latin typeface="Calibri" pitchFamily="34" charset="0"/>
                <a:ea typeface="Calibri" pitchFamily="34" charset="-122"/>
                <a:cs typeface="Calibri" pitchFamily="34" charset="-120"/>
              </a:rPr>
              <a:t>Streamlit UI wraps the pipeline with zero duplicated logic</a:t>
            </a:r>
            <a:endParaRPr lang="en-US" sz="1150" dirty="0"/>
          </a:p>
        </p:txBody>
      </p:sp>
      <p:sp>
        <p:nvSpPr>
          <p:cNvPr id="18" name="Shape 12"/>
          <p:cNvSpPr/>
          <p:nvPr/>
        </p:nvSpPr>
        <p:spPr>
          <a:xfrm>
            <a:off x="841248" y="4837176"/>
            <a:ext cx="310896" cy="310896"/>
          </a:xfrm>
          <a:prstGeom prst="ellipse">
            <a:avLst/>
          </a:prstGeom>
          <a:solidFill>
            <a:srgbClr val="1E7A4C"/>
          </a:solidFill>
          <a:ln/>
        </p:spPr>
      </p:sp>
      <p:pic>
        <p:nvPicPr>
          <p:cNvPr id="19" name="Image 4" descr="/home/claude/deck_assets/icons/check.png">    </p:cNvPr>
          <p:cNvPicPr>
            <a:picLocks noChangeAspect="1"/>
          </p:cNvPicPr>
          <p:nvPr/>
        </p:nvPicPr>
        <p:blipFill>
          <a:blip r:embed="rId5"/>
          <a:stretch>
            <a:fillRect/>
          </a:stretch>
        </p:blipFill>
        <p:spPr>
          <a:xfrm>
            <a:off x="922081" y="4918009"/>
            <a:ext cx="149230" cy="149230"/>
          </a:xfrm>
          <a:prstGeom prst="rect">
            <a:avLst/>
          </a:prstGeom>
        </p:spPr>
      </p:pic>
      <p:sp>
        <p:nvSpPr>
          <p:cNvPr id="20" name="Text 13"/>
          <p:cNvSpPr/>
          <p:nvPr/>
        </p:nvSpPr>
        <p:spPr>
          <a:xfrm>
            <a:off x="1280160" y="4791456"/>
            <a:ext cx="4023360" cy="548640"/>
          </a:xfrm>
          <a:prstGeom prst="rect">
            <a:avLst/>
          </a:prstGeom>
          <a:noFill/>
          <a:ln/>
        </p:spPr>
        <p:txBody>
          <a:bodyPr wrap="square" lIns="0" tIns="0" rIns="0" bIns="0" rtlCol="0" anchor="ctr"/>
          <a:lstStyle/>
          <a:p>
            <a:pPr indent="0" marL="0">
              <a:lnSpc>
                <a:spcPct val="120000"/>
              </a:lnSpc>
              <a:buNone/>
            </a:pPr>
            <a:r>
              <a:rPr lang="en-US" sz="1150" dirty="0">
                <a:solidFill>
                  <a:srgbClr val="E7EEFB"/>
                </a:solidFill>
                <a:latin typeface="Calibri" pitchFamily="34" charset="0"/>
                <a:ea typeface="Calibri" pitchFamily="34" charset="-122"/>
                <a:cs typeface="Calibri" pitchFamily="34" charset="-120"/>
              </a:rPr>
              <a:t>Excel application tracker, zero additional API cost</a:t>
            </a:r>
            <a:endParaRPr lang="en-US" sz="1150" dirty="0"/>
          </a:p>
        </p:txBody>
      </p:sp>
      <p:sp>
        <p:nvSpPr>
          <p:cNvPr id="21" name="Shape 14"/>
          <p:cNvSpPr/>
          <p:nvPr/>
        </p:nvSpPr>
        <p:spPr>
          <a:xfrm>
            <a:off x="6035040" y="1783080"/>
            <a:ext cx="5120640" cy="3977640"/>
          </a:xfrm>
          <a:prstGeom prst="roundRect">
            <a:avLst>
              <a:gd name="adj" fmla="val 2069"/>
            </a:avLst>
          </a:prstGeom>
          <a:solidFill>
            <a:srgbClr val="2A2013"/>
          </a:solidFill>
          <a:ln w="12700">
            <a:solidFill>
              <a:srgbClr val="4A3A20"/>
            </a:solidFill>
            <a:prstDash val="solid"/>
          </a:ln>
          <a:effectLst>
            <a:outerShdw sx="100000" sy="100000" kx="0" ky="0" algn="bl" rotWithShape="0" blurRad="127000" dist="38100" dir="5400000">
              <a:srgbClr val="0B1220">
                <a:alpha val="12000"/>
              </a:srgbClr>
            </a:outerShdw>
          </a:effectLst>
        </p:spPr>
      </p:sp>
      <p:sp>
        <p:nvSpPr>
          <p:cNvPr id="22" name="Shape 15"/>
          <p:cNvSpPr/>
          <p:nvPr/>
        </p:nvSpPr>
        <p:spPr>
          <a:xfrm>
            <a:off x="6327648" y="2057400"/>
            <a:ext cx="548640" cy="548640"/>
          </a:xfrm>
          <a:prstGeom prst="ellipse">
            <a:avLst/>
          </a:prstGeom>
          <a:solidFill>
            <a:srgbClr val="C97A20"/>
          </a:solidFill>
          <a:ln/>
        </p:spPr>
      </p:sp>
      <p:pic>
        <p:nvPicPr>
          <p:cNvPr id="23" name="Image 5" descr="/home/claude/deck_assets/icons/lightbulb.png">    </p:cNvPr>
          <p:cNvPicPr>
            <a:picLocks noChangeAspect="1"/>
          </p:cNvPicPr>
          <p:nvPr/>
        </p:nvPicPr>
        <p:blipFill>
          <a:blip r:embed="rId6"/>
          <a:stretch>
            <a:fillRect/>
          </a:stretch>
        </p:blipFill>
        <p:spPr>
          <a:xfrm>
            <a:off x="6470294" y="2200046"/>
            <a:ext cx="263347" cy="263347"/>
          </a:xfrm>
          <a:prstGeom prst="rect">
            <a:avLst/>
          </a:prstGeom>
        </p:spPr>
      </p:pic>
      <p:sp>
        <p:nvSpPr>
          <p:cNvPr id="24" name="Text 16"/>
          <p:cNvSpPr/>
          <p:nvPr/>
        </p:nvSpPr>
        <p:spPr>
          <a:xfrm>
            <a:off x="7040880" y="2148840"/>
            <a:ext cx="3657600" cy="274320"/>
          </a:xfrm>
          <a:prstGeom prst="rect">
            <a:avLst/>
          </a:prstGeom>
          <a:noFill/>
          <a:ln/>
        </p:spPr>
        <p:txBody>
          <a:bodyPr wrap="square" lIns="0" tIns="0" rIns="0" bIns="0" rtlCol="0" anchor="ctr"/>
          <a:lstStyle/>
          <a:p>
            <a:pPr indent="0" marL="0">
              <a:buNone/>
            </a:pPr>
            <a:r>
              <a:rPr lang="en-US" sz="1050" b="1" spc="150" kern="0" dirty="0">
                <a:solidFill>
                  <a:srgbClr val="C97A20"/>
                </a:solidFill>
                <a:latin typeface="Calibri" pitchFamily="34" charset="0"/>
                <a:ea typeface="Calibri" pitchFamily="34" charset="-122"/>
                <a:cs typeface="Calibri" pitchFamily="34" charset="-120"/>
              </a:rPr>
              <a:t>THE LESSON</a:t>
            </a:r>
            <a:endParaRPr lang="en-US" sz="1050" dirty="0"/>
          </a:p>
        </p:txBody>
      </p:sp>
      <p:sp>
        <p:nvSpPr>
          <p:cNvPr id="25" name="Text 17"/>
          <p:cNvSpPr/>
          <p:nvPr/>
        </p:nvSpPr>
        <p:spPr>
          <a:xfrm>
            <a:off x="6327648" y="2697480"/>
            <a:ext cx="4480560" cy="868680"/>
          </a:xfrm>
          <a:prstGeom prst="rect">
            <a:avLst/>
          </a:prstGeom>
          <a:noFill/>
          <a:ln/>
        </p:spPr>
        <p:txBody>
          <a:bodyPr wrap="square" lIns="0" tIns="0" rIns="0" bIns="0" rtlCol="0" anchor="ctr"/>
          <a:lstStyle/>
          <a:p>
            <a:pPr indent="0" marL="0">
              <a:lnSpc>
                <a:spcPct val="120000"/>
              </a:lnSpc>
              <a:buNone/>
            </a:pPr>
            <a:r>
              <a:rPr lang="en-US" sz="1750" b="1" dirty="0">
                <a:solidFill>
                  <a:srgbClr val="FFFFFF"/>
                </a:solidFill>
                <a:latin typeface="Cambria" pitchFamily="34" charset="0"/>
                <a:ea typeface="Cambria" pitchFamily="34" charset="-122"/>
                <a:cs typeface="Cambria" pitchFamily="34" charset="-120"/>
              </a:rPr>
              <a:t>Confident output is not the same thing as grounded output.</a:t>
            </a:r>
            <a:endParaRPr lang="en-US" sz="1750" dirty="0"/>
          </a:p>
        </p:txBody>
      </p:sp>
      <p:sp>
        <p:nvSpPr>
          <p:cNvPr id="26" name="Text 18"/>
          <p:cNvSpPr/>
          <p:nvPr/>
        </p:nvSpPr>
        <p:spPr>
          <a:xfrm>
            <a:off x="6327648" y="3657600"/>
            <a:ext cx="4480560" cy="1920240"/>
          </a:xfrm>
          <a:prstGeom prst="rect">
            <a:avLst/>
          </a:prstGeom>
          <a:noFill/>
          <a:ln/>
        </p:spPr>
        <p:txBody>
          <a:bodyPr wrap="square" lIns="0" tIns="0" rIns="0" bIns="0" rtlCol="0" anchor="t"/>
          <a:lstStyle/>
          <a:p>
            <a:pPr indent="0" marL="0">
              <a:lnSpc>
                <a:spcPct val="135000"/>
              </a:lnSpc>
              <a:buNone/>
            </a:pPr>
            <a:r>
              <a:rPr lang="en-US" sz="1200" i="1" dirty="0">
                <a:solidFill>
                  <a:srgbClr val="D7C9AE"/>
                </a:solidFill>
                <a:latin typeface="Calibri" pitchFamily="34" charset="0"/>
                <a:ea typeface="Calibri" pitchFamily="34" charset="-122"/>
                <a:cs typeface="Calibri" pitchFamily="34" charset="-120"/>
              </a:rPr>
              <a:t>Every real bug in this system produced a draft that looked correct on first read. The Critic that catches fabrication only works if it's actually shown the source — and even then, it has to be told which source is authoritative. Verification has to be structural, not vibes-based.</a:t>
            </a:r>
            <a:endParaRPr lang="en-US" sz="1200" dirty="0"/>
          </a:p>
        </p:txBody>
      </p:sp>
      <p:sp>
        <p:nvSpPr>
          <p:cNvPr id="27" name="Text 19"/>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9FB0CC"/>
                </a:solidFill>
                <a:latin typeface="Consolas" pitchFamily="34" charset="0"/>
                <a:ea typeface="Consolas" pitchFamily="34" charset="-122"/>
                <a:cs typeface="Consolas" pitchFamily="34" charset="-120"/>
              </a:rPr>
              <a:t>18</a:t>
            </a:r>
            <a:endParaRPr lang="en-US" sz="1000" dirty="0"/>
          </a:p>
        </p:txBody>
      </p:sp>
      <p:sp>
        <p:nvSpPr>
          <p:cNvPr id="28" name="Text 20"/>
          <p:cNvSpPr/>
          <p:nvPr/>
        </p:nvSpPr>
        <p:spPr>
          <a:xfrm>
            <a:off x="548640" y="6400800"/>
            <a:ext cx="3657600" cy="274320"/>
          </a:xfrm>
          <a:prstGeom prst="rect">
            <a:avLst/>
          </a:prstGeom>
          <a:noFill/>
          <a:ln/>
        </p:spPr>
        <p:txBody>
          <a:bodyPr wrap="square" lIns="0" tIns="0" rIns="0" bIns="0" rtlCol="0" anchor="ctr"/>
          <a:lstStyle/>
          <a:p>
            <a:pPr indent="0" marL="0">
              <a:buNone/>
            </a:pPr>
            <a:r>
              <a:rPr lang="en-US" sz="900" b="1" spc="150" kern="0" dirty="0">
                <a:solidFill>
                  <a:srgbClr val="9FB0CC"/>
                </a:solidFill>
                <a:latin typeface="Calibri" pitchFamily="34" charset="0"/>
                <a:ea typeface="Calibri" pitchFamily="34" charset="-122"/>
                <a:cs typeface="Calibri" pitchFamily="34" charset="-120"/>
              </a:rPr>
              <a:t>CAREER COPILOT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1889608" y="-1051560"/>
            <a:ext cx="8412480" cy="8412480"/>
          </a:xfrm>
          <a:prstGeom prst="ellipse">
            <a:avLst/>
          </a:prstGeom>
          <a:ln w="15875">
            <a:solidFill>
              <a:srgbClr val="32456B"/>
            </a:solidFill>
            <a:prstDash val="solid"/>
          </a:ln>
        </p:spPr>
      </p:sp>
      <p:sp>
        <p:nvSpPr>
          <p:cNvPr id="3" name="Shape 1"/>
          <p:cNvSpPr/>
          <p:nvPr/>
        </p:nvSpPr>
        <p:spPr>
          <a:xfrm>
            <a:off x="2712568" y="-228600"/>
            <a:ext cx="6766560" cy="6766560"/>
          </a:xfrm>
          <a:prstGeom prst="ellipse">
            <a:avLst/>
          </a:prstGeom>
          <a:ln w="15875">
            <a:solidFill>
              <a:srgbClr val="32456B">
                <a:alpha val="85000"/>
              </a:srgbClr>
            </a:solidFill>
            <a:prstDash val="solid"/>
          </a:ln>
        </p:spPr>
      </p:sp>
      <p:sp>
        <p:nvSpPr>
          <p:cNvPr id="4" name="Shape 2"/>
          <p:cNvSpPr/>
          <p:nvPr/>
        </p:nvSpPr>
        <p:spPr>
          <a:xfrm>
            <a:off x="3535528" y="594360"/>
            <a:ext cx="5120640" cy="5120640"/>
          </a:xfrm>
          <a:prstGeom prst="ellipse">
            <a:avLst/>
          </a:prstGeom>
          <a:ln w="15875">
            <a:solidFill>
              <a:srgbClr val="32456B">
                <a:alpha val="70000"/>
              </a:srgbClr>
            </a:solidFill>
            <a:prstDash val="solid"/>
          </a:ln>
        </p:spPr>
      </p:sp>
      <p:sp>
        <p:nvSpPr>
          <p:cNvPr id="5" name="Shape 3"/>
          <p:cNvSpPr/>
          <p:nvPr/>
        </p:nvSpPr>
        <p:spPr>
          <a:xfrm>
            <a:off x="5638648" y="1965960"/>
            <a:ext cx="914400" cy="914400"/>
          </a:xfrm>
          <a:prstGeom prst="ellipse">
            <a:avLst/>
          </a:prstGeom>
          <a:solidFill>
            <a:srgbClr val="C97A20"/>
          </a:solidFill>
          <a:ln/>
        </p:spPr>
      </p:sp>
      <p:pic>
        <p:nvPicPr>
          <p:cNvPr id="6" name="Image 0" descr="/home/claude/deck_assets/icons/play.png">    </p:cNvPr>
          <p:cNvPicPr>
            <a:picLocks noChangeAspect="1"/>
          </p:cNvPicPr>
          <p:nvPr/>
        </p:nvPicPr>
        <p:blipFill>
          <a:blip r:embed="rId1"/>
          <a:stretch>
            <a:fillRect/>
          </a:stretch>
        </p:blipFill>
        <p:spPr>
          <a:xfrm>
            <a:off x="5876392" y="2203704"/>
            <a:ext cx="438912" cy="438912"/>
          </a:xfrm>
          <a:prstGeom prst="rect">
            <a:avLst/>
          </a:prstGeom>
        </p:spPr>
      </p:pic>
      <p:sp>
        <p:nvSpPr>
          <p:cNvPr id="7" name="Text 4"/>
          <p:cNvSpPr/>
          <p:nvPr/>
        </p:nvSpPr>
        <p:spPr>
          <a:xfrm>
            <a:off x="0" y="3063240"/>
            <a:ext cx="1219169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Let's see it live</a:t>
            </a:r>
            <a:endParaRPr lang="en-US" sz="4400" dirty="0"/>
          </a:p>
        </p:txBody>
      </p:sp>
      <p:sp>
        <p:nvSpPr>
          <p:cNvPr id="8" name="Text 5"/>
          <p:cNvSpPr/>
          <p:nvPr/>
        </p:nvSpPr>
        <p:spPr>
          <a:xfrm>
            <a:off x="0" y="3977640"/>
            <a:ext cx="12191695" cy="457200"/>
          </a:xfrm>
          <a:prstGeom prst="rect">
            <a:avLst/>
          </a:prstGeom>
          <a:noFill/>
          <a:ln/>
        </p:spPr>
        <p:txBody>
          <a:bodyPr wrap="square" lIns="0" tIns="0" rIns="0" bIns="0" rtlCol="0" anchor="ctr"/>
          <a:lstStyle/>
          <a:p>
            <a:pPr algn="ctr" indent="0" marL="0">
              <a:buNone/>
            </a:pPr>
            <a:r>
              <a:rPr lang="en-US" sz="1500" spc="200" kern="0" dirty="0">
                <a:solidFill>
                  <a:srgbClr val="9FB0CC"/>
                </a:solidFill>
                <a:latin typeface="Calibri" pitchFamily="34" charset="0"/>
                <a:ea typeface="Calibri" pitchFamily="34" charset="-122"/>
                <a:cs typeface="Calibri" pitchFamily="34" charset="-120"/>
              </a:rPr>
              <a:t>Apply  ·  Interview  ·  Learn</a:t>
            </a:r>
            <a:endParaRPr lang="en-US" sz="1500" dirty="0"/>
          </a:p>
        </p:txBody>
      </p:sp>
      <p:sp>
        <p:nvSpPr>
          <p:cNvPr id="9" name="Text 6"/>
          <p:cNvSpPr/>
          <p:nvPr/>
        </p:nvSpPr>
        <p:spPr>
          <a:xfrm>
            <a:off x="0" y="6035040"/>
            <a:ext cx="12191695" cy="365760"/>
          </a:xfrm>
          <a:prstGeom prst="rect">
            <a:avLst/>
          </a:prstGeom>
          <a:noFill/>
          <a:ln/>
        </p:spPr>
        <p:txBody>
          <a:bodyPr wrap="square" lIns="0" tIns="0" rIns="0" bIns="0" rtlCol="0" anchor="ctr"/>
          <a:lstStyle/>
          <a:p>
            <a:pPr algn="ctr" indent="0" marL="0">
              <a:buNone/>
            </a:pPr>
            <a:r>
              <a:rPr lang="en-US" sz="1200" i="1" dirty="0">
                <a:solidFill>
                  <a:srgbClr val="9FB0CC"/>
                </a:solidFill>
                <a:latin typeface="Calibri" pitchFamily="34" charset="0"/>
                <a:ea typeface="Calibri" pitchFamily="34" charset="-122"/>
                <a:cs typeface="Calibri" pitchFamily="34" charset="-120"/>
              </a:rPr>
              <a:t>Questions welcome throughout, or at the end.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2026-08-25T16:35:11Z</dcterms:created>
  <dcterms:modified xsi:type="dcterms:W3CDTF">2026-08-25T16:35:11Z</dcterms:modified>
</cp:coreProperties>
</file>